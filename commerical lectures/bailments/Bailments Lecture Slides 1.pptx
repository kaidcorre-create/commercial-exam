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64" r:id="rId2"/>
  </p:sldMasterIdLst>
  <p:sldIdLst>
    <p:sldId id="256" r:id="rId3"/>
    <p:sldId id="257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1: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1556793"/>
            <a:ext cx="10945216" cy="1010543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392" y="2852936"/>
            <a:ext cx="10945216" cy="72008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solidFill>
                  <a:srgbClr val="66666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04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9: 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1556793"/>
            <a:ext cx="10945216" cy="1010543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392" y="2852936"/>
            <a:ext cx="10945216" cy="72008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solidFill>
                  <a:srgbClr val="66666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603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: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025003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527051" y="1844676"/>
            <a:ext cx="11233579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948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: text using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025003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527051" y="1844676"/>
            <a:ext cx="11233579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2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: smaller text using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025003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527051" y="1844676"/>
            <a:ext cx="11233579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29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5: text with bullet points &amp;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025003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527053" y="1844676"/>
            <a:ext cx="7201129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312030" y="36602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5097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6: text with bullet points &amp;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025003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527053" y="1844676"/>
            <a:ext cx="7201129" cy="47529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rgbClr val="666666"/>
                </a:solidFill>
              </a:defRPr>
            </a:lvl1pPr>
            <a:lvl2pPr>
              <a:defRPr sz="2200">
                <a:solidFill>
                  <a:srgbClr val="666666"/>
                </a:solidFill>
              </a:defRPr>
            </a:lvl2pPr>
            <a:lvl3pPr>
              <a:defRPr sz="2000">
                <a:solidFill>
                  <a:srgbClr val="666666"/>
                </a:solidFill>
              </a:defRPr>
            </a:lvl3pPr>
            <a:lvl4pPr>
              <a:defRPr sz="1800">
                <a:solidFill>
                  <a:srgbClr val="666666"/>
                </a:solidFill>
              </a:defRPr>
            </a:lvl4pPr>
            <a:lvl5pPr>
              <a:defRPr sz="1600">
                <a:solidFill>
                  <a:srgbClr val="666666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59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7: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025003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8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025003" cy="1152128"/>
          </a:xfrm>
          <a:prstGeom prst="rect">
            <a:avLst/>
          </a:prstGeom>
        </p:spPr>
        <p:txBody>
          <a:bodyPr/>
          <a:lstStyle>
            <a:lvl1pPr algn="l">
              <a:lnSpc>
                <a:spcPts val="3500"/>
              </a:lnSpc>
              <a:defRPr sz="3600">
                <a:solidFill>
                  <a:srgbClr val="B512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466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2" y="1102"/>
            <a:ext cx="12188537" cy="6862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24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4" y="5523"/>
            <a:ext cx="12177273" cy="685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4306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Topic 3</a:t>
            </a:r>
            <a:r>
              <a:rPr lang="en-GB"/>
              <a:t>:  Bailments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2400" dirty="0"/>
              <a:t>Lecture 1 –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2369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Topic 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Why study bailments</a:t>
            </a:r>
          </a:p>
          <a:p>
            <a:r>
              <a:rPr lang="en-GB" dirty="0"/>
              <a:t>Who’s who? </a:t>
            </a:r>
          </a:p>
          <a:p>
            <a:r>
              <a:rPr lang="en-GB" dirty="0"/>
              <a:t>Nature and subject matter of bailments</a:t>
            </a:r>
          </a:p>
          <a:p>
            <a:r>
              <a:rPr lang="en-GB" dirty="0"/>
              <a:t>Types of bailment</a:t>
            </a:r>
          </a:p>
          <a:p>
            <a:r>
              <a:rPr lang="en-GB" dirty="0"/>
              <a:t>Liability for negligence and bailee’s duty of care</a:t>
            </a:r>
          </a:p>
          <a:p>
            <a:r>
              <a:rPr lang="en-GB" dirty="0"/>
              <a:t>Bailor’s remedies in other torts</a:t>
            </a:r>
          </a:p>
          <a:p>
            <a:r>
              <a:rPr lang="en-GB" dirty="0"/>
              <a:t>Orders of the court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13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EF64-DEF2-5699-9803-4F70E211C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Lecture 1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BED5E-17B2-D266-F22B-771CC6C2F1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Why study bailments?</a:t>
            </a:r>
          </a:p>
          <a:p>
            <a:r>
              <a:rPr lang="en-GB" dirty="0"/>
              <a:t>Terminology</a:t>
            </a:r>
          </a:p>
          <a:p>
            <a:r>
              <a:rPr lang="en-GB" dirty="0"/>
              <a:t>Nature of bailment</a:t>
            </a:r>
          </a:p>
          <a:p>
            <a:r>
              <a:rPr lang="en-GB" dirty="0"/>
              <a:t>Species of bailment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057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4D97-840D-334E-A2AA-6E0CACC9D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Why study bailments?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DADB4-1447-C93E-F6C3-B6C7F18626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054" y="1844676"/>
            <a:ext cx="4659802" cy="4752975"/>
          </a:xfrm>
        </p:spPr>
        <p:txBody>
          <a:bodyPr/>
          <a:lstStyle/>
          <a:p>
            <a:r>
              <a:rPr lang="en-GB" dirty="0"/>
              <a:t>They happen a lot</a:t>
            </a:r>
          </a:p>
          <a:p>
            <a:r>
              <a:rPr lang="en-GB" dirty="0"/>
              <a:t>Major role in business</a:t>
            </a:r>
          </a:p>
          <a:p>
            <a:pPr lvl="1"/>
            <a:r>
              <a:rPr lang="en-GB" dirty="0"/>
              <a:t>Carriage of goods</a:t>
            </a:r>
          </a:p>
          <a:p>
            <a:pPr lvl="1"/>
            <a:r>
              <a:rPr lang="en-GB" dirty="0"/>
              <a:t>Sales awaiting collection</a:t>
            </a:r>
          </a:p>
          <a:p>
            <a:pPr lvl="1"/>
            <a:r>
              <a:rPr lang="en-GB" dirty="0"/>
              <a:t>Pawnbrokers</a:t>
            </a:r>
          </a:p>
          <a:p>
            <a:pPr lvl="1"/>
            <a:r>
              <a:rPr lang="en-GB" dirty="0"/>
              <a:t>Warehousing</a:t>
            </a:r>
          </a:p>
          <a:p>
            <a:pPr lvl="1"/>
            <a:r>
              <a:rPr lang="en-GB" dirty="0"/>
              <a:t>Hire purchase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DBEA4-4B2D-1CD9-89F4-B353696B8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890" y="1781396"/>
            <a:ext cx="4113485" cy="481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97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8AB9-C94D-F53F-A0D4-CC8B006114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Terminology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762BC-0B69-6A9C-ACBF-851FC2E950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3324" y="1757966"/>
            <a:ext cx="4713890" cy="4752975"/>
          </a:xfrm>
        </p:spPr>
        <p:txBody>
          <a:bodyPr/>
          <a:lstStyle/>
          <a:p>
            <a:r>
              <a:rPr lang="en-GB" b="1" dirty="0"/>
              <a:t>Bailor</a:t>
            </a:r>
            <a:r>
              <a:rPr lang="en-GB" dirty="0"/>
              <a:t> = owner (usually) of goods subject to bailment</a:t>
            </a:r>
          </a:p>
          <a:p>
            <a:endParaRPr lang="en-GB" dirty="0"/>
          </a:p>
          <a:p>
            <a:r>
              <a:rPr lang="en-GB" b="1" dirty="0"/>
              <a:t>Bailee</a:t>
            </a:r>
            <a:r>
              <a:rPr lang="en-GB" dirty="0"/>
              <a:t> = one holding goods belonging to another</a:t>
            </a:r>
          </a:p>
          <a:p>
            <a:endParaRPr lang="en-GB" dirty="0"/>
          </a:p>
          <a:p>
            <a:r>
              <a:rPr lang="en-GB" dirty="0"/>
              <a:t>Goods subject to a bailment are said to be </a:t>
            </a:r>
            <a:r>
              <a:rPr lang="en-GB" b="1" dirty="0"/>
              <a:t>bailed </a:t>
            </a:r>
            <a:r>
              <a:rPr lang="en-GB" dirty="0"/>
              <a:t>by the bailor to the bailee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98921-6319-32C6-F001-EB570B5B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403" y="1996091"/>
            <a:ext cx="45148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7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B836-1108-6AD6-839F-7DB4E2D0F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Nature of bailments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94EE4-31AE-7B55-B602-44B77F3E41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sz="2400" dirty="0"/>
          </a:p>
          <a:p>
            <a:r>
              <a:rPr lang="en-GB" sz="2400" dirty="0"/>
              <a:t>A separate obligation – alongside contracts, torts and quasi-contract/restitution</a:t>
            </a:r>
          </a:p>
          <a:p>
            <a:r>
              <a:rPr lang="en-GB" sz="2400" dirty="0"/>
              <a:t>Can be created contractually, consensually, constructively or non-consensually</a:t>
            </a:r>
          </a:p>
          <a:p>
            <a:r>
              <a:rPr lang="en-GB" sz="2400" dirty="0"/>
              <a:t>Duties can be contractually defined AND analogous to tort</a:t>
            </a:r>
          </a:p>
          <a:p>
            <a:r>
              <a:rPr lang="en-GB" sz="2400" dirty="0"/>
              <a:t>Special rules apply as to burden of proof</a:t>
            </a:r>
          </a:p>
          <a:p>
            <a:r>
              <a:rPr lang="en-GB" sz="2400" dirty="0"/>
              <a:t>Remedies can sound in contract or tort</a:t>
            </a:r>
          </a:p>
          <a:p>
            <a:r>
              <a:rPr lang="en-GB" sz="2400" dirty="0"/>
              <a:t>Remedies can be damages or </a:t>
            </a:r>
            <a:r>
              <a:rPr lang="en-GB" sz="2400" i="1" dirty="0"/>
              <a:t>in rem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974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BCEA-0E36-A671-98A2-0004A95A2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Subject matter – what can be bailed?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623C7-9409-B4BF-BA31-E87BB74750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054" y="1844676"/>
            <a:ext cx="5140650" cy="4752975"/>
          </a:xfrm>
        </p:spPr>
        <p:txBody>
          <a:bodyPr/>
          <a:lstStyle/>
          <a:p>
            <a:endParaRPr lang="en-GB" sz="2400" dirty="0"/>
          </a:p>
          <a:p>
            <a:endParaRPr lang="en-GB" dirty="0"/>
          </a:p>
          <a:p>
            <a:r>
              <a:rPr lang="en-GB" sz="2400" dirty="0"/>
              <a:t>Only personal property</a:t>
            </a:r>
          </a:p>
          <a:p>
            <a:r>
              <a:rPr lang="en-GB" sz="2400" dirty="0"/>
              <a:t>Only tangible property – no choses in action</a:t>
            </a:r>
          </a:p>
          <a:p>
            <a:r>
              <a:rPr lang="en-GB" sz="2400" dirty="0"/>
              <a:t>But ‘valuable paper’ can be bailed</a:t>
            </a:r>
          </a:p>
          <a:p>
            <a:r>
              <a:rPr lang="en-GB" sz="2400" dirty="0"/>
              <a:t>Compare with ‘goods’ in SGA 1979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E5319-14CF-D16C-CA54-C7036C774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765" y="2293883"/>
            <a:ext cx="5140650" cy="38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4DAE-8FDE-440F-2AE1-D3238110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381" y="548680"/>
            <a:ext cx="9570433" cy="1152128"/>
          </a:xfrm>
        </p:spPr>
        <p:txBody>
          <a:bodyPr/>
          <a:lstStyle/>
          <a:p>
            <a:r>
              <a:rPr lang="en-GB" dirty="0"/>
              <a:t>Species (types) of bailment:</a:t>
            </a:r>
            <a:br>
              <a:rPr lang="en-GB" dirty="0"/>
            </a:br>
            <a:r>
              <a:rPr lang="en-GB" dirty="0"/>
              <a:t>						</a:t>
            </a:r>
            <a:r>
              <a:rPr lang="en-GB" sz="2800" i="1" dirty="0">
                <a:solidFill>
                  <a:schemeClr val="tx1"/>
                </a:solidFill>
              </a:rPr>
              <a:t>Coggs v. Bernard (1703)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EC757-97BD-3F1C-FAD1-514D9869E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054" y="1844676"/>
            <a:ext cx="6401891" cy="4752975"/>
          </a:xfrm>
        </p:spPr>
        <p:txBody>
          <a:bodyPr/>
          <a:lstStyle/>
          <a:p>
            <a:r>
              <a:rPr lang="en-GB" dirty="0"/>
              <a:t>Goods delivered to another to keep without fee. [Depositum]</a:t>
            </a:r>
          </a:p>
          <a:p>
            <a:r>
              <a:rPr lang="en-GB" dirty="0"/>
              <a:t>Lending something for the use of the borrower, without charge. [</a:t>
            </a:r>
            <a:r>
              <a:rPr lang="en-GB" dirty="0" err="1"/>
              <a:t>Commodatum</a:t>
            </a:r>
            <a:r>
              <a:rPr lang="en-GB" dirty="0"/>
              <a:t>]</a:t>
            </a:r>
          </a:p>
          <a:p>
            <a:r>
              <a:rPr lang="en-GB" dirty="0"/>
              <a:t>Hiring goods to another [Locatio et </a:t>
            </a:r>
            <a:r>
              <a:rPr lang="en-GB" dirty="0" err="1"/>
              <a:t>conductio</a:t>
            </a:r>
            <a:r>
              <a:rPr lang="en-GB" dirty="0"/>
              <a:t>]</a:t>
            </a:r>
          </a:p>
          <a:p>
            <a:r>
              <a:rPr lang="en-GB" dirty="0"/>
              <a:t>Pledging goods (e.g., in a pawn shop) [</a:t>
            </a:r>
            <a:r>
              <a:rPr lang="en-GB" dirty="0" err="1"/>
              <a:t>Vadium</a:t>
            </a:r>
            <a:r>
              <a:rPr lang="en-GB" dirty="0"/>
              <a:t>]</a:t>
            </a:r>
          </a:p>
          <a:p>
            <a:r>
              <a:rPr lang="en-GB" dirty="0"/>
              <a:t>Goods delivered to another to be carried for hire. [Locatio </a:t>
            </a:r>
            <a:r>
              <a:rPr lang="en-GB" dirty="0" err="1"/>
              <a:t>operis</a:t>
            </a:r>
            <a:r>
              <a:rPr lang="en-GB" dirty="0"/>
              <a:t> </a:t>
            </a:r>
            <a:r>
              <a:rPr lang="en-GB" dirty="0" err="1"/>
              <a:t>faciendi</a:t>
            </a:r>
            <a:r>
              <a:rPr lang="en-GB" dirty="0"/>
              <a:t>]</a:t>
            </a:r>
          </a:p>
          <a:p>
            <a:r>
              <a:rPr lang="en-GB" dirty="0"/>
              <a:t>Goods delivered to another to be conveyed, or for a particular purpose without hire.” [Mandatum]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978C9-E8EE-560E-412D-C10F7091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945" y="2121468"/>
            <a:ext cx="5182049" cy="34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6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3B61-00CA-0730-3125-7C82A56B6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Since </a:t>
            </a:r>
            <a:r>
              <a:rPr lang="en-GB" i="1" dirty="0"/>
              <a:t>Coggs v. Bernard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29220-A318-D652-B5F2-CAB035F055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Since </a:t>
            </a:r>
            <a:r>
              <a:rPr lang="en-GB" i="1" dirty="0"/>
              <a:t>Coggs v. Bernard </a:t>
            </a:r>
            <a:r>
              <a:rPr lang="en-GB" dirty="0"/>
              <a:t>was decided, we can add: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Locatio custodiae – what would otherwise be a depositum but for reward, i.e., where goods are bailed to someone who is paid to look after them, also known as “hire of custody”</a:t>
            </a:r>
          </a:p>
          <a:p>
            <a:r>
              <a:rPr lang="en-GB" dirty="0"/>
              <a:t>Constructive bailments – including non-consensual bailments such as theft</a:t>
            </a:r>
          </a:p>
          <a:p>
            <a:r>
              <a:rPr lang="en-GB" dirty="0"/>
              <a:t>Odd cases – e.g., conditional sales, railway tickets issued on condition of surrender at end of journey, etc.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74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73D9-54C7-7051-CC20-06B0AE02E9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Summary: types of bailment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BDC55-FBEE-0BA2-32D9-FFFB23ED9F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Depositum</a:t>
            </a:r>
          </a:p>
          <a:p>
            <a:r>
              <a:rPr lang="en-GB" dirty="0"/>
              <a:t>Locatio custodiae</a:t>
            </a:r>
          </a:p>
          <a:p>
            <a:r>
              <a:rPr lang="en-GB" dirty="0" err="1"/>
              <a:t>Commodatum</a:t>
            </a:r>
            <a:endParaRPr lang="en-GB" dirty="0"/>
          </a:p>
          <a:p>
            <a:r>
              <a:rPr lang="en-GB" dirty="0"/>
              <a:t>Locatio et </a:t>
            </a:r>
            <a:r>
              <a:rPr lang="en-GB" dirty="0" err="1"/>
              <a:t>conductio</a:t>
            </a:r>
            <a:endParaRPr lang="en-GB" dirty="0"/>
          </a:p>
          <a:p>
            <a:r>
              <a:rPr lang="en-GB" dirty="0" err="1"/>
              <a:t>Vadium</a:t>
            </a:r>
            <a:endParaRPr lang="en-GB" dirty="0"/>
          </a:p>
          <a:p>
            <a:r>
              <a:rPr lang="en-GB" dirty="0"/>
              <a:t>Locatio </a:t>
            </a:r>
            <a:r>
              <a:rPr lang="en-GB" dirty="0" err="1"/>
              <a:t>operis</a:t>
            </a:r>
            <a:r>
              <a:rPr lang="en-GB" dirty="0"/>
              <a:t> </a:t>
            </a:r>
            <a:r>
              <a:rPr lang="en-GB" dirty="0" err="1"/>
              <a:t>faciendi</a:t>
            </a:r>
            <a:endParaRPr lang="en-GB" dirty="0"/>
          </a:p>
          <a:p>
            <a:r>
              <a:rPr lang="en-GB" dirty="0"/>
              <a:t>Mandatum</a:t>
            </a:r>
          </a:p>
          <a:p>
            <a:r>
              <a:rPr lang="en-GB" dirty="0"/>
              <a:t>Others…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2634200"/>
      </p:ext>
    </p:extLst>
  </p:cSld>
  <p:clrMapOvr>
    <a:masterClrMapping/>
  </p:clrMapOvr>
</p:sld>
</file>

<file path=ppt/theme/theme1.xml><?xml version="1.0" encoding="utf-8"?>
<a:theme xmlns:a="http://schemas.openxmlformats.org/drawingml/2006/main" name="LawSchoolPowerpointtemplate2014">
  <a:themeElements>
    <a:clrScheme name="Custom 1">
      <a:dk1>
        <a:srgbClr val="8C0E1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52B1E"/>
      </a:hlink>
      <a:folHlink>
        <a:srgbClr val="D52B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 2: Text Only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52B1E"/>
      </a:hlink>
      <a:folHlink>
        <a:srgbClr val="D52B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LawSchoolPowerpointtemplate2014</Template>
  <TotalTime>12586</TotalTime>
  <Words>420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LawSchoolPowerpointtemplate2014</vt:lpstr>
      <vt:lpstr>Slide 2: Text Only</vt:lpstr>
      <vt:lpstr>Topic 3:  Bailments </vt:lpstr>
      <vt:lpstr>Topic Contents</vt:lpstr>
      <vt:lpstr>Lecture 1 contents</vt:lpstr>
      <vt:lpstr>Why study bailments?</vt:lpstr>
      <vt:lpstr>Terminology</vt:lpstr>
      <vt:lpstr>Nature of bailments</vt:lpstr>
      <vt:lpstr>Subject matter – what can be bailed?</vt:lpstr>
      <vt:lpstr>Species (types) of bailment:       Coggs v. Bernard (1703)</vt:lpstr>
      <vt:lpstr>Since Coggs v. Bernard</vt:lpstr>
      <vt:lpstr>Summary: types of bailment today</vt:lpstr>
    </vt:vector>
  </TitlesOfParts>
  <Company>Lancaster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contracts</dc:title>
  <dc:creator>Austen-Baker, Richard</dc:creator>
  <cp:lastModifiedBy>Austen-Baker, Richard</cp:lastModifiedBy>
  <cp:revision>47</cp:revision>
  <dcterms:created xsi:type="dcterms:W3CDTF">2019-09-24T14:35:46Z</dcterms:created>
  <dcterms:modified xsi:type="dcterms:W3CDTF">2022-10-01T17:29:59Z</dcterms:modified>
</cp:coreProperties>
</file>