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24"/>
  </p:notesMasterIdLst>
  <p:sldIdLst>
    <p:sldId id="259" r:id="rId3"/>
    <p:sldId id="299" r:id="rId4"/>
    <p:sldId id="268" r:id="rId5"/>
    <p:sldId id="276" r:id="rId6"/>
    <p:sldId id="275" r:id="rId7"/>
    <p:sldId id="279" r:id="rId8"/>
    <p:sldId id="287" r:id="rId9"/>
    <p:sldId id="300" r:id="rId10"/>
    <p:sldId id="288" r:id="rId11"/>
    <p:sldId id="289" r:id="rId12"/>
    <p:sldId id="290" r:id="rId13"/>
    <p:sldId id="291" r:id="rId14"/>
    <p:sldId id="292" r:id="rId15"/>
    <p:sldId id="301" r:id="rId16"/>
    <p:sldId id="293" r:id="rId17"/>
    <p:sldId id="294" r:id="rId18"/>
    <p:sldId id="296" r:id="rId19"/>
    <p:sldId id="302" r:id="rId20"/>
    <p:sldId id="298" r:id="rId21"/>
    <p:sldId id="297" r:id="rId22"/>
    <p:sldId id="26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6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121B"/>
    <a:srgbClr val="666666"/>
    <a:srgbClr val="D52B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63" autoAdjust="0"/>
    <p:restoredTop sz="96327" autoAdjust="0"/>
  </p:normalViewPr>
  <p:slideViewPr>
    <p:cSldViewPr>
      <p:cViewPr varScale="1">
        <p:scale>
          <a:sx n="186" d="100"/>
          <a:sy n="186" d="100"/>
        </p:scale>
        <p:origin x="2616" y="200"/>
      </p:cViewPr>
      <p:guideLst>
        <p:guide orient="horz" pos="2160"/>
        <p:guide pos="612"/>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2CDB6F-9360-4AC5-A1A4-B746F8B27D7E}" type="datetimeFigureOut">
              <a:rPr lang="en-GB" smtClean="0"/>
              <a:pPr/>
              <a:t>01/12/2025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C8AF62-0413-459D-A055-9BD345497D1F}" type="slidenum">
              <a:rPr lang="en-GB" smtClean="0"/>
              <a:pPr/>
              <a:t>‹#›</a:t>
            </a:fld>
            <a:endParaRPr lang="en-GB"/>
          </a:p>
        </p:txBody>
      </p:sp>
    </p:spTree>
    <p:extLst>
      <p:ext uri="{BB962C8B-B14F-4D97-AF65-F5344CB8AC3E}">
        <p14:creationId xmlns:p14="http://schemas.microsoft.com/office/powerpoint/2010/main" val="3773165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eaLnBrk="1" hangingPunct="1"/>
            <a:r>
              <a:rPr lang="en-US" sz="1200" b="1" kern="1200" dirty="0">
                <a:solidFill>
                  <a:schemeClr val="tx1"/>
                </a:solidFill>
                <a:latin typeface="Lucida Grande" pitchFamily="80" charset="0"/>
                <a:ea typeface="ＭＳ Ｐゴシック" charset="-128"/>
                <a:cs typeface="+mn-cs"/>
              </a:rPr>
              <a:t>LANCASTER UNIVERSITY POWERPOINT TEMPLATES</a:t>
            </a:r>
          </a:p>
          <a:p>
            <a:pPr eaLnBrk="1" hangingPunct="1"/>
            <a:r>
              <a:rPr lang="en-US" sz="1200" kern="1200" baseline="0" dirty="0">
                <a:solidFill>
                  <a:schemeClr val="tx1"/>
                </a:solidFill>
                <a:latin typeface="Lucida Grande" pitchFamily="80" charset="0"/>
                <a:ea typeface="ＭＳ Ｐゴシック" charset="-128"/>
                <a:cs typeface="+mn-cs"/>
              </a:rPr>
              <a:t>These PowerPoint templates are for use by all Lancaster University staff. Please see below for further information regarding the use of these templates. Should you have any further queries, please contact the marketing team via marketing-services@lancaster.ac.uk</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3: Insert a new slide</a:t>
            </a:r>
          </a:p>
          <a:p>
            <a:pPr eaLnBrk="1" hangingPunct="1"/>
            <a:r>
              <a:rPr lang="en-US" sz="1200" kern="1200" dirty="0">
                <a:solidFill>
                  <a:srgbClr val="731F43"/>
                </a:solidFill>
                <a:latin typeface="Lucida Grande" pitchFamily="80" charset="0"/>
                <a:ea typeface="ＭＳ Ｐゴシック" charset="-128"/>
                <a:cs typeface="+mn-cs"/>
              </a:rPr>
              <a:t>If you need to insert a new slide, from </a:t>
            </a:r>
            <a:r>
              <a:rPr lang="en-US" sz="1200" kern="1200" baseline="0" dirty="0">
                <a:solidFill>
                  <a:srgbClr val="666666"/>
                </a:solidFill>
                <a:latin typeface="Lucida Grande" pitchFamily="80" charset="0"/>
                <a:ea typeface="ＭＳ Ｐゴシック" charset="-128"/>
                <a:cs typeface="+mn-cs"/>
              </a:rPr>
              <a:t>the ‘home’ toolbar, click on ‘new slide’ and select from the templates the style you require from the dropdown box.</a:t>
            </a:r>
            <a:endParaRPr lang="en-US" sz="1200" kern="1200" dirty="0">
              <a:solidFill>
                <a:srgbClr val="731F43"/>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4: </a:t>
            </a:r>
            <a:r>
              <a:rPr lang="en-US" sz="1200" b="1" kern="1200" baseline="0" dirty="0">
                <a:solidFill>
                  <a:schemeClr val="tx1"/>
                </a:solidFill>
                <a:latin typeface="Lucida Grande" pitchFamily="80" charset="0"/>
                <a:ea typeface="ＭＳ Ｐゴシック" charset="-128"/>
                <a:cs typeface="+mn-cs"/>
              </a:rPr>
              <a:t>Typing new text and copying text from another document</a:t>
            </a:r>
          </a:p>
          <a:p>
            <a:pPr eaLnBrk="1" hangingPunct="1"/>
            <a:r>
              <a:rPr lang="en-US" sz="1200" kern="1200" baseline="0" dirty="0">
                <a:solidFill>
                  <a:schemeClr val="tx1"/>
                </a:solidFill>
                <a:latin typeface="Lucida Grande" pitchFamily="80" charset="0"/>
                <a:ea typeface="ＭＳ Ｐゴシック" charset="-128"/>
                <a:cs typeface="+mn-cs"/>
              </a:rPr>
              <a:t>New text</a:t>
            </a:r>
            <a:r>
              <a:rPr lang="en-US" sz="1200" kern="1200" dirty="0">
                <a:solidFill>
                  <a:schemeClr val="tx1"/>
                </a:solidFill>
                <a:latin typeface="Lucida Grande" pitchFamily="80" charset="0"/>
                <a:ea typeface="ＭＳ Ｐゴシック" charset="-128"/>
                <a:cs typeface="+mn-cs"/>
              </a:rPr>
              <a:t> should be typed over the</a:t>
            </a:r>
            <a:r>
              <a:rPr lang="en-US" sz="1200" kern="1200" baseline="0" dirty="0">
                <a:solidFill>
                  <a:schemeClr val="tx1"/>
                </a:solidFill>
                <a:latin typeface="Lucida Grande" pitchFamily="80" charset="0"/>
                <a:ea typeface="ＭＳ Ｐゴシック" charset="-128"/>
                <a:cs typeface="+mn-cs"/>
              </a:rPr>
              <a:t> text </a:t>
            </a:r>
            <a:r>
              <a:rPr lang="en-US" sz="1200" kern="1200" dirty="0">
                <a:solidFill>
                  <a:schemeClr val="tx1"/>
                </a:solidFill>
                <a:latin typeface="Lucida Grande" pitchFamily="80" charset="0"/>
                <a:ea typeface="ＭＳ Ｐゴシック" charset="-128"/>
                <a:cs typeface="+mn-cs"/>
              </a:rPr>
              <a:t>in the appropriate template. Copy and pasting text from another document will result in changing the style of the typography and layout. This is unavoidable as it is part of the Microsoft</a:t>
            </a:r>
            <a:r>
              <a:rPr lang="en-US" sz="1200" kern="1200" baseline="0" dirty="0">
                <a:solidFill>
                  <a:schemeClr val="tx1"/>
                </a:solidFill>
                <a:latin typeface="Lucida Grande" pitchFamily="80" charset="0"/>
                <a:ea typeface="ＭＳ Ｐゴシック" charset="-128"/>
                <a:cs typeface="+mn-cs"/>
              </a:rPr>
              <a:t> software</a:t>
            </a:r>
            <a:r>
              <a:rPr lang="en-US" sz="1200" kern="1200" dirty="0">
                <a:solidFill>
                  <a:schemeClr val="tx1"/>
                </a:solidFill>
                <a:latin typeface="Lucida Grande" pitchFamily="80" charset="0"/>
                <a:ea typeface="ＭＳ Ｐゴシック" charset="-128"/>
                <a:cs typeface="+mn-cs"/>
              </a:rPr>
              <a:t>. We</a:t>
            </a:r>
            <a:r>
              <a:rPr lang="en-US" sz="1200" kern="1200" baseline="0" dirty="0">
                <a:solidFill>
                  <a:schemeClr val="tx1"/>
                </a:solidFill>
                <a:latin typeface="Lucida Grande" pitchFamily="80" charset="0"/>
                <a:ea typeface="ＭＳ Ｐゴシック" charset="-128"/>
                <a:cs typeface="+mn-cs"/>
              </a:rPr>
              <a:t> appreciate that in sometimes you will need to copy text from another document into this template. Once you have pasted the existing text into the template, you will need to change the formatting so that they typefaces, sizes, </a:t>
            </a:r>
            <a:r>
              <a:rPr lang="en-US" sz="1200" kern="1200" baseline="0" dirty="0" err="1">
                <a:solidFill>
                  <a:schemeClr val="tx1"/>
                </a:solidFill>
                <a:latin typeface="Lucida Grande" pitchFamily="80" charset="0"/>
                <a:ea typeface="ＭＳ Ｐゴシック" charset="-128"/>
                <a:cs typeface="+mn-cs"/>
              </a:rPr>
              <a:t>colour</a:t>
            </a:r>
            <a:r>
              <a:rPr lang="en-US" sz="1200" kern="1200" baseline="0" dirty="0">
                <a:solidFill>
                  <a:schemeClr val="tx1"/>
                </a:solidFill>
                <a:latin typeface="Lucida Grande" pitchFamily="80" charset="0"/>
                <a:ea typeface="ＭＳ Ｐゴシック" charset="-128"/>
                <a:cs typeface="+mn-cs"/>
              </a:rPr>
              <a:t>, line spacing and alignment are consistent with the rest of the template.</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5: Inserting images</a:t>
            </a: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aseline="0" dirty="0">
                <a:solidFill>
                  <a:srgbClr val="666666"/>
                </a:solidFill>
                <a:latin typeface="Calibri" pitchFamily="80" charset="0"/>
              </a:rPr>
              <a:t>There are three choices of templates with images already inserted. Please use the template with the relevant image size and positioning. </a:t>
            </a:r>
            <a:r>
              <a:rPr lang="en-US" sz="1200" kern="1200" dirty="0">
                <a:solidFill>
                  <a:srgbClr val="731F43"/>
                </a:solidFill>
                <a:latin typeface="Lucida Grande" pitchFamily="80" charset="0"/>
                <a:ea typeface="ＭＳ Ｐゴシック" charset="-128"/>
                <a:cs typeface="+mn-cs"/>
              </a:rPr>
              <a:t>To</a:t>
            </a:r>
            <a:r>
              <a:rPr lang="en-US" sz="1200" kern="1200" baseline="0" dirty="0">
                <a:solidFill>
                  <a:srgbClr val="731F43"/>
                </a:solidFill>
                <a:latin typeface="Lucida Grande" pitchFamily="80" charset="0"/>
                <a:ea typeface="ＭＳ Ｐゴシック" charset="-128"/>
                <a:cs typeface="+mn-cs"/>
              </a:rPr>
              <a:t> insert an i</a:t>
            </a:r>
            <a:r>
              <a:rPr lang="en-US" sz="1200" kern="1200" dirty="0">
                <a:solidFill>
                  <a:srgbClr val="731F43"/>
                </a:solidFill>
                <a:latin typeface="Lucida Grande" pitchFamily="80" charset="0"/>
                <a:ea typeface="ＭＳ Ｐゴシック" charset="-128"/>
                <a:cs typeface="+mn-cs"/>
              </a:rPr>
              <a:t>mage,</a:t>
            </a:r>
            <a:r>
              <a:rPr lang="en-US" sz="1200" kern="1200" baseline="0" dirty="0">
                <a:solidFill>
                  <a:srgbClr val="731F43"/>
                </a:solidFill>
                <a:latin typeface="Lucida Grande" pitchFamily="80" charset="0"/>
                <a:ea typeface="ＭＳ Ｐゴシック" charset="-128"/>
                <a:cs typeface="+mn-cs"/>
              </a:rPr>
              <a:t> please go to ‘insert’ then ‘picture’ and find your image, highlight it and ‘insert’. Resize the image and position as per the example template.</a:t>
            </a:r>
            <a:endParaRPr lang="en-US" sz="1200" kern="1200" dirty="0">
              <a:solidFill>
                <a:srgbClr val="731F43"/>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6: </a:t>
            </a:r>
            <a:r>
              <a:rPr lang="en-GB" sz="1200" b="1" kern="1200" dirty="0">
                <a:solidFill>
                  <a:schemeClr val="tx1"/>
                </a:solidFill>
                <a:latin typeface="Lucida Grande" pitchFamily="80" charset="0"/>
                <a:ea typeface="ＭＳ Ｐゴシック" charset="-128"/>
                <a:cs typeface="+mn-cs"/>
              </a:rPr>
              <a:t>Text boxes</a:t>
            </a:r>
          </a:p>
          <a:p>
            <a:pPr eaLnBrk="1" hangingPunct="1"/>
            <a:r>
              <a:rPr lang="en-GB" sz="1200" kern="1200" dirty="0">
                <a:solidFill>
                  <a:schemeClr val="tx1"/>
                </a:solidFill>
                <a:latin typeface="Lucida Grande" pitchFamily="80" charset="0"/>
                <a:ea typeface="ＭＳ Ｐゴシック" charset="-128"/>
                <a:cs typeface="+mn-cs"/>
              </a:rPr>
              <a:t>If</a:t>
            </a:r>
            <a:r>
              <a:rPr lang="en-GB" sz="1200" kern="1200" baseline="0" dirty="0">
                <a:solidFill>
                  <a:schemeClr val="tx1"/>
                </a:solidFill>
                <a:latin typeface="Lucida Grande" pitchFamily="80" charset="0"/>
                <a:ea typeface="ＭＳ Ｐゴシック" charset="-128"/>
                <a:cs typeface="+mn-cs"/>
              </a:rPr>
              <a:t> a text box is deleted, either insert a new slide (using the appropriate template) or go to another slide and copy a text box. To select a text box for copying, please click on the outer edge of the text box so that the line goes solid (not dashed). Right click your mouse and select ‘copy’, then go back and ‘paste’ it into the slide where the text box is missing which should paste into the correct position on the slide.</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7: Other information</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GB" sz="1200" b="1" kern="1200" dirty="0">
                <a:solidFill>
                  <a:schemeClr val="tx1"/>
                </a:solidFill>
                <a:latin typeface="Lucida Grande" pitchFamily="80" charset="0"/>
                <a:ea typeface="ＭＳ Ｐゴシック" charset="-128"/>
                <a:cs typeface="+mn-cs"/>
              </a:rPr>
              <a:t>Typefaces, sizes</a:t>
            </a:r>
            <a:r>
              <a:rPr lang="en-GB" sz="1200" b="1" kern="1200" baseline="0" dirty="0">
                <a:solidFill>
                  <a:schemeClr val="tx1"/>
                </a:solidFill>
                <a:latin typeface="Lucida Grande" pitchFamily="80" charset="0"/>
                <a:ea typeface="ＭＳ Ｐゴシック" charset="-128"/>
                <a:cs typeface="+mn-cs"/>
              </a:rPr>
              <a:t> and colours</a:t>
            </a: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All copy is Calibri.</a:t>
            </a:r>
          </a:p>
          <a:p>
            <a:pPr eaLnBrk="1" hangingPunct="1"/>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Slide</a:t>
            </a:r>
            <a:r>
              <a:rPr lang="en-GB" sz="1200" kern="1200" baseline="0" dirty="0">
                <a:solidFill>
                  <a:schemeClr val="tx1"/>
                </a:solidFill>
                <a:latin typeface="Lucida Grande" pitchFamily="80" charset="0"/>
                <a:ea typeface="ＭＳ Ｐゴシック" charset="-128"/>
                <a:cs typeface="+mn-cs"/>
              </a:rPr>
              <a:t> title</a:t>
            </a:r>
            <a:r>
              <a:rPr lang="en-GB" sz="1200" kern="1200" dirty="0">
                <a:solidFill>
                  <a:schemeClr val="tx1"/>
                </a:solidFill>
                <a:latin typeface="Lucida Grande" pitchFamily="80" charset="0"/>
                <a:ea typeface="ＭＳ Ｐゴシック" charset="-128"/>
                <a:cs typeface="+mn-cs"/>
              </a:rPr>
              <a:t> copy throughout:</a:t>
            </a:r>
          </a:p>
          <a:p>
            <a:pPr eaLnBrk="1" hangingPunct="1"/>
            <a:r>
              <a:rPr lang="en-GB" sz="1200" i="1" kern="1200" dirty="0">
                <a:solidFill>
                  <a:schemeClr val="tx1"/>
                </a:solidFill>
                <a:latin typeface="Lucida Grande" pitchFamily="80" charset="0"/>
                <a:ea typeface="ＭＳ Ｐゴシック" charset="-128"/>
                <a:cs typeface="+mn-cs"/>
              </a:rPr>
              <a:t>Size:  </a:t>
            </a:r>
            <a:r>
              <a:rPr lang="en-GB" sz="1200" i="0" kern="1200" dirty="0">
                <a:solidFill>
                  <a:schemeClr val="tx1"/>
                </a:solidFill>
                <a:latin typeface="Lucida Grande" pitchFamily="80" charset="0"/>
                <a:ea typeface="ＭＳ Ｐゴシック" charset="-128"/>
                <a:cs typeface="+mn-cs"/>
              </a:rPr>
              <a:t>36 point</a:t>
            </a:r>
            <a:endParaRPr lang="en-GB" sz="1200" kern="1200" dirty="0">
              <a:solidFill>
                <a:schemeClr val="tx1"/>
              </a:solidFill>
              <a:latin typeface="Lucida Grande" pitchFamily="80" charset="0"/>
              <a:ea typeface="ＭＳ Ｐゴシック" charset="-128"/>
              <a:cs typeface="+mn-cs"/>
            </a:endParaRPr>
          </a:p>
          <a:p>
            <a:pPr eaLnBrk="1" hangingPunct="1"/>
            <a:r>
              <a:rPr lang="en-GB" sz="1200" i="1" kern="1200" dirty="0">
                <a:solidFill>
                  <a:schemeClr val="tx1"/>
                </a:solidFill>
                <a:latin typeface="Lucida Grande" pitchFamily="80" charset="0"/>
                <a:ea typeface="ＭＳ Ｐゴシック" charset="-128"/>
                <a:cs typeface="+mn-cs"/>
              </a:rPr>
              <a:t>Colour Lancaster University red:  </a:t>
            </a:r>
            <a:r>
              <a:rPr lang="en-GB" sz="1200" kern="1200" dirty="0">
                <a:solidFill>
                  <a:schemeClr val="tx1"/>
                </a:solidFill>
                <a:latin typeface="Lucida Grande" pitchFamily="80" charset="0"/>
                <a:ea typeface="ＭＳ Ｐゴシック" charset="-128"/>
                <a:cs typeface="+mn-cs"/>
              </a:rPr>
              <a:t>(RGB) R: 181 G: 18 B: 27 (recent</a:t>
            </a:r>
            <a:r>
              <a:rPr lang="en-GB" sz="1200" kern="1200" baseline="0" dirty="0">
                <a:solidFill>
                  <a:schemeClr val="tx1"/>
                </a:solidFill>
                <a:latin typeface="Lucida Grande" pitchFamily="80" charset="0"/>
                <a:ea typeface="ＭＳ Ｐゴシック" charset="-128"/>
                <a:cs typeface="+mn-cs"/>
              </a:rPr>
              <a:t> colours on PowerPoint)</a:t>
            </a:r>
            <a:br>
              <a:rPr lang="en-GB" sz="1200" kern="1200" dirty="0">
                <a:solidFill>
                  <a:schemeClr val="tx1"/>
                </a:solidFill>
                <a:latin typeface="Lucida Grande" pitchFamily="80" charset="0"/>
                <a:ea typeface="ＭＳ Ｐゴシック" charset="-128"/>
                <a:cs typeface="+mn-cs"/>
              </a:rPr>
            </a:b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Small copy on first and last slide:</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  </a:t>
            </a:r>
            <a:r>
              <a:rPr lang="en-GB" sz="1200" kern="1200" dirty="0">
                <a:solidFill>
                  <a:schemeClr val="tx1"/>
                </a:solidFill>
                <a:latin typeface="Lucida Grande" pitchFamily="80" charset="0"/>
                <a:ea typeface="ＭＳ Ｐゴシック" charset="-128"/>
                <a:cs typeface="+mn-cs"/>
              </a:rPr>
              <a:t>16 point</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a:t>
            </a:r>
            <a:r>
              <a:rPr lang="en-GB" sz="1200" i="1" kern="1200" baseline="0" dirty="0">
                <a:solidFill>
                  <a:schemeClr val="tx1"/>
                </a:solidFill>
                <a:latin typeface="Lucida Grande" pitchFamily="80" charset="0"/>
                <a:ea typeface="ＭＳ Ｐゴシック" charset="-128"/>
                <a:cs typeface="+mn-cs"/>
              </a:rPr>
              <a:t> </a:t>
            </a:r>
            <a:r>
              <a:rPr lang="en-GB" sz="1200" i="1" kern="1200" dirty="0">
                <a:solidFill>
                  <a:schemeClr val="tx1"/>
                </a:solidFill>
                <a:latin typeface="Lucida Grande" pitchFamily="80" charset="0"/>
                <a:ea typeface="ＭＳ Ｐゴシック" charset="-128"/>
                <a:cs typeface="+mn-cs"/>
              </a:rPr>
              <a:t>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br>
              <a:rPr lang="en-GB" sz="1200" kern="1200" dirty="0">
                <a:solidFill>
                  <a:schemeClr val="tx1"/>
                </a:solidFill>
                <a:latin typeface="Lucida Grande" pitchFamily="80" charset="0"/>
                <a:ea typeface="ＭＳ Ｐゴシック" charset="-128"/>
                <a:cs typeface="+mn-cs"/>
              </a:rPr>
            </a:br>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Sub-heading</a:t>
            </a:r>
            <a:r>
              <a:rPr lang="en-GB" sz="1200" kern="1200" baseline="0" dirty="0">
                <a:solidFill>
                  <a:schemeClr val="tx1"/>
                </a:solidFill>
                <a:latin typeface="Lucida Grande" pitchFamily="80" charset="0"/>
                <a:ea typeface="ＭＳ Ｐゴシック" charset="-128"/>
                <a:cs typeface="+mn-cs"/>
              </a:rPr>
              <a:t>s</a:t>
            </a:r>
            <a:r>
              <a:rPr lang="en-GB" sz="1200" kern="1200" dirty="0">
                <a:solidFill>
                  <a:schemeClr val="tx1"/>
                </a:solidFill>
                <a:latin typeface="Lucida Grande" pitchFamily="80" charset="0"/>
                <a:ea typeface="ＭＳ Ｐゴシック" charset="-128"/>
                <a:cs typeface="+mn-cs"/>
              </a:rPr>
              <a:t>:</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  </a:t>
            </a:r>
            <a:r>
              <a:rPr lang="en-GB" sz="1200" i="0" kern="1200" dirty="0">
                <a:solidFill>
                  <a:schemeClr val="tx1"/>
                </a:solidFill>
                <a:latin typeface="Lucida Grande" pitchFamily="80" charset="0"/>
                <a:ea typeface="ＭＳ Ｐゴシック" charset="-128"/>
                <a:cs typeface="+mn-cs"/>
              </a:rPr>
              <a:t>24 point – italics</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a:t>
            </a:r>
            <a:r>
              <a:rPr lang="en-GB" sz="1200" i="1" kern="1200" baseline="0" dirty="0">
                <a:solidFill>
                  <a:schemeClr val="tx1"/>
                </a:solidFill>
                <a:latin typeface="Lucida Grande" pitchFamily="80" charset="0"/>
                <a:ea typeface="ＭＳ Ｐゴシック" charset="-128"/>
                <a:cs typeface="+mn-cs"/>
              </a:rPr>
              <a:t> </a:t>
            </a:r>
            <a:r>
              <a:rPr lang="en-GB" sz="1200" i="1" kern="1200" dirty="0">
                <a:solidFill>
                  <a:schemeClr val="tx1"/>
                </a:solidFill>
                <a:latin typeface="Lucida Grande" pitchFamily="80" charset="0"/>
                <a:ea typeface="ＭＳ Ｐゴシック" charset="-128"/>
                <a:cs typeface="+mn-cs"/>
              </a:rPr>
              <a:t>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endParaRPr lang="en-GB" sz="1200" kern="1200" dirty="0">
              <a:solidFill>
                <a:schemeClr val="tx1"/>
              </a:solidFill>
              <a:latin typeface="Lucida Grande" pitchFamily="80" charset="0"/>
              <a:ea typeface="ＭＳ Ｐゴシック" charset="-128"/>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Bullets copy and body copy:</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a:t>
            </a:r>
            <a:r>
              <a:rPr lang="en-GB" sz="1200" i="1" kern="1200" baseline="0" dirty="0">
                <a:solidFill>
                  <a:schemeClr val="tx1"/>
                </a:solidFill>
                <a:latin typeface="Lucida Grande" pitchFamily="80" charset="0"/>
                <a:ea typeface="ＭＳ Ｐゴシック" charset="-128"/>
                <a:cs typeface="+mn-cs"/>
              </a:rPr>
              <a:t>  </a:t>
            </a:r>
            <a:r>
              <a:rPr lang="en-GB" sz="1200" kern="1200" dirty="0">
                <a:solidFill>
                  <a:schemeClr val="tx1"/>
                </a:solidFill>
                <a:latin typeface="Lucida Grande" pitchFamily="80" charset="0"/>
                <a:ea typeface="ＭＳ Ｐゴシック" charset="-128"/>
                <a:cs typeface="+mn-cs"/>
              </a:rPr>
              <a:t>24 point</a:t>
            </a:r>
            <a:r>
              <a:rPr lang="en-GB" sz="1200" kern="1200" baseline="0" dirty="0">
                <a:solidFill>
                  <a:schemeClr val="tx1"/>
                </a:solidFill>
                <a:latin typeface="Lucida Grande" pitchFamily="80" charset="0"/>
                <a:ea typeface="ＭＳ Ｐゴシック" charset="-128"/>
                <a:cs typeface="+mn-cs"/>
              </a:rPr>
              <a:t> </a:t>
            </a:r>
            <a:r>
              <a:rPr lang="en-GB" sz="1200" kern="1200" dirty="0">
                <a:solidFill>
                  <a:schemeClr val="tx1"/>
                </a:solidFill>
                <a:latin typeface="Lucida Grande" pitchFamily="80" charset="0"/>
                <a:ea typeface="ＭＳ Ｐゴシック" charset="-128"/>
                <a:cs typeface="+mn-cs"/>
              </a:rPr>
              <a:t>(see below for a further option)</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 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It</a:t>
            </a:r>
            <a:r>
              <a:rPr lang="en-GB" sz="1200" kern="1200" baseline="0" dirty="0">
                <a:solidFill>
                  <a:schemeClr val="tx1"/>
                </a:solidFill>
                <a:latin typeface="Lucida Grande" pitchFamily="80" charset="0"/>
                <a:ea typeface="ＭＳ Ｐゴシック" charset="-128"/>
                <a:cs typeface="+mn-cs"/>
              </a:rPr>
              <a:t> isn’t advisable to have too much text on a slide, however on rare occasions it may be necessary, therefore there is a slide using 20 point bullet pointed text.</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chemeClr val="tx1"/>
              </a:solidFill>
              <a:latin typeface="Lucida Grande" pitchFamily="80" charset="0"/>
              <a:ea typeface="ＭＳ Ｐゴシック" charset="-128"/>
              <a:cs typeface="+mn-cs"/>
            </a:endParaRPr>
          </a:p>
          <a:p>
            <a:pPr eaLnBrk="1" hangingPunct="1"/>
            <a:r>
              <a:rPr lang="en-US" sz="1200" b="1" kern="1200" dirty="0">
                <a:solidFill>
                  <a:schemeClr val="tx1"/>
                </a:solidFill>
                <a:latin typeface="Lucida Grande" pitchFamily="80" charset="0"/>
                <a:ea typeface="ＭＳ Ｐゴシック" charset="-128"/>
                <a:cs typeface="+mn-cs"/>
              </a:rPr>
              <a:t>Line</a:t>
            </a:r>
            <a:r>
              <a:rPr lang="en-US" sz="1200" b="1" kern="1200" baseline="0" dirty="0">
                <a:solidFill>
                  <a:schemeClr val="tx1"/>
                </a:solidFill>
                <a:latin typeface="Lucida Grande" pitchFamily="80" charset="0"/>
                <a:ea typeface="ＭＳ Ｐゴシック" charset="-128"/>
                <a:cs typeface="+mn-cs"/>
              </a:rPr>
              <a:t> spacing and alignment</a:t>
            </a:r>
          </a:p>
          <a:p>
            <a:pPr eaLnBrk="1" hangingPunct="1"/>
            <a:r>
              <a:rPr lang="en-US" sz="1200" kern="1200" baseline="0" dirty="0">
                <a:solidFill>
                  <a:schemeClr val="tx1"/>
                </a:solidFill>
                <a:latin typeface="Lucida Grande" pitchFamily="80" charset="0"/>
                <a:ea typeface="ＭＳ Ｐゴシック" charset="-128"/>
                <a:cs typeface="+mn-cs"/>
              </a:rPr>
              <a:t>Single line spacing (apart from the main headings which is ‘exactly 35 point’)</a:t>
            </a:r>
          </a:p>
          <a:p>
            <a:pPr eaLnBrk="1" hangingPunct="1"/>
            <a:r>
              <a:rPr lang="en-US" sz="1200" kern="1200" baseline="0" dirty="0">
                <a:solidFill>
                  <a:schemeClr val="tx1"/>
                </a:solidFill>
                <a:latin typeface="Lucida Grande" pitchFamily="80" charset="0"/>
                <a:ea typeface="ＭＳ Ｐゴシック" charset="-128"/>
                <a:cs typeface="+mn-cs"/>
              </a:rPr>
              <a:t>All text is aligned left</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baseline="0" dirty="0">
                <a:solidFill>
                  <a:srgbClr val="731F43"/>
                </a:solidFill>
                <a:latin typeface="Lucida Grande" pitchFamily="80" charset="0"/>
                <a:ea typeface="ＭＳ Ｐゴシック" charset="-128"/>
                <a:cs typeface="+mn-cs"/>
              </a:rPr>
              <a:t>Slide title options</a:t>
            </a:r>
          </a:p>
          <a:p>
            <a:pPr eaLnBrk="1" hangingPunct="1"/>
            <a:r>
              <a:rPr lang="en-US" sz="1200" kern="1200" baseline="0" dirty="0">
                <a:solidFill>
                  <a:srgbClr val="731F43"/>
                </a:solidFill>
                <a:latin typeface="Lucida Grande" pitchFamily="80" charset="0"/>
                <a:ea typeface="ＭＳ Ｐゴシック" charset="-128"/>
                <a:cs typeface="+mn-cs"/>
              </a:rPr>
              <a:t>There are two options for titles on the slides – one line or two lines for longer titles. Ideally, the one line title should be used, however on rare occasions a two line title maybe needed.</a:t>
            </a:r>
            <a:endParaRPr lang="en-US" sz="1200" kern="1200" dirty="0">
              <a:solidFill>
                <a:srgbClr val="731F43"/>
              </a:solidFill>
              <a:latin typeface="Lucida Grande" pitchFamily="80" charset="0"/>
              <a:ea typeface="ＭＳ Ｐゴシック" charset="-128"/>
              <a:cs typeface="+mn-cs"/>
            </a:endParaRPr>
          </a:p>
        </p:txBody>
      </p:sp>
      <p:sp>
        <p:nvSpPr>
          <p:cNvPr id="4" name="Slide Number Placeholder 3"/>
          <p:cNvSpPr>
            <a:spLocks noGrp="1"/>
          </p:cNvSpPr>
          <p:nvPr>
            <p:ph type="sldNum" sz="quarter" idx="10"/>
          </p:nvPr>
        </p:nvSpPr>
        <p:spPr/>
        <p:txBody>
          <a:bodyPr/>
          <a:lstStyle/>
          <a:p>
            <a:fld id="{0EC8AF62-0413-459D-A055-9BD345497D1F}" type="slidenum">
              <a:rPr lang="en-GB" smtClean="0"/>
              <a:pPr/>
              <a:t>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1: presentation title">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2"/>
            <a:ext cx="8208912" cy="1010543"/>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lide 9: discussion">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2"/>
            <a:ext cx="8208912" cy="1010543"/>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2: text only">
    <p:spTree>
      <p:nvGrpSpPr>
        <p:cNvPr id="1" name=""/>
        <p:cNvGrpSpPr/>
        <p:nvPr/>
      </p:nvGrpSpPr>
      <p:grpSpPr>
        <a:xfrm>
          <a:off x="0" y="0"/>
          <a:ext cx="0" cy="0"/>
          <a:chOff x="0" y="0"/>
          <a:chExt cx="0" cy="0"/>
        </a:xfrm>
      </p:grpSpPr>
      <p:sp>
        <p:nvSpPr>
          <p:cNvPr id="2"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4"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3: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4: smaller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5: text with bullet points &amp; 1 image">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9" y="1844675"/>
            <a:ext cx="5400847"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p:txBody>
      </p:sp>
      <p:sp>
        <p:nvSpPr>
          <p:cNvPr id="2" name="TextBox 1"/>
          <p:cNvSpPr txBox="1"/>
          <p:nvPr userDrawn="1"/>
        </p:nvSpPr>
        <p:spPr>
          <a:xfrm>
            <a:off x="3234022" y="3660229"/>
            <a:ext cx="184666" cy="369332"/>
          </a:xfrm>
          <a:prstGeom prst="rect">
            <a:avLst/>
          </a:prstGeom>
          <a:noFill/>
        </p:spPr>
        <p:txBody>
          <a:bodyPr wrap="none" rtlCol="0">
            <a:spAutoFit/>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6: text with bullet points &amp; 2 image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8" name="Text Placeholder 7"/>
          <p:cNvSpPr>
            <a:spLocks noGrp="1"/>
          </p:cNvSpPr>
          <p:nvPr>
            <p:ph type="body" sz="quarter" idx="14"/>
          </p:nvPr>
        </p:nvSpPr>
        <p:spPr>
          <a:xfrm>
            <a:off x="395289" y="1844675"/>
            <a:ext cx="5400847"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7: image only">
    <p:spTree>
      <p:nvGrpSpPr>
        <p:cNvPr id="1" name=""/>
        <p:cNvGrpSpPr/>
        <p:nvPr/>
      </p:nvGrpSpPr>
      <p:grpSpPr>
        <a:xfrm>
          <a:off x="0" y="0"/>
          <a:ext cx="0" cy="0"/>
          <a:chOff x="0" y="0"/>
          <a:chExt cx="0" cy="0"/>
        </a:xfrm>
      </p:grpSpPr>
      <p:sp>
        <p:nvSpPr>
          <p:cNvPr id="3"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8: blank slide">
    <p:spTree>
      <p:nvGrpSpPr>
        <p:cNvPr id="1" name=""/>
        <p:cNvGrpSpPr/>
        <p:nvPr/>
      </p:nvGrpSpPr>
      <p:grpSpPr>
        <a:xfrm>
          <a:off x="0" y="0"/>
          <a:ext cx="0" cy="0"/>
          <a:chOff x="0" y="0"/>
          <a:chExt cx="0" cy="0"/>
        </a:xfrm>
      </p:grpSpPr>
      <p:sp>
        <p:nvSpPr>
          <p:cNvPr id="3"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5"/>
          <p:cNvPicPr>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1" y="1101"/>
            <a:ext cx="9143998" cy="686214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68"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8"/>
          <p:cNvPicPr>
            <a:picLocks noChangeAspect="1" noChangeArrowheads="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5522" y="3879"/>
            <a:ext cx="9132955" cy="686214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4400" dirty="0"/>
              <a:t>Carriage of Goods by Sea: Hague-Visby Rules</a:t>
            </a:r>
          </a:p>
        </p:txBody>
      </p:sp>
      <p:sp>
        <p:nvSpPr>
          <p:cNvPr id="3" name="Subtitle 2"/>
          <p:cNvSpPr>
            <a:spLocks noGrp="1"/>
          </p:cNvSpPr>
          <p:nvPr>
            <p:ph type="subTitle" idx="1"/>
          </p:nvPr>
        </p:nvSpPr>
        <p:spPr/>
        <p:txBody>
          <a:bodyPr/>
          <a:lstStyle/>
          <a:p>
            <a:pPr>
              <a:spcBef>
                <a:spcPts val="0"/>
              </a:spcBef>
            </a:pPr>
            <a:endParaRPr lang="en-GB" dirty="0"/>
          </a:p>
          <a:p>
            <a:pPr>
              <a:spcBef>
                <a:spcPts val="0"/>
              </a:spcBef>
            </a:pPr>
            <a:r>
              <a:rPr lang="en-GB" dirty="0"/>
              <a:t>Dr Mukarrum Ahmed, PhD (Aberdeen), Barrister (Lincoln’s Inn) and Lecturer in Business Law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sz="2800" dirty="0"/>
              <a:t>Recap of previous lecture</a:t>
            </a:r>
          </a:p>
          <a:p>
            <a:r>
              <a:rPr lang="en-GB" sz="2800" dirty="0"/>
              <a:t>Introduction to the Hague-Visby Rules</a:t>
            </a:r>
          </a:p>
          <a:p>
            <a:r>
              <a:rPr lang="en-GB" sz="2800" dirty="0"/>
              <a:t>Article 10 of the Hague-Visby Rules</a:t>
            </a:r>
          </a:p>
          <a:p>
            <a:endParaRPr lang="en-GB" sz="2800" dirty="0"/>
          </a:p>
        </p:txBody>
      </p:sp>
    </p:spTree>
    <p:extLst>
      <p:ext uri="{BB962C8B-B14F-4D97-AF65-F5344CB8AC3E}">
        <p14:creationId xmlns:p14="http://schemas.microsoft.com/office/powerpoint/2010/main" val="3953614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Introduction</a:t>
            </a:r>
          </a:p>
        </p:txBody>
      </p:sp>
      <p:sp>
        <p:nvSpPr>
          <p:cNvPr id="3" name="Subtitle 2"/>
          <p:cNvSpPr>
            <a:spLocks noGrp="1"/>
          </p:cNvSpPr>
          <p:nvPr>
            <p:ph type="body" sz="quarter" idx="14"/>
          </p:nvPr>
        </p:nvSpPr>
        <p:spPr>
          <a:prstGeom prst="rect">
            <a:avLst/>
          </a:prstGeom>
        </p:spPr>
        <p:txBody>
          <a:bodyPr/>
          <a:lstStyle/>
          <a:p>
            <a:r>
              <a:rPr lang="en-GB" sz="2800" dirty="0"/>
              <a:t>In the 19</a:t>
            </a:r>
            <a:r>
              <a:rPr lang="en-GB" sz="2800" baseline="30000" dirty="0"/>
              <a:t>th</a:t>
            </a:r>
            <a:r>
              <a:rPr lang="en-GB" sz="2800" dirty="0"/>
              <a:t> century contracts for the carriage of goods by sea presented an asymmetrical nature due to the imbalance in the bargaining power of the ship owner (‘carrier’) and the cargo owner (‘shipper’).</a:t>
            </a:r>
          </a:p>
          <a:p>
            <a:r>
              <a:rPr lang="en-GB" sz="2800" dirty="0"/>
              <a:t>The carrier could unilaterally allocate risk to minimise his liability – </a:t>
            </a:r>
            <a:r>
              <a:rPr lang="en-GB" sz="2800" i="1" dirty="0"/>
              <a:t>laissez faire</a:t>
            </a:r>
            <a:r>
              <a:rPr lang="en-GB" sz="2800" dirty="0"/>
              <a:t> approach to commerce and contract law.</a:t>
            </a:r>
            <a:endParaRPr lang="en-GB" sz="2800" i="1" dirty="0"/>
          </a:p>
          <a:p>
            <a:r>
              <a:rPr lang="en-GB" sz="2800" dirty="0"/>
              <a:t>Therefore, there was a need to limit the power of the carrier and redress the balance of power in favour of the shipper.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Timeline of International Conventions and Legislation</a:t>
            </a:r>
          </a:p>
        </p:txBody>
      </p:sp>
      <p:sp>
        <p:nvSpPr>
          <p:cNvPr id="3" name="Subtitle 2"/>
          <p:cNvSpPr>
            <a:spLocks noGrp="1"/>
          </p:cNvSpPr>
          <p:nvPr>
            <p:ph type="body" sz="quarter" idx="14"/>
          </p:nvPr>
        </p:nvSpPr>
        <p:spPr>
          <a:prstGeom prst="rect">
            <a:avLst/>
          </a:prstGeom>
        </p:spPr>
        <p:txBody>
          <a:bodyPr/>
          <a:lstStyle/>
          <a:p>
            <a:r>
              <a:rPr lang="en-GB" sz="2000" dirty="0"/>
              <a:t>Harter Act 1893 (US). </a:t>
            </a:r>
          </a:p>
          <a:p>
            <a:r>
              <a:rPr lang="en-GB" sz="2000" b="1" dirty="0"/>
              <a:t>International Convention for the Unification of Certain Rules of Law Relating to Bills of Lading, 1924 (</a:t>
            </a:r>
            <a:r>
              <a:rPr lang="en-GB" sz="2000" b="1" i="1" dirty="0"/>
              <a:t>Hague Rules</a:t>
            </a:r>
            <a:r>
              <a:rPr lang="en-GB" sz="2000" b="1" dirty="0"/>
              <a:t>) - First attempt at harmonised rules – Implemented into UK law by the Carriage of Goods by Sea Act 1924.</a:t>
            </a:r>
          </a:p>
          <a:p>
            <a:r>
              <a:rPr lang="en-GB" sz="2000" b="1" dirty="0"/>
              <a:t>Protocol to amend Hague Rules 1968 (</a:t>
            </a:r>
            <a:r>
              <a:rPr lang="en-GB" sz="2000" b="1" i="1" dirty="0"/>
              <a:t>Hague-Visby Rules</a:t>
            </a:r>
            <a:r>
              <a:rPr lang="en-GB" sz="2000" b="1" dirty="0"/>
              <a:t>) - Amended the original Hague Rules – Implemented into UK law by the Carriage of Goods by Sea Act 1971.</a:t>
            </a:r>
          </a:p>
          <a:p>
            <a:r>
              <a:rPr lang="en-GB" sz="2000" dirty="0"/>
              <a:t>United Nations Convention on the Carriage of Goods by Sea 1978 (</a:t>
            </a:r>
            <a:r>
              <a:rPr lang="en-GB" sz="2000" b="1" i="1" dirty="0"/>
              <a:t>Hamburg Rules</a:t>
            </a:r>
            <a:r>
              <a:rPr lang="en-GB" sz="2000" dirty="0"/>
              <a:t>) - These rules have not been a great success. </a:t>
            </a:r>
          </a:p>
          <a:p>
            <a:r>
              <a:rPr lang="en-GB" sz="2000" dirty="0"/>
              <a:t>Carriage of Goods by Sea Act 1992. - 2009 United Nations Convention on Contracts for the International Carriage of Goods Wholly or Partly by Sea (</a:t>
            </a:r>
            <a:r>
              <a:rPr lang="en-GB" sz="2000" b="1" i="1" dirty="0"/>
              <a:t>Rotterdam Rules</a:t>
            </a:r>
            <a:r>
              <a:rPr lang="en-GB" sz="2000" dirty="0"/>
              <a:t>) - Latest attempt at harmonised rules.</a:t>
            </a:r>
          </a:p>
        </p:txBody>
      </p:sp>
    </p:spTree>
    <p:extLst>
      <p:ext uri="{BB962C8B-B14F-4D97-AF65-F5344CB8AC3E}">
        <p14:creationId xmlns:p14="http://schemas.microsoft.com/office/powerpoint/2010/main" val="3033293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Hague-Visby Rules: Introduction</a:t>
            </a:r>
          </a:p>
        </p:txBody>
      </p:sp>
      <p:sp>
        <p:nvSpPr>
          <p:cNvPr id="3" name="Subtitle 2"/>
          <p:cNvSpPr>
            <a:spLocks noGrp="1"/>
          </p:cNvSpPr>
          <p:nvPr>
            <p:ph type="body" sz="quarter" idx="14"/>
          </p:nvPr>
        </p:nvSpPr>
        <p:spPr>
          <a:prstGeom prst="rect">
            <a:avLst/>
          </a:prstGeom>
        </p:spPr>
        <p:txBody>
          <a:bodyPr/>
          <a:lstStyle/>
          <a:p>
            <a:r>
              <a:rPr lang="en-GB" dirty="0">
                <a:solidFill>
                  <a:srgbClr val="7F7F7F"/>
                </a:solidFill>
              </a:rPr>
              <a:t>An international convention applicable to contracts for the carriage of goods by sea.</a:t>
            </a:r>
          </a:p>
          <a:p>
            <a:r>
              <a:rPr lang="en-GB" dirty="0">
                <a:solidFill>
                  <a:srgbClr val="7F7F7F"/>
                </a:solidFill>
              </a:rPr>
              <a:t>The HR Rules govern the rights and liabilities of carriers and shippers.</a:t>
            </a:r>
          </a:p>
          <a:p>
            <a:r>
              <a:rPr lang="en-GB" dirty="0">
                <a:solidFill>
                  <a:srgbClr val="7F7F7F"/>
                </a:solidFill>
              </a:rPr>
              <a:t>These set of rules contain:</a:t>
            </a:r>
          </a:p>
          <a:p>
            <a:pPr lvl="1"/>
            <a:r>
              <a:rPr lang="en-GB" sz="2400" b="1" dirty="0">
                <a:solidFill>
                  <a:srgbClr val="7F7F7F"/>
                </a:solidFill>
              </a:rPr>
              <a:t>Carrier’s obligations</a:t>
            </a:r>
          </a:p>
          <a:p>
            <a:pPr lvl="1"/>
            <a:r>
              <a:rPr lang="en-GB" sz="2400" b="1" dirty="0">
                <a:solidFill>
                  <a:srgbClr val="7F7F7F"/>
                </a:solidFill>
              </a:rPr>
              <a:t>Carrier’s exceptions from liability</a:t>
            </a:r>
          </a:p>
          <a:p>
            <a:pPr lvl="1"/>
            <a:r>
              <a:rPr lang="en-GB" sz="2400" b="1" dirty="0">
                <a:solidFill>
                  <a:srgbClr val="7F7F7F"/>
                </a:solidFill>
              </a:rPr>
              <a:t>Shipper’s responsibilities</a:t>
            </a:r>
          </a:p>
          <a:p>
            <a:pPr lvl="1"/>
            <a:r>
              <a:rPr lang="en-GB" sz="2400" dirty="0">
                <a:solidFill>
                  <a:srgbClr val="7F7F7F"/>
                </a:solidFill>
              </a:rPr>
              <a:t>Extent of carrier’s liability to shipper</a:t>
            </a:r>
          </a:p>
          <a:p>
            <a:pPr lvl="1"/>
            <a:r>
              <a:rPr lang="en-GB" sz="2400" dirty="0">
                <a:solidFill>
                  <a:srgbClr val="7F7F7F"/>
                </a:solidFill>
              </a:rPr>
              <a:t>The amounts recoverable from the carrier in case of loss of or damage to the goods while in the carrier’s care.</a:t>
            </a:r>
          </a:p>
          <a:p>
            <a:endParaRPr lang="en-GB" sz="2000" dirty="0">
              <a:solidFill>
                <a:srgbClr val="7F7F7F"/>
              </a:solidFill>
            </a:endParaRPr>
          </a:p>
          <a:p>
            <a:endParaRPr lang="en-GB" sz="2000" dirty="0">
              <a:solidFill>
                <a:srgbClr val="7F7F7F"/>
              </a:solidFill>
            </a:endParaRPr>
          </a:p>
          <a:p>
            <a:endParaRPr lang="en-GB" sz="2000" dirty="0">
              <a:solidFill>
                <a:srgbClr val="7F7F7F"/>
              </a:solidFill>
            </a:endParaRPr>
          </a:p>
          <a:p>
            <a:endParaRPr lang="en-GB" sz="1800" dirty="0">
              <a:solidFill>
                <a:srgbClr val="7F7F7F"/>
              </a:solidFill>
            </a:endParaRPr>
          </a:p>
          <a:p>
            <a:endParaRPr lang="en-GB" sz="1800" dirty="0">
              <a:solidFill>
                <a:srgbClr val="7F7F7F"/>
              </a:solidFill>
            </a:endParaRPr>
          </a:p>
          <a:p>
            <a:endParaRPr lang="en-GB" dirty="0">
              <a:solidFill>
                <a:srgbClr val="7F7F7F"/>
              </a:solidFill>
            </a:endParaRPr>
          </a:p>
        </p:txBody>
      </p:sp>
    </p:spTree>
    <p:extLst>
      <p:ext uri="{BB962C8B-B14F-4D97-AF65-F5344CB8AC3E}">
        <p14:creationId xmlns:p14="http://schemas.microsoft.com/office/powerpoint/2010/main" val="1753425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Hague-Visby Rules: Introduction</a:t>
            </a:r>
          </a:p>
        </p:txBody>
      </p:sp>
      <p:sp>
        <p:nvSpPr>
          <p:cNvPr id="3" name="Subtitle 2"/>
          <p:cNvSpPr>
            <a:spLocks noGrp="1"/>
          </p:cNvSpPr>
          <p:nvPr>
            <p:ph type="body" sz="quarter" idx="14"/>
          </p:nvPr>
        </p:nvSpPr>
        <p:spPr>
          <a:prstGeom prst="rect">
            <a:avLst/>
          </a:prstGeom>
        </p:spPr>
        <p:txBody>
          <a:bodyPr/>
          <a:lstStyle/>
          <a:p>
            <a:r>
              <a:rPr lang="en-GB" dirty="0"/>
              <a:t>Hague Rules- adopted by majority of trading countries.</a:t>
            </a:r>
          </a:p>
          <a:p>
            <a:r>
              <a:rPr lang="en-GB" dirty="0"/>
              <a:t>Hague-Visby Rules- adopted by the UK and 30 other countries.</a:t>
            </a:r>
          </a:p>
          <a:p>
            <a:r>
              <a:rPr lang="en-GB" dirty="0"/>
              <a:t>Hamburg Rules- adopted by fewer countries. (not favoured by ship-owners since they are less to their advantage than the other rules)</a:t>
            </a:r>
          </a:p>
          <a:p>
            <a:r>
              <a:rPr lang="en-GB" dirty="0"/>
              <a:t>Where a set of rules is adopted by a particular state, the rules are incorporated by law into the domestic legislation of the State. In UK Hague – Visby rules are adopted in the Carriage of Goods by Sea Act 1971</a:t>
            </a:r>
          </a:p>
          <a:p>
            <a:endParaRPr lang="en-GB" dirty="0"/>
          </a:p>
        </p:txBody>
      </p:sp>
    </p:spTree>
    <p:extLst>
      <p:ext uri="{BB962C8B-B14F-4D97-AF65-F5344CB8AC3E}">
        <p14:creationId xmlns:p14="http://schemas.microsoft.com/office/powerpoint/2010/main" val="3727820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Hague-Visby Rules: When do they Apply? – Article 10</a:t>
            </a:r>
          </a:p>
        </p:txBody>
      </p:sp>
      <p:sp>
        <p:nvSpPr>
          <p:cNvPr id="3" name="Subtitle 2"/>
          <p:cNvSpPr>
            <a:spLocks noGrp="1"/>
          </p:cNvSpPr>
          <p:nvPr>
            <p:ph type="body" sz="quarter" idx="14"/>
          </p:nvPr>
        </p:nvSpPr>
        <p:spPr>
          <a:prstGeom prst="rect">
            <a:avLst/>
          </a:prstGeom>
        </p:spPr>
        <p:txBody>
          <a:bodyPr/>
          <a:lstStyle/>
          <a:p>
            <a:r>
              <a:rPr lang="en-GB" sz="2000" dirty="0"/>
              <a:t>Proper name - Hague Rules as Amended by the Brussels Protocol 1968</a:t>
            </a:r>
          </a:p>
          <a:p>
            <a:r>
              <a:rPr lang="en-GB" sz="2000" dirty="0"/>
              <a:t>Apply to every Bill of Lading or similar document of title relating to carriage of goods between different states if:</a:t>
            </a:r>
          </a:p>
          <a:p>
            <a:pPr lvl="1"/>
            <a:r>
              <a:rPr lang="en-GB" sz="2000" dirty="0"/>
              <a:t>If B/L is issued in contracting state or</a:t>
            </a:r>
          </a:p>
          <a:p>
            <a:pPr lvl="1"/>
            <a:r>
              <a:rPr lang="en-GB" sz="2000" dirty="0"/>
              <a:t>Carriage is from a port of contracting state or</a:t>
            </a:r>
          </a:p>
          <a:p>
            <a:pPr lvl="1"/>
            <a:r>
              <a:rPr lang="en-GB" sz="2000" dirty="0"/>
              <a:t>In every other case, If incorporated in B/L</a:t>
            </a:r>
          </a:p>
          <a:p>
            <a:pPr marL="0" indent="0">
              <a:buNone/>
            </a:pPr>
            <a:endParaRPr lang="en-GB" sz="2000" dirty="0"/>
          </a:p>
          <a:p>
            <a:r>
              <a:rPr lang="en-GB" sz="2000" dirty="0"/>
              <a:t>Extension of scope in UK by the Carriage of Goods by Sea Act 1971:</a:t>
            </a:r>
          </a:p>
          <a:p>
            <a:pPr lvl="1"/>
            <a:r>
              <a:rPr lang="en-GB" sz="1800" dirty="0"/>
              <a:t>Where port of shipment is in the UK, the internationality requirement is fulfilled.</a:t>
            </a:r>
          </a:p>
          <a:p>
            <a:pPr lvl="1"/>
            <a:r>
              <a:rPr lang="en-GB" sz="1800" dirty="0"/>
              <a:t>Sea waybills are covered by the incorporation of a clause stating that the Hague Visby Rules shall apply.</a:t>
            </a:r>
          </a:p>
          <a:p>
            <a:pPr lvl="1"/>
            <a:r>
              <a:rPr lang="en-GB" sz="1800" dirty="0"/>
              <a:t>The Rules are extended to deck cargo which would otherwise be excluded.</a:t>
            </a:r>
          </a:p>
          <a:p>
            <a:endParaRPr lang="en-GB" dirty="0"/>
          </a:p>
          <a:p>
            <a:endParaRPr lang="en-GB" dirty="0"/>
          </a:p>
        </p:txBody>
      </p:sp>
    </p:spTree>
    <p:extLst>
      <p:ext uri="{BB962C8B-B14F-4D97-AF65-F5344CB8AC3E}">
        <p14:creationId xmlns:p14="http://schemas.microsoft.com/office/powerpoint/2010/main" val="67015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sz="2800" dirty="0"/>
              <a:t>The Obligations of the Carrier</a:t>
            </a:r>
          </a:p>
          <a:p>
            <a:pPr lvl="1"/>
            <a:r>
              <a:rPr lang="en-GB" sz="2600" dirty="0"/>
              <a:t>The duty of seaworthiness and the duty to care for the cargo in particular</a:t>
            </a:r>
          </a:p>
          <a:p>
            <a:endParaRPr lang="en-GB" sz="2800" dirty="0"/>
          </a:p>
        </p:txBody>
      </p:sp>
    </p:spTree>
    <p:extLst>
      <p:ext uri="{BB962C8B-B14F-4D97-AF65-F5344CB8AC3E}">
        <p14:creationId xmlns:p14="http://schemas.microsoft.com/office/powerpoint/2010/main" val="1720198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Hague-Visby Rules: Carrier’s Obligations</a:t>
            </a:r>
          </a:p>
        </p:txBody>
      </p:sp>
      <p:sp>
        <p:nvSpPr>
          <p:cNvPr id="3" name="Subtitle 2"/>
          <p:cNvSpPr>
            <a:spLocks noGrp="1"/>
          </p:cNvSpPr>
          <p:nvPr>
            <p:ph type="body" sz="quarter" idx="14"/>
          </p:nvPr>
        </p:nvSpPr>
        <p:spPr>
          <a:prstGeom prst="rect">
            <a:avLst/>
          </a:prstGeom>
        </p:spPr>
        <p:txBody>
          <a:bodyPr/>
          <a:lstStyle/>
          <a:p>
            <a:r>
              <a:rPr lang="en-GB" dirty="0"/>
              <a:t>Under HVR carrier has obligations:</a:t>
            </a:r>
          </a:p>
          <a:p>
            <a:pPr lvl="1"/>
            <a:r>
              <a:rPr lang="en-GB" dirty="0"/>
              <a:t>To ensure the vessel’s seaworthiness</a:t>
            </a:r>
          </a:p>
          <a:p>
            <a:pPr lvl="1"/>
            <a:r>
              <a:rPr lang="en-GB" dirty="0"/>
              <a:t>To care for the cargo</a:t>
            </a:r>
          </a:p>
          <a:p>
            <a:pPr lvl="1"/>
            <a:r>
              <a:rPr lang="en-GB" dirty="0"/>
              <a:t>To proceed with reasonable dispatch</a:t>
            </a:r>
          </a:p>
          <a:p>
            <a:pPr lvl="1"/>
            <a:r>
              <a:rPr lang="en-GB" dirty="0"/>
              <a:t>To carry the goods without unjustifiable delay</a:t>
            </a:r>
          </a:p>
          <a:p>
            <a:pPr lvl="1"/>
            <a:r>
              <a:rPr lang="en-GB" dirty="0"/>
              <a:t>To carry the goods without deviation</a:t>
            </a:r>
          </a:p>
          <a:p>
            <a:pPr lvl="1"/>
            <a:r>
              <a:rPr lang="en-GB" dirty="0"/>
              <a:t>To issue a bill of lading where the shipper requests one.</a:t>
            </a:r>
          </a:p>
          <a:p>
            <a:endParaRPr lang="en-GB" dirty="0"/>
          </a:p>
        </p:txBody>
      </p:sp>
    </p:spTree>
    <p:extLst>
      <p:ext uri="{BB962C8B-B14F-4D97-AF65-F5344CB8AC3E}">
        <p14:creationId xmlns:p14="http://schemas.microsoft.com/office/powerpoint/2010/main" val="3841352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Carrier’s Obligations: Seaworthiness – Article 3 Rule 1</a:t>
            </a:r>
          </a:p>
        </p:txBody>
      </p:sp>
      <p:sp>
        <p:nvSpPr>
          <p:cNvPr id="3" name="Subtitle 2"/>
          <p:cNvSpPr>
            <a:spLocks noGrp="1"/>
          </p:cNvSpPr>
          <p:nvPr>
            <p:ph type="body" sz="quarter" idx="14"/>
          </p:nvPr>
        </p:nvSpPr>
        <p:spPr>
          <a:prstGeom prst="rect">
            <a:avLst/>
          </a:prstGeom>
        </p:spPr>
        <p:txBody>
          <a:bodyPr/>
          <a:lstStyle/>
          <a:p>
            <a:r>
              <a:rPr lang="en-GB" dirty="0"/>
              <a:t>Carrier must before and at the beginning of the voyage, exercise due diligence to:</a:t>
            </a:r>
          </a:p>
          <a:p>
            <a:pPr lvl="1"/>
            <a:r>
              <a:rPr lang="en-GB" dirty="0"/>
              <a:t>Make the ship seaworthy</a:t>
            </a:r>
          </a:p>
          <a:p>
            <a:pPr lvl="1"/>
            <a:r>
              <a:rPr lang="en-GB" dirty="0"/>
              <a:t>Properly man, equip and supply the ship</a:t>
            </a:r>
          </a:p>
          <a:p>
            <a:pPr lvl="1"/>
            <a:r>
              <a:rPr lang="en-GB" dirty="0"/>
              <a:t>Make the parts of the ship in which goods are to be carried, fit and safe for their reception, carriage and preservation.</a:t>
            </a:r>
          </a:p>
          <a:p>
            <a:r>
              <a:rPr lang="en-GB" dirty="0"/>
              <a:t>Vessel needs to be seaworthy only at the beginning of the voyage.</a:t>
            </a:r>
          </a:p>
          <a:p>
            <a:r>
              <a:rPr lang="en-GB" dirty="0"/>
              <a:t>Usually arises from defects in the hull and machinery, training and competence of crew and stowing of cargo.</a:t>
            </a:r>
          </a:p>
          <a:p>
            <a:r>
              <a:rPr lang="en-GB" dirty="0"/>
              <a:t>Seaworthiness includes “cargo worthiness”.</a:t>
            </a:r>
          </a:p>
          <a:p>
            <a:r>
              <a:rPr lang="en-GB" dirty="0"/>
              <a:t>No breach for latent defects.</a:t>
            </a:r>
          </a:p>
          <a:p>
            <a:endParaRPr lang="en-GB" dirty="0"/>
          </a:p>
        </p:txBody>
      </p:sp>
    </p:spTree>
    <p:extLst>
      <p:ext uri="{BB962C8B-B14F-4D97-AF65-F5344CB8AC3E}">
        <p14:creationId xmlns:p14="http://schemas.microsoft.com/office/powerpoint/2010/main" val="2336980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Application of the Seaworthiness Obligation</a:t>
            </a:r>
          </a:p>
        </p:txBody>
      </p:sp>
      <p:sp>
        <p:nvSpPr>
          <p:cNvPr id="3" name="Subtitle 2"/>
          <p:cNvSpPr>
            <a:spLocks noGrp="1"/>
          </p:cNvSpPr>
          <p:nvPr>
            <p:ph type="body" sz="quarter" idx="14"/>
          </p:nvPr>
        </p:nvSpPr>
        <p:spPr>
          <a:prstGeom prst="rect">
            <a:avLst/>
          </a:prstGeom>
        </p:spPr>
        <p:txBody>
          <a:bodyPr/>
          <a:lstStyle/>
          <a:p>
            <a:r>
              <a:rPr lang="en-GB" dirty="0"/>
              <a:t>The claimant will have to prove that there is a connection  between the loss or damage to goods and the vessel’s capacity to carry goods.</a:t>
            </a:r>
          </a:p>
          <a:p>
            <a:r>
              <a:rPr lang="en-GB" dirty="0"/>
              <a:t>The claimant will have to prove that the vessel was unseaworthy at the beginning of the voyage</a:t>
            </a:r>
          </a:p>
          <a:p>
            <a:r>
              <a:rPr lang="en-GB" dirty="0"/>
              <a:t>The carrier will then prove that the unseaworthiness was not due to the lack of due diligence. </a:t>
            </a:r>
          </a:p>
          <a:p>
            <a:r>
              <a:rPr lang="en-GB" b="0" i="1" u="none" strike="noStrike" dirty="0" err="1">
                <a:solidFill>
                  <a:srgbClr val="373A3C"/>
                </a:solidFill>
                <a:effectLst/>
                <a:latin typeface="Arial" panose="020B0604020202020204" pitchFamily="34" charset="0"/>
              </a:rPr>
              <a:t>Actis</a:t>
            </a:r>
            <a:r>
              <a:rPr lang="en-GB" b="0" i="1" u="none" strike="noStrike" dirty="0">
                <a:solidFill>
                  <a:srgbClr val="373A3C"/>
                </a:solidFill>
                <a:effectLst/>
                <a:latin typeface="Arial" panose="020B0604020202020204" pitchFamily="34" charset="0"/>
              </a:rPr>
              <a:t> Co Ltd v Sanko Steamship Co Ltd (The </a:t>
            </a:r>
            <a:r>
              <a:rPr lang="en-GB" b="0" i="1" u="none" strike="noStrike" dirty="0" err="1">
                <a:solidFill>
                  <a:srgbClr val="373A3C"/>
                </a:solidFill>
                <a:effectLst/>
                <a:latin typeface="Arial" panose="020B0604020202020204" pitchFamily="34" charset="0"/>
              </a:rPr>
              <a:t>Aquacharm</a:t>
            </a:r>
            <a:r>
              <a:rPr lang="en-GB" b="0" i="1" u="none" strike="noStrike" dirty="0">
                <a:solidFill>
                  <a:srgbClr val="373A3C"/>
                </a:solidFill>
                <a:effectLst/>
                <a:latin typeface="Arial" panose="020B0604020202020204" pitchFamily="34" charset="0"/>
              </a:rPr>
              <a:t>)</a:t>
            </a:r>
            <a:r>
              <a:rPr lang="en-GB" b="0" i="0" u="none" strike="noStrike" dirty="0">
                <a:solidFill>
                  <a:srgbClr val="373A3C"/>
                </a:solidFill>
                <a:effectLst/>
                <a:latin typeface="Arial" panose="020B0604020202020204" pitchFamily="34" charset="0"/>
              </a:rPr>
              <a:t> [1982] 1 WLR 119.</a:t>
            </a:r>
          </a:p>
          <a:p>
            <a:endParaRPr lang="en-GB" dirty="0"/>
          </a:p>
        </p:txBody>
      </p:sp>
    </p:spTree>
    <p:extLst>
      <p:ext uri="{BB962C8B-B14F-4D97-AF65-F5344CB8AC3E}">
        <p14:creationId xmlns:p14="http://schemas.microsoft.com/office/powerpoint/2010/main" val="3813373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Carrier’s Obligations: Care for the Cargo – Article 3 Rule 2</a:t>
            </a:r>
          </a:p>
        </p:txBody>
      </p:sp>
      <p:sp>
        <p:nvSpPr>
          <p:cNvPr id="3" name="Subtitle 2"/>
          <p:cNvSpPr>
            <a:spLocks noGrp="1"/>
          </p:cNvSpPr>
          <p:nvPr>
            <p:ph type="body" sz="quarter" idx="14"/>
          </p:nvPr>
        </p:nvSpPr>
        <p:spPr>
          <a:prstGeom prst="rect">
            <a:avLst/>
          </a:prstGeom>
        </p:spPr>
        <p:txBody>
          <a:bodyPr/>
          <a:lstStyle/>
          <a:p>
            <a:r>
              <a:rPr lang="en-GB" sz="2000" dirty="0"/>
              <a:t>Unlike the obligation to provide a seaworthy vessel, the duty of care for the cargo extends throughout the voyage.</a:t>
            </a:r>
          </a:p>
          <a:p>
            <a:r>
              <a:rPr lang="en-GB" sz="2000" dirty="0"/>
              <a:t>The carrier shall </a:t>
            </a:r>
            <a:r>
              <a:rPr lang="en-GB" sz="2000" i="1" dirty="0"/>
              <a:t>properly and carefully</a:t>
            </a:r>
            <a:r>
              <a:rPr lang="en-GB" sz="2000" dirty="0"/>
              <a:t>:</a:t>
            </a:r>
          </a:p>
          <a:p>
            <a:pPr lvl="1"/>
            <a:r>
              <a:rPr lang="en-GB" sz="1800" dirty="0"/>
              <a:t>Load</a:t>
            </a:r>
          </a:p>
          <a:p>
            <a:pPr lvl="1"/>
            <a:r>
              <a:rPr lang="en-GB" sz="1800" dirty="0"/>
              <a:t>Handle</a:t>
            </a:r>
          </a:p>
          <a:p>
            <a:pPr lvl="1"/>
            <a:r>
              <a:rPr lang="en-GB" sz="1800" dirty="0"/>
              <a:t>Stow</a:t>
            </a:r>
          </a:p>
          <a:p>
            <a:pPr lvl="1"/>
            <a:r>
              <a:rPr lang="en-GB" sz="1800" dirty="0"/>
              <a:t>Carry</a:t>
            </a:r>
          </a:p>
          <a:p>
            <a:pPr lvl="1"/>
            <a:r>
              <a:rPr lang="en-GB" sz="1800" dirty="0"/>
              <a:t>Keep care for </a:t>
            </a:r>
          </a:p>
          <a:p>
            <a:pPr lvl="1"/>
            <a:r>
              <a:rPr lang="en-GB" sz="1800" dirty="0"/>
              <a:t>And discharge the goods carried.</a:t>
            </a:r>
          </a:p>
          <a:p>
            <a:r>
              <a:rPr lang="en-GB" sz="2000" dirty="0"/>
              <a:t>Shipper must provide special instructions where special care is required.</a:t>
            </a:r>
          </a:p>
          <a:p>
            <a:r>
              <a:rPr lang="en-GB" sz="2000" dirty="0"/>
              <a:t>If goods are in apparent good order and condition on shipment (under a ‘clean’ bill of lading), non delivery or damaged delivery is </a:t>
            </a:r>
            <a:r>
              <a:rPr lang="en-GB" sz="2000" i="1" dirty="0"/>
              <a:t>prima facie </a:t>
            </a:r>
            <a:r>
              <a:rPr lang="en-GB" sz="2000" dirty="0"/>
              <a:t>evidence of the condition of the goods when the shipper sues the carrier and conclusive evidence of the condition of the goods when the consignee sues the carrier.</a:t>
            </a:r>
          </a:p>
          <a:p>
            <a:pPr marL="0" indent="0">
              <a:buNone/>
            </a:pPr>
            <a:endParaRPr lang="en-GB" sz="2000" dirty="0"/>
          </a:p>
          <a:p>
            <a:endParaRPr lang="en-GB" sz="2000" dirty="0"/>
          </a:p>
        </p:txBody>
      </p:sp>
    </p:spTree>
    <p:extLst>
      <p:ext uri="{BB962C8B-B14F-4D97-AF65-F5344CB8AC3E}">
        <p14:creationId xmlns:p14="http://schemas.microsoft.com/office/powerpoint/2010/main" val="1724187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3200" dirty="0"/>
              <a:t>Carrier’s Obligations: Carriage without Unreasonable Delay and Deviation</a:t>
            </a:r>
          </a:p>
        </p:txBody>
      </p:sp>
      <p:sp>
        <p:nvSpPr>
          <p:cNvPr id="3" name="Subtitle 2"/>
          <p:cNvSpPr>
            <a:spLocks noGrp="1"/>
          </p:cNvSpPr>
          <p:nvPr>
            <p:ph type="body" sz="quarter" idx="14"/>
          </p:nvPr>
        </p:nvSpPr>
        <p:spPr>
          <a:prstGeom prst="rect">
            <a:avLst/>
          </a:prstGeom>
        </p:spPr>
        <p:txBody>
          <a:bodyPr/>
          <a:lstStyle/>
          <a:p>
            <a:r>
              <a:rPr lang="en-GB" dirty="0"/>
              <a:t>Carrier liable for loss due to unreasonable delay unless: </a:t>
            </a:r>
          </a:p>
          <a:p>
            <a:pPr lvl="1"/>
            <a:r>
              <a:rPr lang="en-GB" dirty="0"/>
              <a:t>deviation authorised by shipper </a:t>
            </a:r>
          </a:p>
          <a:p>
            <a:pPr lvl="1"/>
            <a:r>
              <a:rPr lang="en-GB" dirty="0"/>
              <a:t>circumstances beyond reasonable control </a:t>
            </a:r>
          </a:p>
          <a:p>
            <a:pPr lvl="1"/>
            <a:r>
              <a:rPr lang="en-GB" dirty="0"/>
              <a:t>Reasonable necessary for compliance with an express or implied warranty </a:t>
            </a:r>
          </a:p>
          <a:p>
            <a:pPr lvl="1"/>
            <a:r>
              <a:rPr lang="en-GB" dirty="0"/>
              <a:t>Reasonable necessity to save ship or its cargo </a:t>
            </a:r>
          </a:p>
          <a:p>
            <a:pPr lvl="1"/>
            <a:r>
              <a:rPr lang="en-GB" dirty="0"/>
              <a:t>Saving human life or ship in distress </a:t>
            </a:r>
          </a:p>
          <a:p>
            <a:pPr lvl="1"/>
            <a:r>
              <a:rPr lang="en-GB" dirty="0"/>
              <a:t>Medical or surgical aid for a person </a:t>
            </a:r>
          </a:p>
          <a:p>
            <a:pPr lvl="1"/>
            <a:r>
              <a:rPr lang="en-GB" dirty="0" err="1"/>
              <a:t>Barratrous</a:t>
            </a:r>
            <a:r>
              <a:rPr lang="en-GB" dirty="0"/>
              <a:t> conduct of master or crew </a:t>
            </a:r>
          </a:p>
          <a:p>
            <a:pPr lvl="1"/>
            <a:r>
              <a:rPr lang="en-GB" dirty="0"/>
              <a:t>Industrial action unconnected with carriers unreasonable conduct</a:t>
            </a:r>
          </a:p>
          <a:p>
            <a:r>
              <a:rPr lang="en-GB" dirty="0"/>
              <a:t>A liberty clause usually allows for deviation from the direct geographical route. </a:t>
            </a:r>
            <a:endParaRPr lang="en-GB" sz="2000" dirty="0"/>
          </a:p>
        </p:txBody>
      </p:sp>
    </p:spTree>
    <p:extLst>
      <p:ext uri="{BB962C8B-B14F-4D97-AF65-F5344CB8AC3E}">
        <p14:creationId xmlns:p14="http://schemas.microsoft.com/office/powerpoint/2010/main" val="1050140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sz="2800" dirty="0"/>
              <a:t>Excepted Perils</a:t>
            </a:r>
          </a:p>
          <a:p>
            <a:pPr lvl="1"/>
            <a:r>
              <a:rPr lang="en-GB" sz="2600" dirty="0"/>
              <a:t>The nautical fault defence in particular</a:t>
            </a:r>
          </a:p>
          <a:p>
            <a:r>
              <a:rPr lang="en-GB" sz="2800" dirty="0"/>
              <a:t>Deck cargo and livestock</a:t>
            </a:r>
          </a:p>
        </p:txBody>
      </p:sp>
    </p:spTree>
    <p:extLst>
      <p:ext uri="{BB962C8B-B14F-4D97-AF65-F5344CB8AC3E}">
        <p14:creationId xmlns:p14="http://schemas.microsoft.com/office/powerpoint/2010/main" val="1720198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Excepted Perils 1 - Article 4</a:t>
            </a:r>
          </a:p>
        </p:txBody>
      </p:sp>
      <p:sp>
        <p:nvSpPr>
          <p:cNvPr id="3" name="Subtitle 2"/>
          <p:cNvSpPr>
            <a:spLocks noGrp="1"/>
          </p:cNvSpPr>
          <p:nvPr>
            <p:ph type="body" sz="quarter" idx="14"/>
          </p:nvPr>
        </p:nvSpPr>
        <p:spPr>
          <a:prstGeom prst="rect">
            <a:avLst/>
          </a:prstGeom>
        </p:spPr>
        <p:txBody>
          <a:bodyPr/>
          <a:lstStyle/>
          <a:p>
            <a:r>
              <a:rPr lang="en-GB" sz="2000" dirty="0"/>
              <a:t>Carrier will not be responsible for loss or damage arising from:</a:t>
            </a:r>
          </a:p>
          <a:p>
            <a:pPr lvl="1"/>
            <a:r>
              <a:rPr lang="en-GB" sz="1800" dirty="0"/>
              <a:t>An act, neglect or fault of the master, mariner, pilot or the servants of the carrier in the </a:t>
            </a:r>
            <a:r>
              <a:rPr lang="en-GB" sz="1800" i="1" dirty="0"/>
              <a:t>navigation and management</a:t>
            </a:r>
            <a:r>
              <a:rPr lang="en-GB" sz="1800" dirty="0"/>
              <a:t> of the ship.</a:t>
            </a:r>
          </a:p>
          <a:p>
            <a:pPr lvl="2"/>
            <a:r>
              <a:rPr lang="en-GB" sz="1600" dirty="0"/>
              <a:t>Very Controversial </a:t>
            </a:r>
            <a:r>
              <a:rPr lang="en-GB" sz="1600" dirty="0" err="1"/>
              <a:t>cf</a:t>
            </a:r>
            <a:r>
              <a:rPr lang="en-GB" sz="1600" dirty="0"/>
              <a:t> Hamburg Rules</a:t>
            </a:r>
          </a:p>
          <a:p>
            <a:pPr lvl="2"/>
            <a:r>
              <a:rPr lang="en-GB" sz="1600" dirty="0"/>
              <a:t>‘navigation and management’ relates to the ship and NOT the cargo</a:t>
            </a:r>
          </a:p>
          <a:p>
            <a:pPr lvl="2"/>
            <a:r>
              <a:rPr lang="en-GB" sz="1400" b="0" i="1" u="none" strike="noStrike" dirty="0">
                <a:solidFill>
                  <a:srgbClr val="373A3C"/>
                </a:solidFill>
                <a:effectLst/>
                <a:latin typeface="Arial" panose="020B0604020202020204" pitchFamily="34" charset="0"/>
              </a:rPr>
              <a:t>The </a:t>
            </a:r>
            <a:r>
              <a:rPr lang="en-GB" sz="1400" b="0" i="1" u="none" strike="noStrike" dirty="0" err="1">
                <a:solidFill>
                  <a:srgbClr val="373A3C"/>
                </a:solidFill>
                <a:effectLst/>
                <a:latin typeface="Arial" panose="020B0604020202020204" pitchFamily="34" charset="0"/>
              </a:rPr>
              <a:t>Xantho</a:t>
            </a:r>
            <a:r>
              <a:rPr lang="en-GB" sz="1400" b="0" i="0" u="none" strike="noStrike" dirty="0">
                <a:solidFill>
                  <a:srgbClr val="373A3C"/>
                </a:solidFill>
                <a:effectLst/>
                <a:latin typeface="Arial" panose="020B0604020202020204" pitchFamily="34" charset="0"/>
              </a:rPr>
              <a:t> (1887) 12 App. Cas. 503.</a:t>
            </a:r>
            <a:endParaRPr lang="en-GB" sz="1600" dirty="0"/>
          </a:p>
          <a:p>
            <a:pPr lvl="1"/>
            <a:r>
              <a:rPr lang="en-GB" sz="1800" dirty="0"/>
              <a:t>Fire unless caused by actual fault of carrier.</a:t>
            </a:r>
          </a:p>
          <a:p>
            <a:pPr lvl="2"/>
            <a:r>
              <a:rPr lang="en-GB" sz="1600" dirty="0"/>
              <a:t>What about a fire caused by a pre-existing unseaworthiness?</a:t>
            </a:r>
          </a:p>
          <a:p>
            <a:pPr lvl="2"/>
            <a:r>
              <a:rPr lang="en-GB" sz="1400" b="0" i="1" u="none" strike="noStrike" dirty="0">
                <a:solidFill>
                  <a:srgbClr val="373A3C"/>
                </a:solidFill>
                <a:effectLst/>
                <a:latin typeface="Arial" panose="020B0604020202020204" pitchFamily="34" charset="0"/>
              </a:rPr>
              <a:t>Maxine Footwear Co. v Canadian Government Merchant Marine</a:t>
            </a:r>
            <a:r>
              <a:rPr lang="en-GB" sz="1400" b="0" i="0" u="none" strike="noStrike" dirty="0">
                <a:solidFill>
                  <a:srgbClr val="373A3C"/>
                </a:solidFill>
                <a:effectLst/>
                <a:latin typeface="Arial" panose="020B0604020202020204" pitchFamily="34" charset="0"/>
              </a:rPr>
              <a:t> [1959] AC 589.</a:t>
            </a:r>
            <a:endParaRPr lang="en-GB" sz="1600" dirty="0"/>
          </a:p>
          <a:p>
            <a:pPr lvl="1"/>
            <a:r>
              <a:rPr lang="en-GB" sz="1800" dirty="0"/>
              <a:t>Perils, dangers and accidents of sea.</a:t>
            </a:r>
          </a:p>
          <a:p>
            <a:pPr lvl="2"/>
            <a:r>
              <a:rPr lang="en-GB" sz="1600" dirty="0"/>
              <a:t>What about a fire caused by a pre-existing unseaworthiness?</a:t>
            </a:r>
          </a:p>
          <a:p>
            <a:pPr lvl="1"/>
            <a:r>
              <a:rPr lang="en-GB" sz="1800" dirty="0"/>
              <a:t>Acts of God, war, public enemies.</a:t>
            </a:r>
          </a:p>
          <a:p>
            <a:pPr lvl="1"/>
            <a:r>
              <a:rPr lang="en-GB" sz="1800" dirty="0"/>
              <a:t>Arrest or restrain of princes, rulers.</a:t>
            </a:r>
          </a:p>
          <a:p>
            <a:pPr lvl="1"/>
            <a:r>
              <a:rPr lang="en-GB" sz="1800" dirty="0"/>
              <a:t>Quarantine regulations</a:t>
            </a:r>
          </a:p>
          <a:p>
            <a:endParaRPr lang="en-GB" sz="2000" dirty="0"/>
          </a:p>
        </p:txBody>
      </p:sp>
    </p:spTree>
    <p:extLst>
      <p:ext uri="{BB962C8B-B14F-4D97-AF65-F5344CB8AC3E}">
        <p14:creationId xmlns:p14="http://schemas.microsoft.com/office/powerpoint/2010/main" val="1435303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Excepted Perils 2</a:t>
            </a:r>
          </a:p>
        </p:txBody>
      </p:sp>
      <p:sp>
        <p:nvSpPr>
          <p:cNvPr id="3" name="Subtitle 2"/>
          <p:cNvSpPr>
            <a:spLocks noGrp="1"/>
          </p:cNvSpPr>
          <p:nvPr>
            <p:ph type="body" sz="quarter" idx="14"/>
          </p:nvPr>
        </p:nvSpPr>
        <p:spPr>
          <a:prstGeom prst="rect">
            <a:avLst/>
          </a:prstGeom>
        </p:spPr>
        <p:txBody>
          <a:bodyPr/>
          <a:lstStyle/>
          <a:p>
            <a:r>
              <a:rPr lang="en-GB" sz="2000" dirty="0"/>
              <a:t>Act or omission of shipper or his agents.</a:t>
            </a:r>
          </a:p>
          <a:p>
            <a:r>
              <a:rPr lang="en-GB" sz="2000" dirty="0"/>
              <a:t>Strikes lockouts etc.</a:t>
            </a:r>
          </a:p>
          <a:p>
            <a:r>
              <a:rPr lang="en-GB" sz="2000" dirty="0"/>
              <a:t>Riots and civil commotions.</a:t>
            </a:r>
          </a:p>
          <a:p>
            <a:r>
              <a:rPr lang="en-GB" sz="2000" dirty="0"/>
              <a:t>Saving or attempting to save life or property at sea.</a:t>
            </a:r>
          </a:p>
          <a:p>
            <a:r>
              <a:rPr lang="en-GB" sz="2000" dirty="0"/>
              <a:t>Wastage of cargo due to its inherent qualities, insufficient packing marks etc.</a:t>
            </a:r>
          </a:p>
          <a:p>
            <a:r>
              <a:rPr lang="en-GB" sz="2000" dirty="0"/>
              <a:t>Latent defects not discoverable by due diligence.</a:t>
            </a:r>
          </a:p>
          <a:p>
            <a:r>
              <a:rPr lang="en-GB" sz="2000" dirty="0"/>
              <a:t>Any other cause arising without the actual fault of carrier.</a:t>
            </a:r>
          </a:p>
          <a:p>
            <a:endParaRPr lang="en-GB" sz="2000" dirty="0"/>
          </a:p>
        </p:txBody>
      </p:sp>
    </p:spTree>
    <p:extLst>
      <p:ext uri="{BB962C8B-B14F-4D97-AF65-F5344CB8AC3E}">
        <p14:creationId xmlns:p14="http://schemas.microsoft.com/office/powerpoint/2010/main" val="1721444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Deck Cargo and Livestock</a:t>
            </a:r>
          </a:p>
        </p:txBody>
      </p:sp>
      <p:sp>
        <p:nvSpPr>
          <p:cNvPr id="3" name="Subtitle 2"/>
          <p:cNvSpPr>
            <a:spLocks noGrp="1"/>
          </p:cNvSpPr>
          <p:nvPr>
            <p:ph type="body" sz="quarter" idx="14"/>
          </p:nvPr>
        </p:nvSpPr>
        <p:spPr>
          <a:prstGeom prst="rect">
            <a:avLst/>
          </a:prstGeom>
        </p:spPr>
        <p:txBody>
          <a:bodyPr/>
          <a:lstStyle/>
          <a:p>
            <a:r>
              <a:rPr lang="en-GB" dirty="0"/>
              <a:t>Hague-Visby rules do not apply to deck cargo and live animals.</a:t>
            </a:r>
          </a:p>
          <a:p>
            <a:r>
              <a:rPr lang="en-GB" dirty="0"/>
              <a:t>But the Carriage of Goods by Sea Act 1971 reverses this by stating that the rules will apply as if they do not exclude deck cargo and live animals.</a:t>
            </a:r>
          </a:p>
        </p:txBody>
      </p:sp>
    </p:spTree>
    <p:extLst>
      <p:ext uri="{BB962C8B-B14F-4D97-AF65-F5344CB8AC3E}">
        <p14:creationId xmlns:p14="http://schemas.microsoft.com/office/powerpoint/2010/main" val="1456147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sz="2800" dirty="0"/>
              <a:t>Practical application of the obligations of the carrier – How does the onus or burden of proof shift?</a:t>
            </a:r>
          </a:p>
          <a:p>
            <a:r>
              <a:rPr lang="en-GB" sz="2800" dirty="0"/>
              <a:t>The obligations of the shipper</a:t>
            </a:r>
          </a:p>
        </p:txBody>
      </p:sp>
    </p:spTree>
    <p:extLst>
      <p:ext uri="{BB962C8B-B14F-4D97-AF65-F5344CB8AC3E}">
        <p14:creationId xmlns:p14="http://schemas.microsoft.com/office/powerpoint/2010/main" val="1720198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Hague-Visby Rules: Application of the Carrier’s Obligations</a:t>
            </a:r>
          </a:p>
        </p:txBody>
      </p:sp>
      <p:sp>
        <p:nvSpPr>
          <p:cNvPr id="3" name="Text Placeholder 2"/>
          <p:cNvSpPr>
            <a:spLocks noGrp="1"/>
          </p:cNvSpPr>
          <p:nvPr>
            <p:ph type="body" sz="quarter" idx="14"/>
          </p:nvPr>
        </p:nvSpPr>
        <p:spPr/>
        <p:txBody>
          <a:bodyPr/>
          <a:lstStyle/>
          <a:p>
            <a:r>
              <a:rPr lang="en-GB" i="1" dirty="0"/>
              <a:t>The Hellenic Dolphin</a:t>
            </a:r>
            <a:r>
              <a:rPr lang="en-GB" dirty="0"/>
              <a:t> [1978] 2 Lloyd’s Rep 336 (Lloyd J).</a:t>
            </a:r>
          </a:p>
          <a:p>
            <a:pPr lvl="1"/>
            <a:r>
              <a:rPr lang="en-GB" dirty="0"/>
              <a:t>Shipper (or receiver) bears the onus of proving that goods shipped in apparent good order and condition (under a ‘clean’ bill of lading) arrived damaged - Breach of Article 3 Rule 2 (the carrier shall properly and carefully load, handle, stow, carry, keep care for and discharge the goods carried).</a:t>
            </a:r>
          </a:p>
          <a:p>
            <a:pPr lvl="1"/>
            <a:r>
              <a:rPr lang="en-GB" dirty="0"/>
              <a:t>Carrier will then prove immunity under Article 4 (Excepted perils).</a:t>
            </a:r>
          </a:p>
          <a:p>
            <a:pPr lvl="1"/>
            <a:r>
              <a:rPr lang="en-GB" dirty="0"/>
              <a:t>Shipper will rebut immunity OR argue for a breach of Article 3 Rule 1 (unseaworthiness before and at the beginning of a voyage).</a:t>
            </a:r>
          </a:p>
          <a:p>
            <a:pPr lvl="1"/>
            <a:r>
              <a:rPr lang="en-GB" dirty="0"/>
              <a:t>Carrier can then rebut by proving that the unseaworthiness was not due to a lack of due diligence.</a:t>
            </a:r>
          </a:p>
        </p:txBody>
      </p:sp>
    </p:spTree>
    <p:extLst>
      <p:ext uri="{BB962C8B-B14F-4D97-AF65-F5344CB8AC3E}">
        <p14:creationId xmlns:p14="http://schemas.microsoft.com/office/powerpoint/2010/main" val="396610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Hague-Visby Rules: Shipper’s Obligations</a:t>
            </a:r>
          </a:p>
        </p:txBody>
      </p:sp>
      <p:sp>
        <p:nvSpPr>
          <p:cNvPr id="3" name="Subtitle 2"/>
          <p:cNvSpPr>
            <a:spLocks noGrp="1"/>
          </p:cNvSpPr>
          <p:nvPr>
            <p:ph type="body" sz="quarter" idx="14"/>
          </p:nvPr>
        </p:nvSpPr>
        <p:spPr>
          <a:prstGeom prst="rect">
            <a:avLst/>
          </a:prstGeom>
        </p:spPr>
        <p:txBody>
          <a:bodyPr/>
          <a:lstStyle/>
          <a:p>
            <a:r>
              <a:rPr lang="en-GB" sz="1800" dirty="0"/>
              <a:t>To pay freight (primary liability)</a:t>
            </a:r>
          </a:p>
          <a:p>
            <a:pPr lvl="1"/>
            <a:r>
              <a:rPr lang="en-GB" sz="1800" dirty="0"/>
              <a:t>Shipper (seller) usually pays the freight where the CFR (Cost and Freight) Incoterm is used.</a:t>
            </a:r>
          </a:p>
          <a:p>
            <a:pPr lvl="1"/>
            <a:r>
              <a:rPr lang="en-GB" sz="1800" dirty="0"/>
              <a:t>Liability for freight transferred to lawful holder of bill of lading or consignee (buyer) where the FOB (Free on Board) Incoterm is used.</a:t>
            </a:r>
          </a:p>
          <a:p>
            <a:pPr lvl="1"/>
            <a:r>
              <a:rPr lang="en-GB" sz="1800" dirty="0"/>
              <a:t>Original shipper, however, may still be liable and only relieved when holder/consignee pays.</a:t>
            </a:r>
          </a:p>
          <a:p>
            <a:pPr lvl="1"/>
            <a:r>
              <a:rPr lang="en-GB" sz="1800" dirty="0"/>
              <a:t>Usually sea carriage document will give carrier a lien over cargo for payment of freight.</a:t>
            </a:r>
          </a:p>
          <a:p>
            <a:pPr>
              <a:lnSpc>
                <a:spcPct val="90000"/>
              </a:lnSpc>
              <a:defRPr/>
            </a:pPr>
            <a:r>
              <a:rPr lang="en-GB" altLang="en-US" sz="1800" dirty="0"/>
              <a:t>Goods of an inflammable, explosive or dangerous nature if not properly marked or are shipped without the knowledge and consent of carrier, may be landed, destroyed, jettisoned or rendered innocuous at any time before discharge.</a:t>
            </a:r>
          </a:p>
          <a:p>
            <a:pPr lvl="1">
              <a:lnSpc>
                <a:spcPct val="90000"/>
              </a:lnSpc>
              <a:defRPr/>
            </a:pPr>
            <a:r>
              <a:rPr lang="en-GB" sz="1800" b="0" i="1" u="none" strike="noStrike" dirty="0">
                <a:solidFill>
                  <a:srgbClr val="373A3C"/>
                </a:solidFill>
                <a:effectLst/>
                <a:latin typeface="Arial" panose="020B0604020202020204" pitchFamily="34" charset="0"/>
              </a:rPr>
              <a:t>The Giannis NK</a:t>
            </a:r>
            <a:r>
              <a:rPr lang="en-GB" sz="1800" b="0" i="0" u="none" strike="noStrike" dirty="0">
                <a:solidFill>
                  <a:srgbClr val="373A3C"/>
                </a:solidFill>
                <a:effectLst/>
                <a:latin typeface="Arial" panose="020B0604020202020204" pitchFamily="34" charset="0"/>
              </a:rPr>
              <a:t> [1998] AC 605.</a:t>
            </a:r>
            <a:endParaRPr lang="en-GB" altLang="en-US" sz="1800" dirty="0"/>
          </a:p>
          <a:p>
            <a:pPr>
              <a:lnSpc>
                <a:spcPct val="90000"/>
              </a:lnSpc>
              <a:defRPr/>
            </a:pPr>
            <a:r>
              <a:rPr lang="en-GB" altLang="en-US" sz="1800" dirty="0"/>
              <a:t>If carried with consent of carrier, but become dangerous at a later stage can also be dealt with likewise. </a:t>
            </a:r>
          </a:p>
        </p:txBody>
      </p:sp>
    </p:spTree>
    <p:extLst>
      <p:ext uri="{BB962C8B-B14F-4D97-AF65-F5344CB8AC3E}">
        <p14:creationId xmlns:p14="http://schemas.microsoft.com/office/powerpoint/2010/main" val="179648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libri" pitchFamily="80" charset="0"/>
              </a:rPr>
              <a:t>Next up: Limitation of Liability and the Carriage of Goods by Sea Act 1992.</a:t>
            </a:r>
            <a:endParaRPr lang="en-GB" dirty="0"/>
          </a:p>
        </p:txBody>
      </p:sp>
    </p:spTree>
  </p:cSld>
  <p:clrMapOvr>
    <a:masterClrMapping/>
  </p:clrMapOvr>
</p:sld>
</file>

<file path=ppt/theme/theme1.xml><?xml version="1.0" encoding="utf-8"?>
<a:theme xmlns:a="http://schemas.openxmlformats.org/drawingml/2006/main" name="Office Theme">
  <a:themeElements>
    <a:clrScheme name="Custom 1">
      <a:dk1>
        <a:srgbClr val="8C0E1D"/>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 2: Text Only">
  <a:themeElements>
    <a:clrScheme name="Custom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314</TotalTime>
  <Words>2303</Words>
  <Application>Microsoft Macintosh PowerPoint</Application>
  <PresentationFormat>On-screen Show (4:3)</PresentationFormat>
  <Paragraphs>174</Paragraphs>
  <Slides>21</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21</vt:i4>
      </vt:variant>
    </vt:vector>
  </HeadingPairs>
  <TitlesOfParts>
    <vt:vector size="26" baseType="lpstr">
      <vt:lpstr>Calibri</vt:lpstr>
      <vt:lpstr>Lucida Grande</vt:lpstr>
      <vt:lpstr>Arial</vt:lpstr>
      <vt:lpstr>Office Theme</vt:lpstr>
      <vt:lpstr>Slide 2: Text Only</vt:lpstr>
      <vt:lpstr>Carriage of Goods by Sea: Hague-Visby Rules</vt:lpstr>
      <vt:lpstr>In this Section</vt:lpstr>
      <vt:lpstr>Introduction</vt:lpstr>
      <vt:lpstr>Timeline of International Conventions and Legislation</vt:lpstr>
      <vt:lpstr>Hague-Visby Rules: Introduction</vt:lpstr>
      <vt:lpstr>Hague-Visby Rules: Introduction</vt:lpstr>
      <vt:lpstr>Hague-Visby Rules: When do they Apply? – Article 10</vt:lpstr>
      <vt:lpstr>In this Section</vt:lpstr>
      <vt:lpstr>Hague-Visby Rules: Carrier’s Obligations</vt:lpstr>
      <vt:lpstr>Carrier’s Obligations: Seaworthiness – Article 3 Rule 1</vt:lpstr>
      <vt:lpstr>Application of the Seaworthiness Obligation</vt:lpstr>
      <vt:lpstr>Carrier’s Obligations: Care for the Cargo – Article 3 Rule 2</vt:lpstr>
      <vt:lpstr>Carrier’s Obligations: Carriage without Unreasonable Delay and Deviation</vt:lpstr>
      <vt:lpstr>In this Section</vt:lpstr>
      <vt:lpstr>Excepted Perils 1 - Article 4</vt:lpstr>
      <vt:lpstr>Excepted Perils 2</vt:lpstr>
      <vt:lpstr>Deck Cargo and Livestock</vt:lpstr>
      <vt:lpstr>In this Section</vt:lpstr>
      <vt:lpstr>Hague-Visby Rules: Application of the Carrier’s Obligations</vt:lpstr>
      <vt:lpstr>Hague-Visby Rules: Shipper’s Obligations</vt:lpstr>
      <vt:lpstr>Next up: Limitation of Liability and the Carriage of Goods by Sea Act 1992.</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wendy.gallagher</dc:creator>
  <cp:lastModifiedBy>Ahmed, Mukarrum</cp:lastModifiedBy>
  <cp:revision>142</cp:revision>
  <dcterms:created xsi:type="dcterms:W3CDTF">2011-10-31T13:04:17Z</dcterms:created>
  <dcterms:modified xsi:type="dcterms:W3CDTF">2025-12-02T00:12:33Z</dcterms:modified>
</cp:coreProperties>
</file>