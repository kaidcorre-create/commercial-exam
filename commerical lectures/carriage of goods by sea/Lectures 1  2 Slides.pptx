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25"/>
  </p:notesMasterIdLst>
  <p:sldIdLst>
    <p:sldId id="259" r:id="rId3"/>
    <p:sldId id="299" r:id="rId4"/>
    <p:sldId id="268" r:id="rId5"/>
    <p:sldId id="276" r:id="rId6"/>
    <p:sldId id="275" r:id="rId7"/>
    <p:sldId id="300" r:id="rId8"/>
    <p:sldId id="298" r:id="rId9"/>
    <p:sldId id="279" r:id="rId10"/>
    <p:sldId id="287" r:id="rId11"/>
    <p:sldId id="288" r:id="rId12"/>
    <p:sldId id="302" r:id="rId13"/>
    <p:sldId id="289" r:id="rId14"/>
    <p:sldId id="290" r:id="rId15"/>
    <p:sldId id="291" r:id="rId16"/>
    <p:sldId id="292" r:id="rId17"/>
    <p:sldId id="293" r:id="rId18"/>
    <p:sldId id="294" r:id="rId19"/>
    <p:sldId id="301" r:id="rId20"/>
    <p:sldId id="295" r:id="rId21"/>
    <p:sldId id="296" r:id="rId22"/>
    <p:sldId id="297" r:id="rId23"/>
    <p:sldId id="26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6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121B"/>
    <a:srgbClr val="666666"/>
    <a:srgbClr val="D52B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63" autoAdjust="0"/>
    <p:restoredTop sz="96327" autoAdjust="0"/>
  </p:normalViewPr>
  <p:slideViewPr>
    <p:cSldViewPr>
      <p:cViewPr varScale="1">
        <p:scale>
          <a:sx n="186" d="100"/>
          <a:sy n="186" d="100"/>
        </p:scale>
        <p:origin x="2616" y="200"/>
      </p:cViewPr>
      <p:guideLst>
        <p:guide orient="horz" pos="2160"/>
        <p:guide pos="612"/>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2CDB6F-9360-4AC5-A1A4-B746F8B27D7E}" type="datetimeFigureOut">
              <a:rPr lang="en-GB" smtClean="0"/>
              <a:pPr/>
              <a:t>18/11/2024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C8AF62-0413-459D-A055-9BD345497D1F}" type="slidenum">
              <a:rPr lang="en-GB" smtClean="0"/>
              <a:pPr/>
              <a:t>‹#›</a:t>
            </a:fld>
            <a:endParaRPr lang="en-GB"/>
          </a:p>
        </p:txBody>
      </p:sp>
    </p:spTree>
    <p:extLst>
      <p:ext uri="{BB962C8B-B14F-4D97-AF65-F5344CB8AC3E}">
        <p14:creationId xmlns:p14="http://schemas.microsoft.com/office/powerpoint/2010/main" val="3773165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eaLnBrk="1" hangingPunct="1"/>
            <a:r>
              <a:rPr lang="en-US" sz="1200" b="1" kern="1200" dirty="0">
                <a:solidFill>
                  <a:schemeClr val="tx1"/>
                </a:solidFill>
                <a:latin typeface="Lucida Grande" pitchFamily="80" charset="0"/>
                <a:ea typeface="ＭＳ Ｐゴシック" charset="-128"/>
                <a:cs typeface="+mn-cs"/>
              </a:rPr>
              <a:t>LANCASTER UNIVERSITY POWERPOINT TEMPLATES</a:t>
            </a:r>
          </a:p>
          <a:p>
            <a:pPr eaLnBrk="1" hangingPunct="1"/>
            <a:r>
              <a:rPr lang="en-US" sz="1200" kern="1200" baseline="0" dirty="0">
                <a:solidFill>
                  <a:schemeClr val="tx1"/>
                </a:solidFill>
                <a:latin typeface="Lucida Grande" pitchFamily="80" charset="0"/>
                <a:ea typeface="ＭＳ Ｐゴシック" charset="-128"/>
                <a:cs typeface="+mn-cs"/>
              </a:rPr>
              <a:t>These PowerPoint templates are for use by all Lancaster University staff. Please see below for further information regarding the use of these templates. Should you have any further queries, please contact the marketing team via marketing-services@lancaster.ac.uk</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3: Insert a new slide</a:t>
            </a:r>
          </a:p>
          <a:p>
            <a:pPr eaLnBrk="1" hangingPunct="1"/>
            <a:r>
              <a:rPr lang="en-US" sz="1200" kern="1200" dirty="0">
                <a:solidFill>
                  <a:srgbClr val="731F43"/>
                </a:solidFill>
                <a:latin typeface="Lucida Grande" pitchFamily="80" charset="0"/>
                <a:ea typeface="ＭＳ Ｐゴシック" charset="-128"/>
                <a:cs typeface="+mn-cs"/>
              </a:rPr>
              <a:t>If you need to insert a new slide, from </a:t>
            </a:r>
            <a:r>
              <a:rPr lang="en-US" sz="1200" kern="1200" baseline="0" dirty="0">
                <a:solidFill>
                  <a:srgbClr val="666666"/>
                </a:solidFill>
                <a:latin typeface="Lucida Grande" pitchFamily="80" charset="0"/>
                <a:ea typeface="ＭＳ Ｐゴシック" charset="-128"/>
                <a:cs typeface="+mn-cs"/>
              </a:rPr>
              <a:t>the ‘home’ toolbar, click on ‘new slide’ and select from the templates the style you require from the dropdown box.</a:t>
            </a:r>
            <a:endParaRPr lang="en-US" sz="1200" kern="1200" dirty="0">
              <a:solidFill>
                <a:srgbClr val="731F43"/>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4: </a:t>
            </a:r>
            <a:r>
              <a:rPr lang="en-US" sz="1200" b="1" kern="1200" baseline="0" dirty="0">
                <a:solidFill>
                  <a:schemeClr val="tx1"/>
                </a:solidFill>
                <a:latin typeface="Lucida Grande" pitchFamily="80" charset="0"/>
                <a:ea typeface="ＭＳ Ｐゴシック" charset="-128"/>
                <a:cs typeface="+mn-cs"/>
              </a:rPr>
              <a:t>Typing new text and copying text from another document</a:t>
            </a:r>
          </a:p>
          <a:p>
            <a:pPr eaLnBrk="1" hangingPunct="1"/>
            <a:r>
              <a:rPr lang="en-US" sz="1200" kern="1200" baseline="0" dirty="0">
                <a:solidFill>
                  <a:schemeClr val="tx1"/>
                </a:solidFill>
                <a:latin typeface="Lucida Grande" pitchFamily="80" charset="0"/>
                <a:ea typeface="ＭＳ Ｐゴシック" charset="-128"/>
                <a:cs typeface="+mn-cs"/>
              </a:rPr>
              <a:t>New text</a:t>
            </a:r>
            <a:r>
              <a:rPr lang="en-US" sz="1200" kern="1200" dirty="0">
                <a:solidFill>
                  <a:schemeClr val="tx1"/>
                </a:solidFill>
                <a:latin typeface="Lucida Grande" pitchFamily="80" charset="0"/>
                <a:ea typeface="ＭＳ Ｐゴシック" charset="-128"/>
                <a:cs typeface="+mn-cs"/>
              </a:rPr>
              <a:t> should be typed over the</a:t>
            </a:r>
            <a:r>
              <a:rPr lang="en-US" sz="1200" kern="1200" baseline="0" dirty="0">
                <a:solidFill>
                  <a:schemeClr val="tx1"/>
                </a:solidFill>
                <a:latin typeface="Lucida Grande" pitchFamily="80" charset="0"/>
                <a:ea typeface="ＭＳ Ｐゴシック" charset="-128"/>
                <a:cs typeface="+mn-cs"/>
              </a:rPr>
              <a:t> text </a:t>
            </a:r>
            <a:r>
              <a:rPr lang="en-US" sz="1200" kern="1200" dirty="0">
                <a:solidFill>
                  <a:schemeClr val="tx1"/>
                </a:solidFill>
                <a:latin typeface="Lucida Grande" pitchFamily="80" charset="0"/>
                <a:ea typeface="ＭＳ Ｐゴシック" charset="-128"/>
                <a:cs typeface="+mn-cs"/>
              </a:rPr>
              <a:t>in the appropriate template. Copy and pasting text from another document will result in changing the style of the typography and layout. This is unavoidable as it is part of the Microsoft</a:t>
            </a:r>
            <a:r>
              <a:rPr lang="en-US" sz="1200" kern="1200" baseline="0" dirty="0">
                <a:solidFill>
                  <a:schemeClr val="tx1"/>
                </a:solidFill>
                <a:latin typeface="Lucida Grande" pitchFamily="80" charset="0"/>
                <a:ea typeface="ＭＳ Ｐゴシック" charset="-128"/>
                <a:cs typeface="+mn-cs"/>
              </a:rPr>
              <a:t> software</a:t>
            </a:r>
            <a:r>
              <a:rPr lang="en-US" sz="1200" kern="1200" dirty="0">
                <a:solidFill>
                  <a:schemeClr val="tx1"/>
                </a:solidFill>
                <a:latin typeface="Lucida Grande" pitchFamily="80" charset="0"/>
                <a:ea typeface="ＭＳ Ｐゴシック" charset="-128"/>
                <a:cs typeface="+mn-cs"/>
              </a:rPr>
              <a:t>. We</a:t>
            </a:r>
            <a:r>
              <a:rPr lang="en-US" sz="1200" kern="1200" baseline="0" dirty="0">
                <a:solidFill>
                  <a:schemeClr val="tx1"/>
                </a:solidFill>
                <a:latin typeface="Lucida Grande" pitchFamily="80" charset="0"/>
                <a:ea typeface="ＭＳ Ｐゴシック" charset="-128"/>
                <a:cs typeface="+mn-cs"/>
              </a:rPr>
              <a:t> appreciate that in sometimes you will need to copy text from another document into this template. Once you have pasted the existing text into the template, you will need to change the formatting so that they typefaces, sizes, </a:t>
            </a:r>
            <a:r>
              <a:rPr lang="en-US" sz="1200" kern="1200" baseline="0" dirty="0" err="1">
                <a:solidFill>
                  <a:schemeClr val="tx1"/>
                </a:solidFill>
                <a:latin typeface="Lucida Grande" pitchFamily="80" charset="0"/>
                <a:ea typeface="ＭＳ Ｐゴシック" charset="-128"/>
                <a:cs typeface="+mn-cs"/>
              </a:rPr>
              <a:t>colour</a:t>
            </a:r>
            <a:r>
              <a:rPr lang="en-US" sz="1200" kern="1200" baseline="0" dirty="0">
                <a:solidFill>
                  <a:schemeClr val="tx1"/>
                </a:solidFill>
                <a:latin typeface="Lucida Grande" pitchFamily="80" charset="0"/>
                <a:ea typeface="ＭＳ Ｐゴシック" charset="-128"/>
                <a:cs typeface="+mn-cs"/>
              </a:rPr>
              <a:t>, line spacing and alignment are consistent with the rest of the template.</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5: Inserting images</a:t>
            </a: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aseline="0" dirty="0">
                <a:solidFill>
                  <a:srgbClr val="666666"/>
                </a:solidFill>
                <a:latin typeface="Calibri" pitchFamily="80" charset="0"/>
              </a:rPr>
              <a:t>There are three choices of templates with images already inserted. Please use the template with the relevant image size and positioning. </a:t>
            </a:r>
            <a:r>
              <a:rPr lang="en-US" sz="1200" kern="1200" dirty="0">
                <a:solidFill>
                  <a:srgbClr val="731F43"/>
                </a:solidFill>
                <a:latin typeface="Lucida Grande" pitchFamily="80" charset="0"/>
                <a:ea typeface="ＭＳ Ｐゴシック" charset="-128"/>
                <a:cs typeface="+mn-cs"/>
              </a:rPr>
              <a:t>To</a:t>
            </a:r>
            <a:r>
              <a:rPr lang="en-US" sz="1200" kern="1200" baseline="0" dirty="0">
                <a:solidFill>
                  <a:srgbClr val="731F43"/>
                </a:solidFill>
                <a:latin typeface="Lucida Grande" pitchFamily="80" charset="0"/>
                <a:ea typeface="ＭＳ Ｐゴシック" charset="-128"/>
                <a:cs typeface="+mn-cs"/>
              </a:rPr>
              <a:t> insert an i</a:t>
            </a:r>
            <a:r>
              <a:rPr lang="en-US" sz="1200" kern="1200" dirty="0">
                <a:solidFill>
                  <a:srgbClr val="731F43"/>
                </a:solidFill>
                <a:latin typeface="Lucida Grande" pitchFamily="80" charset="0"/>
                <a:ea typeface="ＭＳ Ｐゴシック" charset="-128"/>
                <a:cs typeface="+mn-cs"/>
              </a:rPr>
              <a:t>mage,</a:t>
            </a:r>
            <a:r>
              <a:rPr lang="en-US" sz="1200" kern="1200" baseline="0" dirty="0">
                <a:solidFill>
                  <a:srgbClr val="731F43"/>
                </a:solidFill>
                <a:latin typeface="Lucida Grande" pitchFamily="80" charset="0"/>
                <a:ea typeface="ＭＳ Ｐゴシック" charset="-128"/>
                <a:cs typeface="+mn-cs"/>
              </a:rPr>
              <a:t> please go to ‘insert’ then ‘picture’ and find your image, highlight it and ‘insert’. Resize the image and position as per the example template.</a:t>
            </a:r>
            <a:endParaRPr lang="en-US" sz="1200" kern="1200" dirty="0">
              <a:solidFill>
                <a:srgbClr val="731F43"/>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6: </a:t>
            </a:r>
            <a:r>
              <a:rPr lang="en-GB" sz="1200" b="1" kern="1200" dirty="0">
                <a:solidFill>
                  <a:schemeClr val="tx1"/>
                </a:solidFill>
                <a:latin typeface="Lucida Grande" pitchFamily="80" charset="0"/>
                <a:ea typeface="ＭＳ Ｐゴシック" charset="-128"/>
                <a:cs typeface="+mn-cs"/>
              </a:rPr>
              <a:t>Text boxes</a:t>
            </a:r>
          </a:p>
          <a:p>
            <a:pPr eaLnBrk="1" hangingPunct="1"/>
            <a:r>
              <a:rPr lang="en-GB" sz="1200" kern="1200" dirty="0">
                <a:solidFill>
                  <a:schemeClr val="tx1"/>
                </a:solidFill>
                <a:latin typeface="Lucida Grande" pitchFamily="80" charset="0"/>
                <a:ea typeface="ＭＳ Ｐゴシック" charset="-128"/>
                <a:cs typeface="+mn-cs"/>
              </a:rPr>
              <a:t>If</a:t>
            </a:r>
            <a:r>
              <a:rPr lang="en-GB" sz="1200" kern="1200" baseline="0" dirty="0">
                <a:solidFill>
                  <a:schemeClr val="tx1"/>
                </a:solidFill>
                <a:latin typeface="Lucida Grande" pitchFamily="80" charset="0"/>
                <a:ea typeface="ＭＳ Ｐゴシック" charset="-128"/>
                <a:cs typeface="+mn-cs"/>
              </a:rPr>
              <a:t> a text box is deleted, either insert a new slide (using the appropriate template) or go to another slide and copy a text box. To select a text box for copying, please click on the outer edge of the text box so that the line goes solid (not dashed). Right click your mouse and select ‘copy’, then go back and ‘paste’ it into the slide where the text box is missing which should paste into the correct position on the slide.</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7: Other information</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GB" sz="1200" b="1" kern="1200" dirty="0">
                <a:solidFill>
                  <a:schemeClr val="tx1"/>
                </a:solidFill>
                <a:latin typeface="Lucida Grande" pitchFamily="80" charset="0"/>
                <a:ea typeface="ＭＳ Ｐゴシック" charset="-128"/>
                <a:cs typeface="+mn-cs"/>
              </a:rPr>
              <a:t>Typefaces, sizes</a:t>
            </a:r>
            <a:r>
              <a:rPr lang="en-GB" sz="1200" b="1" kern="1200" baseline="0" dirty="0">
                <a:solidFill>
                  <a:schemeClr val="tx1"/>
                </a:solidFill>
                <a:latin typeface="Lucida Grande" pitchFamily="80" charset="0"/>
                <a:ea typeface="ＭＳ Ｐゴシック" charset="-128"/>
                <a:cs typeface="+mn-cs"/>
              </a:rPr>
              <a:t> and colours</a:t>
            </a: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All copy is Calibri.</a:t>
            </a:r>
          </a:p>
          <a:p>
            <a:pPr eaLnBrk="1" hangingPunct="1"/>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Slide</a:t>
            </a:r>
            <a:r>
              <a:rPr lang="en-GB" sz="1200" kern="1200" baseline="0" dirty="0">
                <a:solidFill>
                  <a:schemeClr val="tx1"/>
                </a:solidFill>
                <a:latin typeface="Lucida Grande" pitchFamily="80" charset="0"/>
                <a:ea typeface="ＭＳ Ｐゴシック" charset="-128"/>
                <a:cs typeface="+mn-cs"/>
              </a:rPr>
              <a:t> title</a:t>
            </a:r>
            <a:r>
              <a:rPr lang="en-GB" sz="1200" kern="1200" dirty="0">
                <a:solidFill>
                  <a:schemeClr val="tx1"/>
                </a:solidFill>
                <a:latin typeface="Lucida Grande" pitchFamily="80" charset="0"/>
                <a:ea typeface="ＭＳ Ｐゴシック" charset="-128"/>
                <a:cs typeface="+mn-cs"/>
              </a:rPr>
              <a:t> copy throughout:</a:t>
            </a:r>
          </a:p>
          <a:p>
            <a:pPr eaLnBrk="1" hangingPunct="1"/>
            <a:r>
              <a:rPr lang="en-GB" sz="1200" i="1" kern="1200" dirty="0">
                <a:solidFill>
                  <a:schemeClr val="tx1"/>
                </a:solidFill>
                <a:latin typeface="Lucida Grande" pitchFamily="80" charset="0"/>
                <a:ea typeface="ＭＳ Ｐゴシック" charset="-128"/>
                <a:cs typeface="+mn-cs"/>
              </a:rPr>
              <a:t>Size:  </a:t>
            </a:r>
            <a:r>
              <a:rPr lang="en-GB" sz="1200" i="0" kern="1200" dirty="0">
                <a:solidFill>
                  <a:schemeClr val="tx1"/>
                </a:solidFill>
                <a:latin typeface="Lucida Grande" pitchFamily="80" charset="0"/>
                <a:ea typeface="ＭＳ Ｐゴシック" charset="-128"/>
                <a:cs typeface="+mn-cs"/>
              </a:rPr>
              <a:t>36 point</a:t>
            </a:r>
            <a:endParaRPr lang="en-GB" sz="1200" kern="1200" dirty="0">
              <a:solidFill>
                <a:schemeClr val="tx1"/>
              </a:solidFill>
              <a:latin typeface="Lucida Grande" pitchFamily="80" charset="0"/>
              <a:ea typeface="ＭＳ Ｐゴシック" charset="-128"/>
              <a:cs typeface="+mn-cs"/>
            </a:endParaRPr>
          </a:p>
          <a:p>
            <a:pPr eaLnBrk="1" hangingPunct="1"/>
            <a:r>
              <a:rPr lang="en-GB" sz="1200" i="1" kern="1200" dirty="0">
                <a:solidFill>
                  <a:schemeClr val="tx1"/>
                </a:solidFill>
                <a:latin typeface="Lucida Grande" pitchFamily="80" charset="0"/>
                <a:ea typeface="ＭＳ Ｐゴシック" charset="-128"/>
                <a:cs typeface="+mn-cs"/>
              </a:rPr>
              <a:t>Colour Lancaster University red:  </a:t>
            </a:r>
            <a:r>
              <a:rPr lang="en-GB" sz="1200" kern="1200" dirty="0">
                <a:solidFill>
                  <a:schemeClr val="tx1"/>
                </a:solidFill>
                <a:latin typeface="Lucida Grande" pitchFamily="80" charset="0"/>
                <a:ea typeface="ＭＳ Ｐゴシック" charset="-128"/>
                <a:cs typeface="+mn-cs"/>
              </a:rPr>
              <a:t>(RGB) R: 181 G: 18 B: 27 (recent</a:t>
            </a:r>
            <a:r>
              <a:rPr lang="en-GB" sz="1200" kern="1200" baseline="0" dirty="0">
                <a:solidFill>
                  <a:schemeClr val="tx1"/>
                </a:solidFill>
                <a:latin typeface="Lucida Grande" pitchFamily="80" charset="0"/>
                <a:ea typeface="ＭＳ Ｐゴシック" charset="-128"/>
                <a:cs typeface="+mn-cs"/>
              </a:rPr>
              <a:t> colours on PowerPoint)</a:t>
            </a:r>
            <a:br>
              <a:rPr lang="en-GB" sz="1200" kern="1200" dirty="0">
                <a:solidFill>
                  <a:schemeClr val="tx1"/>
                </a:solidFill>
                <a:latin typeface="Lucida Grande" pitchFamily="80" charset="0"/>
                <a:ea typeface="ＭＳ Ｐゴシック" charset="-128"/>
                <a:cs typeface="+mn-cs"/>
              </a:rPr>
            </a:b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Small copy on first and last slide:</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  </a:t>
            </a:r>
            <a:r>
              <a:rPr lang="en-GB" sz="1200" kern="1200" dirty="0">
                <a:solidFill>
                  <a:schemeClr val="tx1"/>
                </a:solidFill>
                <a:latin typeface="Lucida Grande" pitchFamily="80" charset="0"/>
                <a:ea typeface="ＭＳ Ｐゴシック" charset="-128"/>
                <a:cs typeface="+mn-cs"/>
              </a:rPr>
              <a:t>16 point</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a:t>
            </a:r>
            <a:r>
              <a:rPr lang="en-GB" sz="1200" i="1" kern="1200" baseline="0" dirty="0">
                <a:solidFill>
                  <a:schemeClr val="tx1"/>
                </a:solidFill>
                <a:latin typeface="Lucida Grande" pitchFamily="80" charset="0"/>
                <a:ea typeface="ＭＳ Ｐゴシック" charset="-128"/>
                <a:cs typeface="+mn-cs"/>
              </a:rPr>
              <a:t> </a:t>
            </a:r>
            <a:r>
              <a:rPr lang="en-GB" sz="1200" i="1" kern="1200" dirty="0">
                <a:solidFill>
                  <a:schemeClr val="tx1"/>
                </a:solidFill>
                <a:latin typeface="Lucida Grande" pitchFamily="80" charset="0"/>
                <a:ea typeface="ＭＳ Ｐゴシック" charset="-128"/>
                <a:cs typeface="+mn-cs"/>
              </a:rPr>
              <a:t>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br>
              <a:rPr lang="en-GB" sz="1200" kern="1200" dirty="0">
                <a:solidFill>
                  <a:schemeClr val="tx1"/>
                </a:solidFill>
                <a:latin typeface="Lucida Grande" pitchFamily="80" charset="0"/>
                <a:ea typeface="ＭＳ Ｐゴシック" charset="-128"/>
                <a:cs typeface="+mn-cs"/>
              </a:rPr>
            </a:br>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Sub-heading</a:t>
            </a:r>
            <a:r>
              <a:rPr lang="en-GB" sz="1200" kern="1200" baseline="0" dirty="0">
                <a:solidFill>
                  <a:schemeClr val="tx1"/>
                </a:solidFill>
                <a:latin typeface="Lucida Grande" pitchFamily="80" charset="0"/>
                <a:ea typeface="ＭＳ Ｐゴシック" charset="-128"/>
                <a:cs typeface="+mn-cs"/>
              </a:rPr>
              <a:t>s</a:t>
            </a:r>
            <a:r>
              <a:rPr lang="en-GB" sz="1200" kern="1200" dirty="0">
                <a:solidFill>
                  <a:schemeClr val="tx1"/>
                </a:solidFill>
                <a:latin typeface="Lucida Grande" pitchFamily="80" charset="0"/>
                <a:ea typeface="ＭＳ Ｐゴシック" charset="-128"/>
                <a:cs typeface="+mn-cs"/>
              </a:rPr>
              <a:t>:</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  </a:t>
            </a:r>
            <a:r>
              <a:rPr lang="en-GB" sz="1200" i="0" kern="1200" dirty="0">
                <a:solidFill>
                  <a:schemeClr val="tx1"/>
                </a:solidFill>
                <a:latin typeface="Lucida Grande" pitchFamily="80" charset="0"/>
                <a:ea typeface="ＭＳ Ｐゴシック" charset="-128"/>
                <a:cs typeface="+mn-cs"/>
              </a:rPr>
              <a:t>24 point – italics</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a:t>
            </a:r>
            <a:r>
              <a:rPr lang="en-GB" sz="1200" i="1" kern="1200" baseline="0" dirty="0">
                <a:solidFill>
                  <a:schemeClr val="tx1"/>
                </a:solidFill>
                <a:latin typeface="Lucida Grande" pitchFamily="80" charset="0"/>
                <a:ea typeface="ＭＳ Ｐゴシック" charset="-128"/>
                <a:cs typeface="+mn-cs"/>
              </a:rPr>
              <a:t> </a:t>
            </a:r>
            <a:r>
              <a:rPr lang="en-GB" sz="1200" i="1" kern="1200" dirty="0">
                <a:solidFill>
                  <a:schemeClr val="tx1"/>
                </a:solidFill>
                <a:latin typeface="Lucida Grande" pitchFamily="80" charset="0"/>
                <a:ea typeface="ＭＳ Ｐゴシック" charset="-128"/>
                <a:cs typeface="+mn-cs"/>
              </a:rPr>
              <a:t>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endParaRPr lang="en-GB" sz="1200" kern="1200" dirty="0">
              <a:solidFill>
                <a:schemeClr val="tx1"/>
              </a:solidFill>
              <a:latin typeface="Lucida Grande" pitchFamily="80" charset="0"/>
              <a:ea typeface="ＭＳ Ｐゴシック" charset="-128"/>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Bullets copy and body copy:</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a:t>
            </a:r>
            <a:r>
              <a:rPr lang="en-GB" sz="1200" i="1" kern="1200" baseline="0" dirty="0">
                <a:solidFill>
                  <a:schemeClr val="tx1"/>
                </a:solidFill>
                <a:latin typeface="Lucida Grande" pitchFamily="80" charset="0"/>
                <a:ea typeface="ＭＳ Ｐゴシック" charset="-128"/>
                <a:cs typeface="+mn-cs"/>
              </a:rPr>
              <a:t>  </a:t>
            </a:r>
            <a:r>
              <a:rPr lang="en-GB" sz="1200" kern="1200" dirty="0">
                <a:solidFill>
                  <a:schemeClr val="tx1"/>
                </a:solidFill>
                <a:latin typeface="Lucida Grande" pitchFamily="80" charset="0"/>
                <a:ea typeface="ＭＳ Ｐゴシック" charset="-128"/>
                <a:cs typeface="+mn-cs"/>
              </a:rPr>
              <a:t>24 point</a:t>
            </a:r>
            <a:r>
              <a:rPr lang="en-GB" sz="1200" kern="1200" baseline="0" dirty="0">
                <a:solidFill>
                  <a:schemeClr val="tx1"/>
                </a:solidFill>
                <a:latin typeface="Lucida Grande" pitchFamily="80" charset="0"/>
                <a:ea typeface="ＭＳ Ｐゴシック" charset="-128"/>
                <a:cs typeface="+mn-cs"/>
              </a:rPr>
              <a:t> </a:t>
            </a:r>
            <a:r>
              <a:rPr lang="en-GB" sz="1200" kern="1200" dirty="0">
                <a:solidFill>
                  <a:schemeClr val="tx1"/>
                </a:solidFill>
                <a:latin typeface="Lucida Grande" pitchFamily="80" charset="0"/>
                <a:ea typeface="ＭＳ Ｐゴシック" charset="-128"/>
                <a:cs typeface="+mn-cs"/>
              </a:rPr>
              <a:t>(see below for a further option)</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 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It</a:t>
            </a:r>
            <a:r>
              <a:rPr lang="en-GB" sz="1200" kern="1200" baseline="0" dirty="0">
                <a:solidFill>
                  <a:schemeClr val="tx1"/>
                </a:solidFill>
                <a:latin typeface="Lucida Grande" pitchFamily="80" charset="0"/>
                <a:ea typeface="ＭＳ Ｐゴシック" charset="-128"/>
                <a:cs typeface="+mn-cs"/>
              </a:rPr>
              <a:t> isn’t advisable to have too much text on a slide, however on rare occasions it may be necessary, therefore there is a slide using 20 point bullet pointed text.</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chemeClr val="tx1"/>
              </a:solidFill>
              <a:latin typeface="Lucida Grande" pitchFamily="80" charset="0"/>
              <a:ea typeface="ＭＳ Ｐゴシック" charset="-128"/>
              <a:cs typeface="+mn-cs"/>
            </a:endParaRPr>
          </a:p>
          <a:p>
            <a:pPr eaLnBrk="1" hangingPunct="1"/>
            <a:r>
              <a:rPr lang="en-US" sz="1200" b="1" kern="1200" dirty="0">
                <a:solidFill>
                  <a:schemeClr val="tx1"/>
                </a:solidFill>
                <a:latin typeface="Lucida Grande" pitchFamily="80" charset="0"/>
                <a:ea typeface="ＭＳ Ｐゴシック" charset="-128"/>
                <a:cs typeface="+mn-cs"/>
              </a:rPr>
              <a:t>Line</a:t>
            </a:r>
            <a:r>
              <a:rPr lang="en-US" sz="1200" b="1" kern="1200" baseline="0" dirty="0">
                <a:solidFill>
                  <a:schemeClr val="tx1"/>
                </a:solidFill>
                <a:latin typeface="Lucida Grande" pitchFamily="80" charset="0"/>
                <a:ea typeface="ＭＳ Ｐゴシック" charset="-128"/>
                <a:cs typeface="+mn-cs"/>
              </a:rPr>
              <a:t> spacing and alignment</a:t>
            </a:r>
          </a:p>
          <a:p>
            <a:pPr eaLnBrk="1" hangingPunct="1"/>
            <a:r>
              <a:rPr lang="en-US" sz="1200" kern="1200" baseline="0" dirty="0">
                <a:solidFill>
                  <a:schemeClr val="tx1"/>
                </a:solidFill>
                <a:latin typeface="Lucida Grande" pitchFamily="80" charset="0"/>
                <a:ea typeface="ＭＳ Ｐゴシック" charset="-128"/>
                <a:cs typeface="+mn-cs"/>
              </a:rPr>
              <a:t>Single line spacing (apart from the main headings which is ‘exactly 35 point’)</a:t>
            </a:r>
          </a:p>
          <a:p>
            <a:pPr eaLnBrk="1" hangingPunct="1"/>
            <a:r>
              <a:rPr lang="en-US" sz="1200" kern="1200" baseline="0" dirty="0">
                <a:solidFill>
                  <a:schemeClr val="tx1"/>
                </a:solidFill>
                <a:latin typeface="Lucida Grande" pitchFamily="80" charset="0"/>
                <a:ea typeface="ＭＳ Ｐゴシック" charset="-128"/>
                <a:cs typeface="+mn-cs"/>
              </a:rPr>
              <a:t>All text is aligned left</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baseline="0" dirty="0">
                <a:solidFill>
                  <a:srgbClr val="731F43"/>
                </a:solidFill>
                <a:latin typeface="Lucida Grande" pitchFamily="80" charset="0"/>
                <a:ea typeface="ＭＳ Ｐゴシック" charset="-128"/>
                <a:cs typeface="+mn-cs"/>
              </a:rPr>
              <a:t>Slide title options</a:t>
            </a:r>
          </a:p>
          <a:p>
            <a:pPr eaLnBrk="1" hangingPunct="1"/>
            <a:r>
              <a:rPr lang="en-US" sz="1200" kern="1200" baseline="0" dirty="0">
                <a:solidFill>
                  <a:srgbClr val="731F43"/>
                </a:solidFill>
                <a:latin typeface="Lucida Grande" pitchFamily="80" charset="0"/>
                <a:ea typeface="ＭＳ Ｐゴシック" charset="-128"/>
                <a:cs typeface="+mn-cs"/>
              </a:rPr>
              <a:t>There are two options for titles on the slides – one line or two lines for longer titles. Ideally, the one line title should be used, however on rare occasions a two line title maybe needed.</a:t>
            </a:r>
            <a:endParaRPr lang="en-US" sz="1200" kern="1200" dirty="0">
              <a:solidFill>
                <a:srgbClr val="731F43"/>
              </a:solidFill>
              <a:latin typeface="Lucida Grande" pitchFamily="80" charset="0"/>
              <a:ea typeface="ＭＳ Ｐゴシック" charset="-128"/>
              <a:cs typeface="+mn-cs"/>
            </a:endParaRPr>
          </a:p>
        </p:txBody>
      </p:sp>
      <p:sp>
        <p:nvSpPr>
          <p:cNvPr id="4" name="Slide Number Placeholder 3"/>
          <p:cNvSpPr>
            <a:spLocks noGrp="1"/>
          </p:cNvSpPr>
          <p:nvPr>
            <p:ph type="sldNum" sz="quarter" idx="10"/>
          </p:nvPr>
        </p:nvSpPr>
        <p:spPr/>
        <p:txBody>
          <a:bodyPr/>
          <a:lstStyle/>
          <a:p>
            <a:fld id="{0EC8AF62-0413-459D-A055-9BD345497D1F}" type="slidenum">
              <a:rPr lang="en-GB" smtClean="0"/>
              <a:pPr/>
              <a:t>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1: presentation title">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556792"/>
            <a:ext cx="8208912" cy="1010543"/>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467544" y="2852936"/>
            <a:ext cx="8208912" cy="720080"/>
          </a:xfrm>
          <a:prstGeom prst="rect">
            <a:avLst/>
          </a:prstGeom>
        </p:spPr>
        <p:txBody>
          <a:bodyPr/>
          <a:lstStyle>
            <a:lvl1pPr marL="0" indent="0" algn="l">
              <a:spcBef>
                <a:spcPts val="0"/>
              </a:spcBef>
              <a:buNone/>
              <a:defRPr sz="16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lide 9: discussion">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556792"/>
            <a:ext cx="8208912" cy="1010543"/>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467544" y="2852936"/>
            <a:ext cx="8208912" cy="720080"/>
          </a:xfrm>
          <a:prstGeom prst="rect">
            <a:avLst/>
          </a:prstGeom>
        </p:spPr>
        <p:txBody>
          <a:bodyPr/>
          <a:lstStyle>
            <a:lvl1pPr marL="0" indent="0" algn="l">
              <a:spcBef>
                <a:spcPts val="0"/>
              </a:spcBef>
              <a:buNone/>
              <a:defRPr sz="16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2: text only">
    <p:spTree>
      <p:nvGrpSpPr>
        <p:cNvPr id="1" name=""/>
        <p:cNvGrpSpPr/>
        <p:nvPr/>
      </p:nvGrpSpPr>
      <p:grpSpPr>
        <a:xfrm>
          <a:off x="0" y="0"/>
          <a:ext cx="0" cy="0"/>
          <a:chOff x="0" y="0"/>
          <a:chExt cx="0" cy="0"/>
        </a:xfrm>
      </p:grpSpPr>
      <p:sp>
        <p:nvSpPr>
          <p:cNvPr id="2"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4"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3: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4: smaller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5: text with bullet points &amp; 1 image">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9" y="1844675"/>
            <a:ext cx="5400847"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p:txBody>
      </p:sp>
      <p:sp>
        <p:nvSpPr>
          <p:cNvPr id="2" name="TextBox 1"/>
          <p:cNvSpPr txBox="1"/>
          <p:nvPr userDrawn="1"/>
        </p:nvSpPr>
        <p:spPr>
          <a:xfrm>
            <a:off x="3234022" y="3660229"/>
            <a:ext cx="184666" cy="369332"/>
          </a:xfrm>
          <a:prstGeom prst="rect">
            <a:avLst/>
          </a:prstGeom>
          <a:noFill/>
        </p:spPr>
        <p:txBody>
          <a:bodyPr wrap="none" rtlCol="0">
            <a:spAutoFit/>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6: text with bullet points &amp; 2 image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8" name="Text Placeholder 7"/>
          <p:cNvSpPr>
            <a:spLocks noGrp="1"/>
          </p:cNvSpPr>
          <p:nvPr>
            <p:ph type="body" sz="quarter" idx="14"/>
          </p:nvPr>
        </p:nvSpPr>
        <p:spPr>
          <a:xfrm>
            <a:off x="395289" y="1844675"/>
            <a:ext cx="5400847"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7: image only">
    <p:spTree>
      <p:nvGrpSpPr>
        <p:cNvPr id="1" name=""/>
        <p:cNvGrpSpPr/>
        <p:nvPr/>
      </p:nvGrpSpPr>
      <p:grpSpPr>
        <a:xfrm>
          <a:off x="0" y="0"/>
          <a:ext cx="0" cy="0"/>
          <a:chOff x="0" y="0"/>
          <a:chExt cx="0" cy="0"/>
        </a:xfrm>
      </p:grpSpPr>
      <p:sp>
        <p:nvSpPr>
          <p:cNvPr id="3"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8: blank slide">
    <p:spTree>
      <p:nvGrpSpPr>
        <p:cNvPr id="1" name=""/>
        <p:cNvGrpSpPr/>
        <p:nvPr/>
      </p:nvGrpSpPr>
      <p:grpSpPr>
        <a:xfrm>
          <a:off x="0" y="0"/>
          <a:ext cx="0" cy="0"/>
          <a:chOff x="0" y="0"/>
          <a:chExt cx="0" cy="0"/>
        </a:xfrm>
      </p:grpSpPr>
      <p:sp>
        <p:nvSpPr>
          <p:cNvPr id="3"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5"/>
          <p:cNvPicPr>
            <a:picLocks noChangeAspect="1" noChangeArrowheads="1"/>
          </p:cNvPicPr>
          <p:nvPr userDrawn="1"/>
        </p:nvPicPr>
        <p:blipFill>
          <a:blip r:embed="rId4">
            <a:extLst>
              <a:ext uri="{28A0092B-C50C-407E-A947-70E740481C1C}">
                <a14:useLocalDpi xmlns:a14="http://schemas.microsoft.com/office/drawing/2010/main" val="0"/>
              </a:ext>
            </a:extLst>
          </a:blip>
          <a:stretch>
            <a:fillRect/>
          </a:stretch>
        </p:blipFill>
        <p:spPr bwMode="auto">
          <a:xfrm>
            <a:off x="1" y="1101"/>
            <a:ext cx="9143998" cy="686214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68"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8"/>
          <p:cNvPicPr>
            <a:picLocks noChangeAspect="1" noChangeArrowheads="1"/>
          </p:cNvPicPr>
          <p:nvPr userDrawn="1"/>
        </p:nvPicPr>
        <p:blipFill>
          <a:blip r:embed="rId9" cstate="print">
            <a:extLst>
              <a:ext uri="{28A0092B-C50C-407E-A947-70E740481C1C}">
                <a14:useLocalDpi xmlns:a14="http://schemas.microsoft.com/office/drawing/2010/main" val="0"/>
              </a:ext>
            </a:extLst>
          </a:blip>
          <a:stretch>
            <a:fillRect/>
          </a:stretch>
        </p:blipFill>
        <p:spPr bwMode="auto">
          <a:xfrm>
            <a:off x="5522" y="3879"/>
            <a:ext cx="9132955" cy="686214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z="4400" dirty="0"/>
              <a:t>Introduction to Carriage of Goods by Sea: Bills of Lading</a:t>
            </a:r>
          </a:p>
        </p:txBody>
      </p:sp>
      <p:sp>
        <p:nvSpPr>
          <p:cNvPr id="3" name="Subtitle 2"/>
          <p:cNvSpPr>
            <a:spLocks noGrp="1"/>
          </p:cNvSpPr>
          <p:nvPr>
            <p:ph type="subTitle" idx="1"/>
          </p:nvPr>
        </p:nvSpPr>
        <p:spPr/>
        <p:txBody>
          <a:bodyPr/>
          <a:lstStyle/>
          <a:p>
            <a:pPr>
              <a:spcBef>
                <a:spcPts val="0"/>
              </a:spcBef>
            </a:pPr>
            <a:endParaRPr lang="en-GB" dirty="0"/>
          </a:p>
          <a:p>
            <a:pPr>
              <a:spcBef>
                <a:spcPts val="0"/>
              </a:spcBef>
            </a:pPr>
            <a:r>
              <a:rPr lang="en-GB" dirty="0"/>
              <a:t>Dr Mukarrum Ahmed, PhD (Aberdeen), Barrister (Lincoln’s Inn) and Lecturer in Business Law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sz="2800" dirty="0"/>
              <a:t>Asymmetrical bargaining power of the carrier and the shipper in carriage of goods by sea contracts in the 19</a:t>
            </a:r>
            <a:r>
              <a:rPr lang="en-GB" sz="2800" baseline="30000" dirty="0"/>
              <a:t>th</a:t>
            </a:r>
            <a:r>
              <a:rPr lang="en-GB" sz="2800" dirty="0"/>
              <a:t> century</a:t>
            </a:r>
          </a:p>
          <a:p>
            <a:r>
              <a:rPr lang="en-GB" sz="2800" dirty="0"/>
              <a:t>Roadmap of international conventions and legislation</a:t>
            </a:r>
          </a:p>
          <a:p>
            <a:r>
              <a:rPr lang="en-GB" sz="2800" dirty="0"/>
              <a:t>Key terminology and concepts in the law of carriage of goods by sea</a:t>
            </a:r>
          </a:p>
          <a:p>
            <a:endParaRPr lang="en-GB" sz="2800" dirty="0"/>
          </a:p>
          <a:p>
            <a:endParaRPr lang="en-GB" sz="2800" dirty="0"/>
          </a:p>
          <a:p>
            <a:endParaRPr lang="en-GB" sz="2800" dirty="0"/>
          </a:p>
          <a:p>
            <a:endParaRPr lang="en-GB" sz="2800" dirty="0"/>
          </a:p>
        </p:txBody>
      </p:sp>
    </p:spTree>
    <p:extLst>
      <p:ext uri="{BB962C8B-B14F-4D97-AF65-F5344CB8AC3E}">
        <p14:creationId xmlns:p14="http://schemas.microsoft.com/office/powerpoint/2010/main" val="1879680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Introduction</a:t>
            </a:r>
          </a:p>
        </p:txBody>
      </p:sp>
      <p:sp>
        <p:nvSpPr>
          <p:cNvPr id="3" name="Subtitle 2"/>
          <p:cNvSpPr>
            <a:spLocks noGrp="1"/>
          </p:cNvSpPr>
          <p:nvPr>
            <p:ph type="body" sz="quarter" idx="14"/>
          </p:nvPr>
        </p:nvSpPr>
        <p:spPr>
          <a:prstGeom prst="rect">
            <a:avLst/>
          </a:prstGeom>
        </p:spPr>
        <p:txBody>
          <a:bodyPr/>
          <a:lstStyle/>
          <a:p>
            <a:r>
              <a:rPr lang="en-GB" sz="2800" dirty="0"/>
              <a:t>In the 19</a:t>
            </a:r>
            <a:r>
              <a:rPr lang="en-GB" sz="2800" baseline="30000" dirty="0"/>
              <a:t>th</a:t>
            </a:r>
            <a:r>
              <a:rPr lang="en-GB" sz="2800" dirty="0"/>
              <a:t> century contracts for the carriage of goods by sea presented an asymmetrical nature due to the imbalance in the bargaining power of the ship owner (‘carrier’) and the cargo owner (‘shipper’).</a:t>
            </a:r>
          </a:p>
          <a:p>
            <a:r>
              <a:rPr lang="en-GB" sz="2800" dirty="0"/>
              <a:t>The carrier could unilaterally allocate risk to minimise his liability – </a:t>
            </a:r>
            <a:r>
              <a:rPr lang="en-GB" sz="2800" i="1" dirty="0"/>
              <a:t>laissez faire</a:t>
            </a:r>
            <a:r>
              <a:rPr lang="en-GB" sz="2800" dirty="0"/>
              <a:t> approach to commerce and contract law.</a:t>
            </a:r>
            <a:endParaRPr lang="en-GB" sz="2800" i="1" dirty="0"/>
          </a:p>
          <a:p>
            <a:r>
              <a:rPr lang="en-GB" sz="2800" dirty="0"/>
              <a:t>Therefore, there was a need to limit the power of the carrier and redress the balance of power in favour of the shipper.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Timeline of International Conventions and Legislation</a:t>
            </a:r>
          </a:p>
        </p:txBody>
      </p:sp>
      <p:sp>
        <p:nvSpPr>
          <p:cNvPr id="3" name="Subtitle 2"/>
          <p:cNvSpPr>
            <a:spLocks noGrp="1"/>
          </p:cNvSpPr>
          <p:nvPr>
            <p:ph type="body" sz="quarter" idx="14"/>
          </p:nvPr>
        </p:nvSpPr>
        <p:spPr>
          <a:prstGeom prst="rect">
            <a:avLst/>
          </a:prstGeom>
        </p:spPr>
        <p:txBody>
          <a:bodyPr/>
          <a:lstStyle/>
          <a:p>
            <a:r>
              <a:rPr lang="en-GB" sz="2000" dirty="0"/>
              <a:t>Harter Act 1893 (US). </a:t>
            </a:r>
          </a:p>
          <a:p>
            <a:r>
              <a:rPr lang="en-GB" sz="2000" dirty="0"/>
              <a:t>International Convention for the Unification of Certain Rules of Law Relating to Bills of Lading, 1924 (</a:t>
            </a:r>
            <a:r>
              <a:rPr lang="en-GB" sz="2000" b="1" i="1" dirty="0"/>
              <a:t>Hague Rules</a:t>
            </a:r>
            <a:r>
              <a:rPr lang="en-GB" sz="2000" dirty="0"/>
              <a:t>) - First attempt at harmonised rules – Implemented into UK law by the Carriage of Goods by Sea Act 1924.</a:t>
            </a:r>
          </a:p>
          <a:p>
            <a:r>
              <a:rPr lang="en-GB" sz="2000" dirty="0"/>
              <a:t>Protocol to amend Hague Rules 1968 (</a:t>
            </a:r>
            <a:r>
              <a:rPr lang="en-GB" sz="2000" b="1" i="1" dirty="0"/>
              <a:t>Hague-Visby Rules</a:t>
            </a:r>
            <a:r>
              <a:rPr lang="en-GB" sz="2000" dirty="0"/>
              <a:t>) - Amended the original Hague Rules – Implemented into UK law by the Carriage of Goods by Sea Act 1971.</a:t>
            </a:r>
          </a:p>
          <a:p>
            <a:r>
              <a:rPr lang="en-GB" sz="2000" dirty="0"/>
              <a:t>United Nations Convention on the Carriage of Goods by Sea 1978 (</a:t>
            </a:r>
            <a:r>
              <a:rPr lang="en-GB" sz="2000" b="1" i="1" dirty="0"/>
              <a:t>Hamburg Rules</a:t>
            </a:r>
            <a:r>
              <a:rPr lang="en-GB" sz="2000" dirty="0"/>
              <a:t>) - These rules have not been a great success. </a:t>
            </a:r>
          </a:p>
          <a:p>
            <a:r>
              <a:rPr lang="en-GB" sz="2000" dirty="0"/>
              <a:t>Carriage of Goods by Sea Act 1992. - 2009 United Nations Convention on Contracts for the International Carriage of Goods Wholly or Partly by Sea (</a:t>
            </a:r>
            <a:r>
              <a:rPr lang="en-GB" sz="2000" b="1" i="1" dirty="0"/>
              <a:t>Rotterdam Rules</a:t>
            </a:r>
            <a:r>
              <a:rPr lang="en-GB" sz="2000" dirty="0"/>
              <a:t>) - Latest attempt at harmonised rules.</a:t>
            </a:r>
          </a:p>
        </p:txBody>
      </p:sp>
    </p:spTree>
    <p:extLst>
      <p:ext uri="{BB962C8B-B14F-4D97-AF65-F5344CB8AC3E}">
        <p14:creationId xmlns:p14="http://schemas.microsoft.com/office/powerpoint/2010/main" val="3033293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Contracts for the Carriage of Goods by Sea: Terminology and Concepts</a:t>
            </a:r>
          </a:p>
        </p:txBody>
      </p:sp>
      <p:sp>
        <p:nvSpPr>
          <p:cNvPr id="3" name="Subtitle 2"/>
          <p:cNvSpPr>
            <a:spLocks noGrp="1"/>
          </p:cNvSpPr>
          <p:nvPr>
            <p:ph type="body" sz="quarter" idx="14"/>
          </p:nvPr>
        </p:nvSpPr>
        <p:spPr>
          <a:prstGeom prst="rect">
            <a:avLst/>
          </a:prstGeom>
        </p:spPr>
        <p:txBody>
          <a:bodyPr/>
          <a:lstStyle/>
          <a:p>
            <a:r>
              <a:rPr lang="en-GB" sz="1800" dirty="0">
                <a:solidFill>
                  <a:srgbClr val="7F7F7F"/>
                </a:solidFill>
              </a:rPr>
              <a:t>Charterparty – contract of carriage of goods by sea between the ‘Ship owner’ and ‘Charterer’.</a:t>
            </a:r>
          </a:p>
          <a:p>
            <a:r>
              <a:rPr lang="en-GB" sz="1800" dirty="0">
                <a:solidFill>
                  <a:srgbClr val="7F7F7F"/>
                </a:solidFill>
              </a:rPr>
              <a:t>Voyage Charterparty</a:t>
            </a:r>
          </a:p>
          <a:p>
            <a:r>
              <a:rPr lang="en-GB" sz="1800" dirty="0">
                <a:solidFill>
                  <a:srgbClr val="7F7F7F"/>
                </a:solidFill>
              </a:rPr>
              <a:t>Time Charterparty</a:t>
            </a:r>
          </a:p>
          <a:p>
            <a:r>
              <a:rPr lang="en-GB" sz="1800" dirty="0">
                <a:solidFill>
                  <a:srgbClr val="7F7F7F"/>
                </a:solidFill>
              </a:rPr>
              <a:t>Bareboat (demise) Charterparty – Crew is supplied by the charterer – Do not constitute contracts for the carriage of goods by sea at all.</a:t>
            </a:r>
          </a:p>
          <a:p>
            <a:r>
              <a:rPr lang="en-GB" sz="1800" dirty="0">
                <a:solidFill>
                  <a:srgbClr val="7F7F7F"/>
                </a:solidFill>
              </a:rPr>
              <a:t>Contracts of carriage cannot be viewed in isolation from contracts for the sale of goods and the provision of finance against documents.</a:t>
            </a:r>
          </a:p>
          <a:p>
            <a:r>
              <a:rPr lang="en-GB" sz="1800" dirty="0">
                <a:solidFill>
                  <a:srgbClr val="7F7F7F"/>
                </a:solidFill>
              </a:rPr>
              <a:t>Our primary focus is on contracts for the carriage of goods by sea evidenced by a bill of lading.</a:t>
            </a:r>
          </a:p>
          <a:p>
            <a:r>
              <a:rPr lang="en-GB" sz="1800" u="sng" dirty="0">
                <a:solidFill>
                  <a:srgbClr val="7F7F7F"/>
                </a:solidFill>
              </a:rPr>
              <a:t>Bill of lading</a:t>
            </a:r>
            <a:r>
              <a:rPr lang="en-GB" sz="1800" dirty="0">
                <a:solidFill>
                  <a:srgbClr val="7F7F7F"/>
                </a:solidFill>
              </a:rPr>
              <a:t>: The shipper enters into a contract of carriage of goods by sea with the carrier. When the shipper delivers the goods to the carrier, the carrier issues a bill of lading. At this point the bill of lading serves as a receipt of goods, that the carrier has the possession of the goods and as evidence of the contract of carriage.</a:t>
            </a:r>
          </a:p>
          <a:p>
            <a:endParaRPr lang="en-GB" sz="2000" dirty="0">
              <a:solidFill>
                <a:srgbClr val="7F7F7F"/>
              </a:solidFill>
            </a:endParaRPr>
          </a:p>
          <a:p>
            <a:endParaRPr lang="en-GB" sz="1800" dirty="0">
              <a:solidFill>
                <a:srgbClr val="7F7F7F"/>
              </a:solidFill>
            </a:endParaRPr>
          </a:p>
          <a:p>
            <a:endParaRPr lang="en-GB" sz="1800" dirty="0">
              <a:solidFill>
                <a:srgbClr val="7F7F7F"/>
              </a:solidFill>
            </a:endParaRPr>
          </a:p>
          <a:p>
            <a:endParaRPr lang="en-GB" dirty="0">
              <a:solidFill>
                <a:srgbClr val="7F7F7F"/>
              </a:solidFill>
            </a:endParaRPr>
          </a:p>
        </p:txBody>
      </p:sp>
    </p:spTree>
    <p:extLst>
      <p:ext uri="{BB962C8B-B14F-4D97-AF65-F5344CB8AC3E}">
        <p14:creationId xmlns:p14="http://schemas.microsoft.com/office/powerpoint/2010/main" val="1753425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sz="2800" dirty="0"/>
              <a:t>Real example of a bill of lading</a:t>
            </a:r>
          </a:p>
          <a:p>
            <a:r>
              <a:rPr lang="en-GB" sz="2800" dirty="0"/>
              <a:t>The bill of lading and the </a:t>
            </a:r>
            <a:r>
              <a:rPr lang="en-GB" sz="2800" dirty="0" err="1"/>
              <a:t>charterparty</a:t>
            </a:r>
            <a:endParaRPr lang="en-GB" sz="2800" dirty="0"/>
          </a:p>
          <a:p>
            <a:r>
              <a:rPr lang="en-GB" sz="2800" dirty="0"/>
              <a:t>The bill of lading and the sea waybill</a:t>
            </a:r>
          </a:p>
          <a:p>
            <a:r>
              <a:rPr lang="en-GB" sz="2800" dirty="0"/>
              <a:t>The three functions of a bill of lading</a:t>
            </a:r>
          </a:p>
          <a:p>
            <a:endParaRPr lang="en-GB" sz="2800" dirty="0"/>
          </a:p>
          <a:p>
            <a:endParaRPr lang="en-GB" sz="2800" dirty="0"/>
          </a:p>
          <a:p>
            <a:endParaRPr lang="en-GB" sz="2800" dirty="0"/>
          </a:p>
          <a:p>
            <a:endParaRPr lang="en-GB" sz="2800" dirty="0"/>
          </a:p>
        </p:txBody>
      </p:sp>
    </p:spTree>
    <p:extLst>
      <p:ext uri="{BB962C8B-B14F-4D97-AF65-F5344CB8AC3E}">
        <p14:creationId xmlns:p14="http://schemas.microsoft.com/office/powerpoint/2010/main" val="4127450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Example of a Bill of Lading</a:t>
            </a:r>
          </a:p>
        </p:txBody>
      </p:sp>
      <p:sp>
        <p:nvSpPr>
          <p:cNvPr id="3" name="Subtitle 2"/>
          <p:cNvSpPr>
            <a:spLocks noGrp="1"/>
          </p:cNvSpPr>
          <p:nvPr>
            <p:ph type="body" sz="quarter" idx="14"/>
          </p:nvPr>
        </p:nvSpPr>
        <p:spPr>
          <a:xfrm>
            <a:off x="203201" y="1845296"/>
            <a:ext cx="8425184" cy="4752975"/>
          </a:xfrm>
          <a:prstGeom prst="rect">
            <a:avLst/>
          </a:prstGeom>
        </p:spPr>
        <p:txBody>
          <a:bodyPr/>
          <a:lstStyle/>
          <a:p>
            <a:endParaRPr lang="en-GB" sz="2000" dirty="0">
              <a:solidFill>
                <a:srgbClr val="7F7F7F"/>
              </a:solidFill>
            </a:endParaRPr>
          </a:p>
          <a:p>
            <a:endParaRPr lang="en-GB" sz="1800" dirty="0">
              <a:solidFill>
                <a:srgbClr val="7F7F7F"/>
              </a:solidFill>
            </a:endParaRPr>
          </a:p>
          <a:p>
            <a:endParaRPr lang="en-GB" sz="1800" dirty="0">
              <a:solidFill>
                <a:srgbClr val="7F7F7F"/>
              </a:solidFill>
            </a:endParaRPr>
          </a:p>
          <a:p>
            <a:endParaRPr lang="en-GB" dirty="0">
              <a:solidFill>
                <a:srgbClr val="7F7F7F"/>
              </a:solidFill>
            </a:endParaRPr>
          </a:p>
        </p:txBody>
      </p:sp>
      <p:pic>
        <p:nvPicPr>
          <p:cNvPr id="1026" name="Picture 2" descr="Image result for bill of la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664" y="1700808"/>
            <a:ext cx="3511343" cy="496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7832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Bill of Lading and Charterparty</a:t>
            </a:r>
          </a:p>
        </p:txBody>
      </p:sp>
      <p:sp>
        <p:nvSpPr>
          <p:cNvPr id="3" name="Subtitle 2"/>
          <p:cNvSpPr>
            <a:spLocks noGrp="1"/>
          </p:cNvSpPr>
          <p:nvPr>
            <p:ph type="body" sz="quarter" idx="14"/>
          </p:nvPr>
        </p:nvSpPr>
        <p:spPr>
          <a:prstGeom prst="rect">
            <a:avLst/>
          </a:prstGeom>
        </p:spPr>
        <p:txBody>
          <a:bodyPr/>
          <a:lstStyle/>
          <a:p>
            <a:r>
              <a:rPr lang="en-GB" b="1" u="sng" dirty="0"/>
              <a:t>Bill of lading v Charterparty</a:t>
            </a:r>
          </a:p>
          <a:p>
            <a:r>
              <a:rPr lang="en-GB" dirty="0"/>
              <a:t>A charterparty is a contract of carriage </a:t>
            </a:r>
          </a:p>
          <a:p>
            <a:r>
              <a:rPr lang="en-GB" i="1" u="sng" dirty="0"/>
              <a:t>but</a:t>
            </a:r>
            <a:r>
              <a:rPr lang="en-GB" dirty="0"/>
              <a:t> </a:t>
            </a:r>
          </a:p>
          <a:p>
            <a:r>
              <a:rPr lang="en-GB" dirty="0"/>
              <a:t>a bill of lading is: </a:t>
            </a:r>
          </a:p>
          <a:p>
            <a:r>
              <a:rPr lang="en-GB" dirty="0"/>
              <a:t>a document of title, </a:t>
            </a:r>
          </a:p>
          <a:p>
            <a:r>
              <a:rPr lang="en-GB" dirty="0"/>
              <a:t>a receipt of the goods and their condition </a:t>
            </a:r>
          </a:p>
          <a:p>
            <a:r>
              <a:rPr lang="en-GB" dirty="0"/>
              <a:t>and is evidence of a contract of carriage.  </a:t>
            </a:r>
          </a:p>
        </p:txBody>
      </p:sp>
    </p:spTree>
    <p:extLst>
      <p:ext uri="{BB962C8B-B14F-4D97-AF65-F5344CB8AC3E}">
        <p14:creationId xmlns:p14="http://schemas.microsoft.com/office/powerpoint/2010/main" val="3727820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Bill of Lading and Sea Waybill</a:t>
            </a:r>
          </a:p>
        </p:txBody>
      </p:sp>
      <p:sp>
        <p:nvSpPr>
          <p:cNvPr id="3" name="Subtitle 2"/>
          <p:cNvSpPr>
            <a:spLocks noGrp="1"/>
          </p:cNvSpPr>
          <p:nvPr>
            <p:ph type="body" sz="quarter" idx="14"/>
          </p:nvPr>
        </p:nvSpPr>
        <p:spPr>
          <a:prstGeom prst="rect">
            <a:avLst/>
          </a:prstGeom>
        </p:spPr>
        <p:txBody>
          <a:bodyPr/>
          <a:lstStyle/>
          <a:p>
            <a:r>
              <a:rPr lang="en-GB" b="1" u="sng" dirty="0">
                <a:solidFill>
                  <a:srgbClr val="7F7F7F"/>
                </a:solidFill>
              </a:rPr>
              <a:t>Bill of lading v Sea Waybill</a:t>
            </a:r>
          </a:p>
          <a:p>
            <a:r>
              <a:rPr lang="en-GB" dirty="0">
                <a:solidFill>
                  <a:srgbClr val="7F7F7F"/>
                </a:solidFill>
              </a:rPr>
              <a:t>The sea waybill is not a document of title and it is not a negotiable instrument entitling the holder to possession.</a:t>
            </a:r>
          </a:p>
          <a:p>
            <a:r>
              <a:rPr lang="en-GB" dirty="0">
                <a:solidFill>
                  <a:srgbClr val="7F7F7F"/>
                </a:solidFill>
              </a:rPr>
              <a:t>It acts as a receipt and evidence of a contract of carriage.</a:t>
            </a:r>
          </a:p>
          <a:p>
            <a:r>
              <a:rPr lang="en-GB" dirty="0">
                <a:solidFill>
                  <a:srgbClr val="7F7F7F"/>
                </a:solidFill>
              </a:rPr>
              <a:t>Presentation of sea waybill to the master to obtain possession of the goods is not necessary.</a:t>
            </a:r>
          </a:p>
          <a:p>
            <a:r>
              <a:rPr lang="en-GB" dirty="0">
                <a:solidFill>
                  <a:srgbClr val="7F7F7F"/>
                </a:solidFill>
              </a:rPr>
              <a:t>The sea waybill can be reproduced.</a:t>
            </a:r>
          </a:p>
          <a:p>
            <a:r>
              <a:rPr lang="en-GB" dirty="0">
                <a:solidFill>
                  <a:srgbClr val="7F7F7F"/>
                </a:solidFill>
              </a:rPr>
              <a:t>The sea waybill is still subject to the Hague-Visby Rules.</a:t>
            </a:r>
          </a:p>
          <a:p>
            <a:r>
              <a:rPr lang="en-GB" dirty="0">
                <a:solidFill>
                  <a:srgbClr val="7F7F7F"/>
                </a:solidFill>
              </a:rPr>
              <a:t>Bill of lading ‘to order’ is negotiable and is required to obtain possession of the goods.</a:t>
            </a:r>
          </a:p>
          <a:p>
            <a:r>
              <a:rPr lang="en-GB" dirty="0">
                <a:solidFill>
                  <a:srgbClr val="7F7F7F"/>
                </a:solidFill>
              </a:rPr>
              <a:t>A straight bill of lading is not negotiable – but required to obtain possession.</a:t>
            </a:r>
            <a:endParaRPr lang="en-GB" dirty="0"/>
          </a:p>
        </p:txBody>
      </p:sp>
    </p:spTree>
    <p:extLst>
      <p:ext uri="{BB962C8B-B14F-4D97-AF65-F5344CB8AC3E}">
        <p14:creationId xmlns:p14="http://schemas.microsoft.com/office/powerpoint/2010/main" val="67015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The Three Functions of a Bill of Lading</a:t>
            </a:r>
          </a:p>
        </p:txBody>
      </p:sp>
      <p:sp>
        <p:nvSpPr>
          <p:cNvPr id="3" name="Subtitle 2"/>
          <p:cNvSpPr>
            <a:spLocks noGrp="1"/>
          </p:cNvSpPr>
          <p:nvPr>
            <p:ph type="body" sz="quarter" idx="14"/>
          </p:nvPr>
        </p:nvSpPr>
        <p:spPr>
          <a:prstGeom prst="rect">
            <a:avLst/>
          </a:prstGeom>
        </p:spPr>
        <p:txBody>
          <a:bodyPr/>
          <a:lstStyle/>
          <a:p>
            <a:r>
              <a:rPr lang="en-GB" b="1" u="sng" dirty="0">
                <a:solidFill>
                  <a:srgbClr val="7F7F7F"/>
                </a:solidFill>
              </a:rPr>
              <a:t>A bill of lading serves three significant functions:</a:t>
            </a:r>
          </a:p>
          <a:p>
            <a:r>
              <a:rPr lang="en-GB" dirty="0"/>
              <a:t>It acts as a receipt for the goods shipped. </a:t>
            </a:r>
          </a:p>
          <a:p>
            <a:r>
              <a:rPr lang="en-GB" dirty="0"/>
              <a:t>It acts as evidence of the contract of carriage between shipper and carrier (it only acts as evidence but it is not the contract itself)</a:t>
            </a:r>
          </a:p>
          <a:p>
            <a:r>
              <a:rPr lang="en-GB" dirty="0"/>
              <a:t>It acts as a document entitling the holder to possession of the goods (a form of constructive possession, meaning the shipper can transfer the bill of lading to the purchaser of goods)</a:t>
            </a:r>
          </a:p>
          <a:p>
            <a:endParaRPr lang="en-GB" dirty="0"/>
          </a:p>
        </p:txBody>
      </p:sp>
    </p:spTree>
    <p:extLst>
      <p:ext uri="{BB962C8B-B14F-4D97-AF65-F5344CB8AC3E}">
        <p14:creationId xmlns:p14="http://schemas.microsoft.com/office/powerpoint/2010/main" val="3841352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sz="2800" dirty="0"/>
              <a:t>The bill of lading as a receipt</a:t>
            </a:r>
          </a:p>
          <a:p>
            <a:endParaRPr lang="en-GB" sz="2800" dirty="0"/>
          </a:p>
          <a:p>
            <a:endParaRPr lang="en-GB" sz="2800" dirty="0"/>
          </a:p>
          <a:p>
            <a:endParaRPr lang="en-GB" sz="2800" dirty="0"/>
          </a:p>
          <a:p>
            <a:endParaRPr lang="en-GB" sz="2800" dirty="0"/>
          </a:p>
        </p:txBody>
      </p:sp>
    </p:spTree>
    <p:extLst>
      <p:ext uri="{BB962C8B-B14F-4D97-AF65-F5344CB8AC3E}">
        <p14:creationId xmlns:p14="http://schemas.microsoft.com/office/powerpoint/2010/main" val="4127450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Bill of lading as a Receipt – Issued by who?</a:t>
            </a:r>
          </a:p>
        </p:txBody>
      </p:sp>
      <p:sp>
        <p:nvSpPr>
          <p:cNvPr id="3" name="Subtitle 2"/>
          <p:cNvSpPr>
            <a:spLocks noGrp="1"/>
          </p:cNvSpPr>
          <p:nvPr>
            <p:ph type="body" sz="quarter" idx="14"/>
          </p:nvPr>
        </p:nvSpPr>
        <p:spPr>
          <a:prstGeom prst="rect">
            <a:avLst/>
          </a:prstGeom>
        </p:spPr>
        <p:txBody>
          <a:bodyPr/>
          <a:lstStyle/>
          <a:p>
            <a:r>
              <a:rPr lang="en-GB" dirty="0">
                <a:solidFill>
                  <a:srgbClr val="7F7F7F"/>
                </a:solidFill>
              </a:rPr>
              <a:t>Delivery of goods (container) to port.</a:t>
            </a:r>
          </a:p>
          <a:p>
            <a:r>
              <a:rPr lang="en-GB" dirty="0"/>
              <a:t>Goods are loaded onto the ship.</a:t>
            </a:r>
          </a:p>
          <a:p>
            <a:r>
              <a:rPr lang="en-GB" dirty="0"/>
              <a:t>The ship’s responsibility is from rail to rail.</a:t>
            </a:r>
          </a:p>
          <a:p>
            <a:r>
              <a:rPr lang="en-GB" dirty="0"/>
              <a:t>The burden passes to the ship when the goods are loaded onto the ship.</a:t>
            </a:r>
          </a:p>
          <a:p>
            <a:r>
              <a:rPr lang="en-GB" dirty="0"/>
              <a:t>A mate’s receipt is issued which entitles the shipper to be issued the bill of lading.</a:t>
            </a:r>
          </a:p>
          <a:p>
            <a:r>
              <a:rPr lang="en-GB" b="1" u="sng" dirty="0"/>
              <a:t>Who has issued the bill of lading?</a:t>
            </a:r>
            <a:r>
              <a:rPr lang="en-GB" dirty="0"/>
              <a:t> </a:t>
            </a:r>
            <a:r>
              <a:rPr lang="en-GB" b="1" u="sng" dirty="0"/>
              <a:t>Who is the carrier?</a:t>
            </a:r>
            <a:r>
              <a:rPr lang="en-GB" dirty="0"/>
              <a:t> Is it the time charterer or the demise charterer or a sub-charterer thereof or the ship owner?</a:t>
            </a:r>
          </a:p>
          <a:p>
            <a:r>
              <a:rPr lang="en-GB" dirty="0"/>
              <a:t>Once the bill of lading has been signed it acts as a receipt and records the condition of the goods.</a:t>
            </a:r>
          </a:p>
        </p:txBody>
      </p:sp>
    </p:spTree>
    <p:extLst>
      <p:ext uri="{BB962C8B-B14F-4D97-AF65-F5344CB8AC3E}">
        <p14:creationId xmlns:p14="http://schemas.microsoft.com/office/powerpoint/2010/main" val="2336980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Bill of lading as a receipt – Clean Bill of lading</a:t>
            </a:r>
          </a:p>
        </p:txBody>
      </p:sp>
      <p:sp>
        <p:nvSpPr>
          <p:cNvPr id="3" name="Subtitle 2"/>
          <p:cNvSpPr>
            <a:spLocks noGrp="1"/>
          </p:cNvSpPr>
          <p:nvPr>
            <p:ph type="body" sz="quarter" idx="14"/>
          </p:nvPr>
        </p:nvSpPr>
        <p:spPr>
          <a:prstGeom prst="rect">
            <a:avLst/>
          </a:prstGeom>
        </p:spPr>
        <p:txBody>
          <a:bodyPr/>
          <a:lstStyle/>
          <a:p>
            <a:r>
              <a:rPr lang="en-GB" dirty="0">
                <a:solidFill>
                  <a:srgbClr val="7F7F7F"/>
                </a:solidFill>
              </a:rPr>
              <a:t>Shipped on board bill of lading: the goods are on board</a:t>
            </a:r>
          </a:p>
          <a:p>
            <a:r>
              <a:rPr lang="en-GB" dirty="0">
                <a:solidFill>
                  <a:srgbClr val="7F7F7F"/>
                </a:solidFill>
              </a:rPr>
              <a:t>Received for shipment bill of lading: receipt of the goods, does not necessarily mean that goods are loaded on the ship</a:t>
            </a:r>
          </a:p>
          <a:p>
            <a:r>
              <a:rPr lang="en-GB" dirty="0">
                <a:solidFill>
                  <a:srgbClr val="7F7F7F"/>
                </a:solidFill>
              </a:rPr>
              <a:t>A bill of lading contains evidence of:</a:t>
            </a:r>
          </a:p>
          <a:p>
            <a:r>
              <a:rPr lang="en-GB" dirty="0">
                <a:solidFill>
                  <a:srgbClr val="7F7F7F"/>
                </a:solidFill>
              </a:rPr>
              <a:t>Quantity i.e. how many containers, packages, pieces or weight</a:t>
            </a:r>
          </a:p>
          <a:p>
            <a:r>
              <a:rPr lang="en-GB" dirty="0">
                <a:solidFill>
                  <a:srgbClr val="7F7F7F"/>
                </a:solidFill>
              </a:rPr>
              <a:t>Quality</a:t>
            </a:r>
          </a:p>
          <a:p>
            <a:r>
              <a:rPr lang="en-GB" dirty="0">
                <a:solidFill>
                  <a:srgbClr val="7F7F7F"/>
                </a:solidFill>
              </a:rPr>
              <a:t>Condition</a:t>
            </a:r>
          </a:p>
          <a:p>
            <a:r>
              <a:rPr lang="en-GB" dirty="0">
                <a:solidFill>
                  <a:srgbClr val="7F7F7F"/>
                </a:solidFill>
              </a:rPr>
              <a:t>“Apparent good order and condition” (means the container looks good, only external observation of condition and number), the master will issue a </a:t>
            </a:r>
            <a:r>
              <a:rPr lang="en-GB" b="1" dirty="0">
                <a:solidFill>
                  <a:srgbClr val="7F7F7F"/>
                </a:solidFill>
              </a:rPr>
              <a:t>clean bill of lading</a:t>
            </a:r>
            <a:r>
              <a:rPr lang="en-GB" dirty="0">
                <a:solidFill>
                  <a:srgbClr val="7F7F7F"/>
                </a:solidFill>
              </a:rPr>
              <a:t>.</a:t>
            </a:r>
          </a:p>
          <a:p>
            <a:r>
              <a:rPr lang="en-GB" dirty="0">
                <a:solidFill>
                  <a:srgbClr val="7F7F7F"/>
                </a:solidFill>
              </a:rPr>
              <a:t>“Condition unknown” deemed to apply to internal condition</a:t>
            </a:r>
          </a:p>
          <a:p>
            <a:r>
              <a:rPr lang="en-GB" dirty="0">
                <a:solidFill>
                  <a:srgbClr val="7F7F7F"/>
                </a:solidFill>
              </a:rPr>
              <a:t>“STC” said to contain </a:t>
            </a:r>
            <a:endParaRPr lang="en-GB" dirty="0"/>
          </a:p>
        </p:txBody>
      </p:sp>
    </p:spTree>
    <p:extLst>
      <p:ext uri="{BB962C8B-B14F-4D97-AF65-F5344CB8AC3E}">
        <p14:creationId xmlns:p14="http://schemas.microsoft.com/office/powerpoint/2010/main" val="3813373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Bill of lading as a receipt – </a:t>
            </a:r>
            <a:r>
              <a:rPr lang="en-GB" dirty="0" err="1"/>
              <a:t>Claused</a:t>
            </a:r>
            <a:r>
              <a:rPr lang="en-GB" dirty="0"/>
              <a:t> Bill of lading</a:t>
            </a:r>
          </a:p>
        </p:txBody>
      </p:sp>
      <p:sp>
        <p:nvSpPr>
          <p:cNvPr id="3" name="Subtitle 2"/>
          <p:cNvSpPr>
            <a:spLocks noGrp="1"/>
          </p:cNvSpPr>
          <p:nvPr>
            <p:ph type="body" sz="quarter" idx="14"/>
          </p:nvPr>
        </p:nvSpPr>
        <p:spPr>
          <a:prstGeom prst="rect">
            <a:avLst/>
          </a:prstGeom>
        </p:spPr>
        <p:txBody>
          <a:bodyPr/>
          <a:lstStyle/>
          <a:p>
            <a:r>
              <a:rPr lang="en-GB" sz="1800" b="1" dirty="0" err="1"/>
              <a:t>Clausing</a:t>
            </a:r>
            <a:r>
              <a:rPr lang="en-GB" sz="1800" b="1" dirty="0"/>
              <a:t> of bill of lading</a:t>
            </a:r>
            <a:r>
              <a:rPr lang="en-GB" sz="1800" dirty="0"/>
              <a:t> means that a master or agent exercising reasonable judgment and acting honestly may ‘clause’ a bill of lading, it reflects an accurate statement of apparent order and condition. Shipper is deemed to guarantee the information furnished by it to the carrier and required to indemnify carrier for losses resulting from inaccuracies.</a:t>
            </a:r>
          </a:p>
          <a:p>
            <a:r>
              <a:rPr lang="en-GB" sz="1800" dirty="0"/>
              <a:t>Carrier bears onus of condition reporting, they may issue a clean bill of lading when disagreement arises between shipper and carrier as to condition of goods if shipper provides indemnity against liability. </a:t>
            </a:r>
          </a:p>
          <a:p>
            <a:r>
              <a:rPr lang="en-GB" sz="1800" dirty="0"/>
              <a:t>Article III(4) of the Hague-Visby Rules.</a:t>
            </a:r>
          </a:p>
          <a:p>
            <a:r>
              <a:rPr lang="en-GB" sz="1800" dirty="0"/>
              <a:t>Clean bill of lading is </a:t>
            </a:r>
            <a:r>
              <a:rPr lang="en-GB" sz="1800" i="1" dirty="0"/>
              <a:t>prima facie </a:t>
            </a:r>
            <a:r>
              <a:rPr lang="en-GB" sz="1800" dirty="0"/>
              <a:t>proof as to condition against shipper. </a:t>
            </a:r>
          </a:p>
          <a:p>
            <a:r>
              <a:rPr lang="en-GB" sz="1800" dirty="0"/>
              <a:t>Clean bill of lading is conclusive proof when transferred to a third party in good faith (consignee or indorsee) and carrier may be estopped from denying condition represented. </a:t>
            </a:r>
          </a:p>
          <a:p>
            <a:r>
              <a:rPr lang="en-GB" sz="1800" i="1" dirty="0" err="1"/>
              <a:t>Compania</a:t>
            </a:r>
            <a:r>
              <a:rPr lang="en-GB" sz="1800" i="1" dirty="0"/>
              <a:t> Naviera </a:t>
            </a:r>
            <a:r>
              <a:rPr lang="en-GB" sz="1800" i="1" dirty="0" err="1"/>
              <a:t>Vascongada</a:t>
            </a:r>
            <a:r>
              <a:rPr lang="en-GB" sz="1800" i="1" dirty="0"/>
              <a:t> v Churchill</a:t>
            </a:r>
            <a:r>
              <a:rPr lang="en-GB" sz="1800" dirty="0"/>
              <a:t> [1906] 1 KB 237.</a:t>
            </a:r>
          </a:p>
          <a:p>
            <a:r>
              <a:rPr lang="en-GB" sz="1800" dirty="0"/>
              <a:t>Cf. Position in common law under </a:t>
            </a:r>
            <a:r>
              <a:rPr lang="en-GB" sz="1800" i="1" dirty="0"/>
              <a:t>Grant v. Norway</a:t>
            </a:r>
            <a:r>
              <a:rPr lang="en-GB" sz="1800" dirty="0"/>
              <a:t> (1851) 10 CB 665.</a:t>
            </a:r>
          </a:p>
        </p:txBody>
      </p:sp>
    </p:spTree>
    <p:extLst>
      <p:ext uri="{BB962C8B-B14F-4D97-AF65-F5344CB8AC3E}">
        <p14:creationId xmlns:p14="http://schemas.microsoft.com/office/powerpoint/2010/main" val="1724187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Bill of lading as a receipt – “Shipper’s load, stow and count”</a:t>
            </a:r>
          </a:p>
        </p:txBody>
      </p:sp>
      <p:sp>
        <p:nvSpPr>
          <p:cNvPr id="3" name="Subtitle 2"/>
          <p:cNvSpPr>
            <a:spLocks noGrp="1"/>
          </p:cNvSpPr>
          <p:nvPr>
            <p:ph type="body" sz="quarter" idx="14"/>
          </p:nvPr>
        </p:nvSpPr>
        <p:spPr>
          <a:prstGeom prst="rect">
            <a:avLst/>
          </a:prstGeom>
        </p:spPr>
        <p:txBody>
          <a:bodyPr/>
          <a:lstStyle/>
          <a:p>
            <a:r>
              <a:rPr lang="en-GB" dirty="0"/>
              <a:t>“Shipper’s load, stow and count” or “SLAC” </a:t>
            </a:r>
          </a:p>
          <a:p>
            <a:r>
              <a:rPr lang="en-GB" i="1" dirty="0" err="1"/>
              <a:t>Marbig</a:t>
            </a:r>
            <a:r>
              <a:rPr lang="en-GB" i="1" dirty="0"/>
              <a:t> Rexel Pty Ltd v ABC Container Line NV (The TNT Express) </a:t>
            </a:r>
            <a:r>
              <a:rPr lang="en-GB" dirty="0"/>
              <a:t>[1992] 2 Lloyd’s Rep 636. </a:t>
            </a:r>
          </a:p>
          <a:p>
            <a:r>
              <a:rPr lang="en-GB" dirty="0"/>
              <a:t>Held that the carrier could not be estopped from denying that goods were in apparent good order and condition, if you did say shipper’s load, stow and count or SLAC, the carrier cannot be estopped from arguing that although they said SLAC, in fact these goods were damaged when delivered to the carrier. </a:t>
            </a:r>
          </a:p>
          <a:p>
            <a:r>
              <a:rPr lang="en-GB" dirty="0"/>
              <a:t>Claimant endorsee required to adduce evidence of good order and condition, claimant bears the burden of proof. </a:t>
            </a:r>
          </a:p>
          <a:p>
            <a:r>
              <a:rPr lang="en-GB" dirty="0"/>
              <a:t>i.e. ‘SLAC’ negates any representation of condition of contents of containers (i.e. no </a:t>
            </a:r>
            <a:r>
              <a:rPr lang="en-GB" i="1" dirty="0"/>
              <a:t>prima facie </a:t>
            </a:r>
            <a:r>
              <a:rPr lang="en-GB" dirty="0"/>
              <a:t>evidence). </a:t>
            </a:r>
            <a:endParaRPr lang="en-GB" sz="2000" dirty="0"/>
          </a:p>
        </p:txBody>
      </p:sp>
    </p:spTree>
    <p:extLst>
      <p:ext uri="{BB962C8B-B14F-4D97-AF65-F5344CB8AC3E}">
        <p14:creationId xmlns:p14="http://schemas.microsoft.com/office/powerpoint/2010/main" val="1050140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Bill of lading as a receipt – Quantity or Weight</a:t>
            </a:r>
          </a:p>
        </p:txBody>
      </p:sp>
      <p:sp>
        <p:nvSpPr>
          <p:cNvPr id="3" name="Subtitle 2"/>
          <p:cNvSpPr>
            <a:spLocks noGrp="1"/>
          </p:cNvSpPr>
          <p:nvPr>
            <p:ph type="body" sz="quarter" idx="14"/>
          </p:nvPr>
        </p:nvSpPr>
        <p:spPr>
          <a:prstGeom prst="rect">
            <a:avLst/>
          </a:prstGeom>
        </p:spPr>
        <p:txBody>
          <a:bodyPr/>
          <a:lstStyle/>
          <a:p>
            <a:r>
              <a:rPr lang="en-GB" b="1" dirty="0"/>
              <a:t>Receipt as to quantity or weight </a:t>
            </a:r>
          </a:p>
          <a:p>
            <a:r>
              <a:rPr lang="en-GB" i="1" dirty="0"/>
              <a:t>Prima facie </a:t>
            </a:r>
            <a:r>
              <a:rPr lang="en-GB" dirty="0"/>
              <a:t>evidence against shipper. </a:t>
            </a:r>
          </a:p>
          <a:p>
            <a:pPr lvl="1"/>
            <a:r>
              <a:rPr lang="en-GB" dirty="0"/>
              <a:t>Carrier can adduce evidence that quantity and weight not as reflected in bill of lading. </a:t>
            </a:r>
          </a:p>
          <a:p>
            <a:r>
              <a:rPr lang="en-GB" dirty="0"/>
              <a:t>Against third party (consignee or indorsee) acting in good faith, Carrier cannot adduce evidence to contrary even if third party did not rely on bill of lading to detriment.  </a:t>
            </a:r>
            <a:endParaRPr lang="en-GB" sz="2000" dirty="0"/>
          </a:p>
        </p:txBody>
      </p:sp>
    </p:spTree>
    <p:extLst>
      <p:ext uri="{BB962C8B-B14F-4D97-AF65-F5344CB8AC3E}">
        <p14:creationId xmlns:p14="http://schemas.microsoft.com/office/powerpoint/2010/main" val="1435303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Bill of lading as a receipt – Leading Marks</a:t>
            </a:r>
          </a:p>
        </p:txBody>
      </p:sp>
      <p:sp>
        <p:nvSpPr>
          <p:cNvPr id="3" name="Subtitle 2"/>
          <p:cNvSpPr>
            <a:spLocks noGrp="1"/>
          </p:cNvSpPr>
          <p:nvPr>
            <p:ph type="body" sz="quarter" idx="14"/>
          </p:nvPr>
        </p:nvSpPr>
        <p:spPr>
          <a:prstGeom prst="rect">
            <a:avLst/>
          </a:prstGeom>
        </p:spPr>
        <p:txBody>
          <a:bodyPr/>
          <a:lstStyle/>
          <a:p>
            <a:r>
              <a:rPr lang="en-GB" b="1" dirty="0"/>
              <a:t>Receipt as to leading marks </a:t>
            </a:r>
            <a:endParaRPr lang="en-GB" dirty="0"/>
          </a:p>
          <a:p>
            <a:r>
              <a:rPr lang="en-GB" dirty="0"/>
              <a:t>Identifications marks, such as container number. </a:t>
            </a:r>
          </a:p>
          <a:p>
            <a:r>
              <a:rPr lang="en-GB" dirty="0"/>
              <a:t>Marks of identity (what the commercial character is) and marks of identification (such as numbering). </a:t>
            </a:r>
            <a:endParaRPr lang="en-GB" sz="2000" dirty="0"/>
          </a:p>
        </p:txBody>
      </p:sp>
    </p:spTree>
    <p:extLst>
      <p:ext uri="{BB962C8B-B14F-4D97-AF65-F5344CB8AC3E}">
        <p14:creationId xmlns:p14="http://schemas.microsoft.com/office/powerpoint/2010/main" val="1721444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sz="2800" dirty="0"/>
              <a:t>The bill of lading as a document of title</a:t>
            </a:r>
          </a:p>
          <a:p>
            <a:r>
              <a:rPr lang="en-GB" sz="2800" dirty="0"/>
              <a:t>The bill of lading as evidence of the contract of carriage</a:t>
            </a:r>
          </a:p>
          <a:p>
            <a:endParaRPr lang="en-GB" sz="2800" dirty="0"/>
          </a:p>
          <a:p>
            <a:endParaRPr lang="en-GB" sz="2800" dirty="0"/>
          </a:p>
          <a:p>
            <a:endParaRPr lang="en-GB" sz="2800" dirty="0"/>
          </a:p>
          <a:p>
            <a:endParaRPr lang="en-GB" sz="2800" dirty="0"/>
          </a:p>
        </p:txBody>
      </p:sp>
    </p:spTree>
    <p:extLst>
      <p:ext uri="{BB962C8B-B14F-4D97-AF65-F5344CB8AC3E}">
        <p14:creationId xmlns:p14="http://schemas.microsoft.com/office/powerpoint/2010/main" val="4127450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Bill of lading as Document of Title</a:t>
            </a:r>
          </a:p>
        </p:txBody>
      </p:sp>
      <p:sp>
        <p:nvSpPr>
          <p:cNvPr id="3" name="Subtitle 2"/>
          <p:cNvSpPr>
            <a:spLocks noGrp="1"/>
          </p:cNvSpPr>
          <p:nvPr>
            <p:ph type="body" sz="quarter" idx="14"/>
          </p:nvPr>
        </p:nvSpPr>
        <p:spPr>
          <a:prstGeom prst="rect">
            <a:avLst/>
          </a:prstGeom>
        </p:spPr>
        <p:txBody>
          <a:bodyPr/>
          <a:lstStyle/>
          <a:p>
            <a:r>
              <a:rPr lang="en-GB" dirty="0"/>
              <a:t>More accurately, it amounts to constructive possession, and thus be a pre-requisite for the passing of title. </a:t>
            </a:r>
          </a:p>
          <a:p>
            <a:r>
              <a:rPr lang="en-GB" dirty="0"/>
              <a:t>May be an order or bearer bill, with the latter “to order” allowing endorsement. </a:t>
            </a:r>
          </a:p>
          <a:p>
            <a:r>
              <a:rPr lang="en-GB" dirty="0"/>
              <a:t>Delivery by carrier in good faith to holder of bill of lading discharges the carrier of liability in the goods. </a:t>
            </a:r>
          </a:p>
          <a:p>
            <a:r>
              <a:rPr lang="en-GB" dirty="0"/>
              <a:t>Carrier liable for </a:t>
            </a:r>
            <a:r>
              <a:rPr lang="en-GB" dirty="0" err="1"/>
              <a:t>misdelivery</a:t>
            </a:r>
            <a:r>
              <a:rPr lang="en-GB" dirty="0"/>
              <a:t>. </a:t>
            </a:r>
          </a:p>
          <a:p>
            <a:r>
              <a:rPr lang="en-GB" dirty="0"/>
              <a:t>Master’s obligation is to give the goods to the person who has the bill of lading in their possession. </a:t>
            </a:r>
          </a:p>
          <a:p>
            <a:r>
              <a:rPr lang="en-GB" dirty="0"/>
              <a:t>Straight bills of lading – </a:t>
            </a:r>
            <a:r>
              <a:rPr lang="en-GB" i="1" dirty="0"/>
              <a:t>The Rafaela S</a:t>
            </a:r>
            <a:r>
              <a:rPr lang="en-GB" dirty="0"/>
              <a:t> [2005] UKHL 11; </a:t>
            </a:r>
            <a:r>
              <a:rPr lang="en-GB" i="1" dirty="0"/>
              <a:t>APL v Voss</a:t>
            </a:r>
            <a:r>
              <a:rPr lang="en-GB" dirty="0"/>
              <a:t> [2002] 2 Lloyd’s Rep 707.</a:t>
            </a:r>
          </a:p>
        </p:txBody>
      </p:sp>
    </p:spTree>
    <p:extLst>
      <p:ext uri="{BB962C8B-B14F-4D97-AF65-F5344CB8AC3E}">
        <p14:creationId xmlns:p14="http://schemas.microsoft.com/office/powerpoint/2010/main" val="3679091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Bill of lading as Evidence of the Contract of Carriage</a:t>
            </a:r>
          </a:p>
        </p:txBody>
      </p:sp>
      <p:sp>
        <p:nvSpPr>
          <p:cNvPr id="3" name="Subtitle 2"/>
          <p:cNvSpPr>
            <a:spLocks noGrp="1"/>
          </p:cNvSpPr>
          <p:nvPr>
            <p:ph type="body" sz="quarter" idx="14"/>
          </p:nvPr>
        </p:nvSpPr>
        <p:spPr>
          <a:prstGeom prst="rect">
            <a:avLst/>
          </a:prstGeom>
        </p:spPr>
        <p:txBody>
          <a:bodyPr/>
          <a:lstStyle/>
          <a:p>
            <a:r>
              <a:rPr lang="en-GB" dirty="0"/>
              <a:t>Bill of lading is EVIDENCE of contract of carriage (stage of being reduced to writing) </a:t>
            </a:r>
          </a:p>
          <a:p>
            <a:r>
              <a:rPr lang="en-GB" dirty="0"/>
              <a:t>Therefore, not conclusive evidence of contractual terms. </a:t>
            </a:r>
          </a:p>
          <a:p>
            <a:r>
              <a:rPr lang="en-GB" dirty="0"/>
              <a:t>Usually, though, bill of lading treated as contract. </a:t>
            </a:r>
          </a:p>
          <a:p>
            <a:r>
              <a:rPr lang="en-GB" dirty="0"/>
              <a:t>Third parties: </a:t>
            </a:r>
            <a:r>
              <a:rPr lang="en-GB" i="1" dirty="0"/>
              <a:t>Leduc v Ward</a:t>
            </a:r>
            <a:r>
              <a:rPr lang="en-GB" dirty="0"/>
              <a:t> (1888) 20 QBD 475.</a:t>
            </a:r>
          </a:p>
          <a:p>
            <a:r>
              <a:rPr lang="en-GB" dirty="0"/>
              <a:t>H, HV, Hamburg or Rotterdam Rules incorporated usually via a Clause Paramount. </a:t>
            </a:r>
            <a:endParaRPr lang="en-GB" sz="2000" dirty="0"/>
          </a:p>
        </p:txBody>
      </p:sp>
    </p:spTree>
    <p:extLst>
      <p:ext uri="{BB962C8B-B14F-4D97-AF65-F5344CB8AC3E}">
        <p14:creationId xmlns:p14="http://schemas.microsoft.com/office/powerpoint/2010/main" val="1456147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Revision</a:t>
            </a:r>
          </a:p>
        </p:txBody>
      </p:sp>
      <p:sp>
        <p:nvSpPr>
          <p:cNvPr id="3" name="Subtitle 2"/>
          <p:cNvSpPr>
            <a:spLocks noGrp="1"/>
          </p:cNvSpPr>
          <p:nvPr>
            <p:ph type="body" sz="quarter" idx="14"/>
          </p:nvPr>
        </p:nvSpPr>
        <p:spPr>
          <a:prstGeom prst="rect">
            <a:avLst/>
          </a:prstGeom>
        </p:spPr>
        <p:txBody>
          <a:bodyPr/>
          <a:lstStyle/>
          <a:p>
            <a:r>
              <a:rPr lang="en-GB" sz="2000" dirty="0"/>
              <a:t>Asymmetry in the bargaining power of the carrier and the shipper.</a:t>
            </a:r>
          </a:p>
          <a:p>
            <a:r>
              <a:rPr lang="en-GB" sz="2000" dirty="0"/>
              <a:t>International Conventions on the rights and liabilities of carriers and shippers in carriage contracts – Hague-Visby Rules applicable in the UK. </a:t>
            </a:r>
          </a:p>
          <a:p>
            <a:r>
              <a:rPr lang="en-GB" sz="2000" dirty="0"/>
              <a:t>How does a bill of lading differ from a charterparty and a sea waybill?</a:t>
            </a:r>
          </a:p>
          <a:p>
            <a:r>
              <a:rPr lang="en-GB" sz="2000" dirty="0"/>
              <a:t>Three Functions of bills of lading</a:t>
            </a:r>
          </a:p>
          <a:p>
            <a:endParaRPr lang="en-GB" sz="2000" dirty="0"/>
          </a:p>
        </p:txBody>
      </p:sp>
    </p:spTree>
    <p:extLst>
      <p:ext uri="{BB962C8B-B14F-4D97-AF65-F5344CB8AC3E}">
        <p14:creationId xmlns:p14="http://schemas.microsoft.com/office/powerpoint/2010/main" val="179648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libri" pitchFamily="80" charset="0"/>
              </a:rPr>
              <a:t>Next up: The Hague-Visby Rules</a:t>
            </a:r>
            <a:endParaRPr lang="en-GB" dirty="0"/>
          </a:p>
        </p:txBody>
      </p:sp>
    </p:spTree>
  </p:cSld>
  <p:clrMapOvr>
    <a:masterClrMapping/>
  </p:clrMapOvr>
</p:sld>
</file>

<file path=ppt/theme/theme1.xml><?xml version="1.0" encoding="utf-8"?>
<a:theme xmlns:a="http://schemas.openxmlformats.org/drawingml/2006/main" name="Office Theme">
  <a:themeElements>
    <a:clrScheme name="Custom 1">
      <a:dk1>
        <a:srgbClr val="8C0E1D"/>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 2: Text Only">
  <a:themeElements>
    <a:clrScheme name="Custom 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582</TotalTime>
  <Words>2382</Words>
  <Application>Microsoft Macintosh PowerPoint</Application>
  <PresentationFormat>On-screen Show (4:3)</PresentationFormat>
  <Paragraphs>163</Paragraphs>
  <Slides>22</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22</vt:i4>
      </vt:variant>
    </vt:vector>
  </HeadingPairs>
  <TitlesOfParts>
    <vt:vector size="27" baseType="lpstr">
      <vt:lpstr>Calibri</vt:lpstr>
      <vt:lpstr>Lucida Grande</vt:lpstr>
      <vt:lpstr>Arial</vt:lpstr>
      <vt:lpstr>Office Theme</vt:lpstr>
      <vt:lpstr>Slide 2: Text Only</vt:lpstr>
      <vt:lpstr>Introduction to Carriage of Goods by Sea: Bills of Lading</vt:lpstr>
      <vt:lpstr>In this Section</vt:lpstr>
      <vt:lpstr>Introduction</vt:lpstr>
      <vt:lpstr>Timeline of International Conventions and Legislation</vt:lpstr>
      <vt:lpstr>Contracts for the Carriage of Goods by Sea: Terminology and Concepts</vt:lpstr>
      <vt:lpstr>In this Section</vt:lpstr>
      <vt:lpstr>Example of a Bill of Lading</vt:lpstr>
      <vt:lpstr>Bill of Lading and Charterparty</vt:lpstr>
      <vt:lpstr>Bill of Lading and Sea Waybill</vt:lpstr>
      <vt:lpstr>The Three Functions of a Bill of Lading</vt:lpstr>
      <vt:lpstr>In this Section</vt:lpstr>
      <vt:lpstr>Bill of lading as a Receipt – Issued by who?</vt:lpstr>
      <vt:lpstr>Bill of lading as a receipt – Clean Bill of lading</vt:lpstr>
      <vt:lpstr>Bill of lading as a receipt – Claused Bill of lading</vt:lpstr>
      <vt:lpstr>Bill of lading as a receipt – “Shipper’s load, stow and count”</vt:lpstr>
      <vt:lpstr>Bill of lading as a receipt – Quantity or Weight</vt:lpstr>
      <vt:lpstr>Bill of lading as a receipt – Leading Marks</vt:lpstr>
      <vt:lpstr>In this Section</vt:lpstr>
      <vt:lpstr>Bill of lading as Document of Title</vt:lpstr>
      <vt:lpstr>Bill of lading as Evidence of the Contract of Carriage</vt:lpstr>
      <vt:lpstr>Revision</vt:lpstr>
      <vt:lpstr>Next up: The Hague-Visby Rules</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wendy.gallagher</dc:creator>
  <cp:lastModifiedBy>Ahmed, Mukarrum</cp:lastModifiedBy>
  <cp:revision>124</cp:revision>
  <dcterms:created xsi:type="dcterms:W3CDTF">2011-10-31T13:04:17Z</dcterms:created>
  <dcterms:modified xsi:type="dcterms:W3CDTF">2024-11-18T22:14:02Z</dcterms:modified>
</cp:coreProperties>
</file>