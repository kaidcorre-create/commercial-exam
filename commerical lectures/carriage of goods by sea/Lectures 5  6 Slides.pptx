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0" r:id="rId2"/>
  </p:sldMasterIdLst>
  <p:notesMasterIdLst>
    <p:notesMasterId r:id="rId19"/>
  </p:notesMasterIdLst>
  <p:sldIdLst>
    <p:sldId id="259" r:id="rId3"/>
    <p:sldId id="293" r:id="rId4"/>
    <p:sldId id="268" r:id="rId5"/>
    <p:sldId id="276" r:id="rId6"/>
    <p:sldId id="275" r:id="rId7"/>
    <p:sldId id="294" r:id="rId8"/>
    <p:sldId id="287" r:id="rId9"/>
    <p:sldId id="288" r:id="rId10"/>
    <p:sldId id="289" r:id="rId11"/>
    <p:sldId id="295" r:id="rId12"/>
    <p:sldId id="290" r:id="rId13"/>
    <p:sldId id="291" r:id="rId14"/>
    <p:sldId id="296" r:id="rId15"/>
    <p:sldId id="297" r:id="rId16"/>
    <p:sldId id="292" r:id="rId17"/>
    <p:sldId id="267"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61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5121B"/>
    <a:srgbClr val="666666"/>
    <a:srgbClr val="D52B1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7964" autoAdjust="0"/>
    <p:restoredTop sz="96327" autoAdjust="0"/>
  </p:normalViewPr>
  <p:slideViewPr>
    <p:cSldViewPr>
      <p:cViewPr varScale="1">
        <p:scale>
          <a:sx n="186" d="100"/>
          <a:sy n="186" d="100"/>
        </p:scale>
        <p:origin x="2904" y="200"/>
      </p:cViewPr>
      <p:guideLst>
        <p:guide orient="horz" pos="2160"/>
        <p:guide pos="612"/>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02CDB6F-9360-4AC5-A1A4-B746F8B27D7E}" type="datetimeFigureOut">
              <a:rPr lang="en-GB" smtClean="0"/>
              <a:pPr/>
              <a:t>02/12/2024</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EC8AF62-0413-459D-A055-9BD345497D1F}" type="slidenum">
              <a:rPr lang="en-GB" smtClean="0"/>
              <a:pPr/>
              <a:t>‹#›</a:t>
            </a:fld>
            <a:endParaRPr lang="en-GB"/>
          </a:p>
        </p:txBody>
      </p:sp>
    </p:spTree>
    <p:extLst>
      <p:ext uri="{BB962C8B-B14F-4D97-AF65-F5344CB8AC3E}">
        <p14:creationId xmlns:p14="http://schemas.microsoft.com/office/powerpoint/2010/main" val="3773165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pPr eaLnBrk="1" hangingPunct="1"/>
            <a:r>
              <a:rPr lang="en-US" sz="1200" b="1" kern="1200" dirty="0">
                <a:solidFill>
                  <a:schemeClr val="tx1"/>
                </a:solidFill>
                <a:latin typeface="Lucida Grande" pitchFamily="80" charset="0"/>
                <a:ea typeface="ＭＳ Ｐゴシック" charset="-128"/>
                <a:cs typeface="+mn-cs"/>
              </a:rPr>
              <a:t>LANCASTER UNIVERSITY POWERPOINT TEMPLATES</a:t>
            </a:r>
          </a:p>
          <a:p>
            <a:pPr eaLnBrk="1" hangingPunct="1"/>
            <a:r>
              <a:rPr lang="en-US" sz="1200" kern="1200" baseline="0" dirty="0">
                <a:solidFill>
                  <a:schemeClr val="tx1"/>
                </a:solidFill>
                <a:latin typeface="Lucida Grande" pitchFamily="80" charset="0"/>
                <a:ea typeface="ＭＳ Ｐゴシック" charset="-128"/>
                <a:cs typeface="+mn-cs"/>
              </a:rPr>
              <a:t>These PowerPoint templates are for use by all Lancaster University staff. Please see below for further information regarding the use of these templates. Should you have any further queries, please contact the marketing team via marketing-services@lancaster.ac.uk</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3: Insert a new slide</a:t>
            </a:r>
          </a:p>
          <a:p>
            <a:pPr eaLnBrk="1" hangingPunct="1"/>
            <a:r>
              <a:rPr lang="en-US" sz="1200" kern="1200" dirty="0">
                <a:solidFill>
                  <a:srgbClr val="731F43"/>
                </a:solidFill>
                <a:latin typeface="Lucida Grande" pitchFamily="80" charset="0"/>
                <a:ea typeface="ＭＳ Ｐゴシック" charset="-128"/>
                <a:cs typeface="+mn-cs"/>
              </a:rPr>
              <a:t>If you need to insert a new slide, from </a:t>
            </a:r>
            <a:r>
              <a:rPr lang="en-US" sz="1200" kern="1200" baseline="0" dirty="0">
                <a:solidFill>
                  <a:srgbClr val="666666"/>
                </a:solidFill>
                <a:latin typeface="Lucida Grande" pitchFamily="80" charset="0"/>
                <a:ea typeface="ＭＳ Ｐゴシック" charset="-128"/>
                <a:cs typeface="+mn-cs"/>
              </a:rPr>
              <a:t>the ‘home’ toolbar, click on ‘new slide’ and select from the templates the style you require from the dropdown box.</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4: </a:t>
            </a:r>
            <a:r>
              <a:rPr lang="en-US" sz="1200" b="1" kern="1200" baseline="0" dirty="0">
                <a:solidFill>
                  <a:schemeClr val="tx1"/>
                </a:solidFill>
                <a:latin typeface="Lucida Grande" pitchFamily="80" charset="0"/>
                <a:ea typeface="ＭＳ Ｐゴシック" charset="-128"/>
                <a:cs typeface="+mn-cs"/>
              </a:rPr>
              <a:t>Typing new text and copying text from another document</a:t>
            </a:r>
          </a:p>
          <a:p>
            <a:pPr eaLnBrk="1" hangingPunct="1"/>
            <a:r>
              <a:rPr lang="en-US" sz="1200" kern="1200" baseline="0" dirty="0">
                <a:solidFill>
                  <a:schemeClr val="tx1"/>
                </a:solidFill>
                <a:latin typeface="Lucida Grande" pitchFamily="80" charset="0"/>
                <a:ea typeface="ＭＳ Ｐゴシック" charset="-128"/>
                <a:cs typeface="+mn-cs"/>
              </a:rPr>
              <a:t>New text</a:t>
            </a:r>
            <a:r>
              <a:rPr lang="en-US" sz="1200" kern="1200" dirty="0">
                <a:solidFill>
                  <a:schemeClr val="tx1"/>
                </a:solidFill>
                <a:latin typeface="Lucida Grande" pitchFamily="80" charset="0"/>
                <a:ea typeface="ＭＳ Ｐゴシック" charset="-128"/>
                <a:cs typeface="+mn-cs"/>
              </a:rPr>
              <a:t> should be typed over the</a:t>
            </a:r>
            <a:r>
              <a:rPr lang="en-US" sz="1200" kern="1200" baseline="0" dirty="0">
                <a:solidFill>
                  <a:schemeClr val="tx1"/>
                </a:solidFill>
                <a:latin typeface="Lucida Grande" pitchFamily="80" charset="0"/>
                <a:ea typeface="ＭＳ Ｐゴシック" charset="-128"/>
                <a:cs typeface="+mn-cs"/>
              </a:rPr>
              <a:t> text </a:t>
            </a:r>
            <a:r>
              <a:rPr lang="en-US" sz="1200" kern="1200" dirty="0">
                <a:solidFill>
                  <a:schemeClr val="tx1"/>
                </a:solidFill>
                <a:latin typeface="Lucida Grande" pitchFamily="80" charset="0"/>
                <a:ea typeface="ＭＳ Ｐゴシック" charset="-128"/>
                <a:cs typeface="+mn-cs"/>
              </a:rPr>
              <a:t>in the appropriate template. Copy and pasting text from another document will result in changing the style of the typography and layout. This is unavoidable as it is part of the Microsoft</a:t>
            </a:r>
            <a:r>
              <a:rPr lang="en-US" sz="1200" kern="1200" baseline="0" dirty="0">
                <a:solidFill>
                  <a:schemeClr val="tx1"/>
                </a:solidFill>
                <a:latin typeface="Lucida Grande" pitchFamily="80" charset="0"/>
                <a:ea typeface="ＭＳ Ｐゴシック" charset="-128"/>
                <a:cs typeface="+mn-cs"/>
              </a:rPr>
              <a:t> software</a:t>
            </a:r>
            <a:r>
              <a:rPr lang="en-US" sz="1200" kern="1200" dirty="0">
                <a:solidFill>
                  <a:schemeClr val="tx1"/>
                </a:solidFill>
                <a:latin typeface="Lucida Grande" pitchFamily="80" charset="0"/>
                <a:ea typeface="ＭＳ Ｐゴシック" charset="-128"/>
                <a:cs typeface="+mn-cs"/>
              </a:rPr>
              <a:t>. We</a:t>
            </a:r>
            <a:r>
              <a:rPr lang="en-US" sz="1200" kern="1200" baseline="0" dirty="0">
                <a:solidFill>
                  <a:schemeClr val="tx1"/>
                </a:solidFill>
                <a:latin typeface="Lucida Grande" pitchFamily="80" charset="0"/>
                <a:ea typeface="ＭＳ Ｐゴシック" charset="-128"/>
                <a:cs typeface="+mn-cs"/>
              </a:rPr>
              <a:t> appreciate that in sometimes you will need to copy text from another document into this template. Once you have pasted the existing text into the template, you will need to change the formatting so that they typefaces, sizes, </a:t>
            </a:r>
            <a:r>
              <a:rPr lang="en-US" sz="1200" kern="1200" baseline="0" dirty="0" err="1">
                <a:solidFill>
                  <a:schemeClr val="tx1"/>
                </a:solidFill>
                <a:latin typeface="Lucida Grande" pitchFamily="80" charset="0"/>
                <a:ea typeface="ＭＳ Ｐゴシック" charset="-128"/>
                <a:cs typeface="+mn-cs"/>
              </a:rPr>
              <a:t>colour</a:t>
            </a:r>
            <a:r>
              <a:rPr lang="en-US" sz="1200" kern="1200" baseline="0" dirty="0">
                <a:solidFill>
                  <a:schemeClr val="tx1"/>
                </a:solidFill>
                <a:latin typeface="Lucida Grande" pitchFamily="80" charset="0"/>
                <a:ea typeface="ＭＳ Ｐゴシック" charset="-128"/>
                <a:cs typeface="+mn-cs"/>
              </a:rPr>
              <a:t>, line spacing and alignment are consistent with the rest of the template.</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5: Inserting images</a:t>
            </a: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baseline="0" dirty="0">
                <a:solidFill>
                  <a:srgbClr val="666666"/>
                </a:solidFill>
                <a:latin typeface="Calibri" pitchFamily="80" charset="0"/>
              </a:rPr>
              <a:t>There are three choices of templates with images already inserted. Please use the template with the relevant image size and positioning. </a:t>
            </a:r>
            <a:r>
              <a:rPr lang="en-US" sz="1200" kern="1200" dirty="0">
                <a:solidFill>
                  <a:srgbClr val="731F43"/>
                </a:solidFill>
                <a:latin typeface="Lucida Grande" pitchFamily="80" charset="0"/>
                <a:ea typeface="ＭＳ Ｐゴシック" charset="-128"/>
                <a:cs typeface="+mn-cs"/>
              </a:rPr>
              <a:t>To</a:t>
            </a:r>
            <a:r>
              <a:rPr lang="en-US" sz="1200" kern="1200" baseline="0" dirty="0">
                <a:solidFill>
                  <a:srgbClr val="731F43"/>
                </a:solidFill>
                <a:latin typeface="Lucida Grande" pitchFamily="80" charset="0"/>
                <a:ea typeface="ＭＳ Ｐゴシック" charset="-128"/>
                <a:cs typeface="+mn-cs"/>
              </a:rPr>
              <a:t> insert an i</a:t>
            </a:r>
            <a:r>
              <a:rPr lang="en-US" sz="1200" kern="1200" dirty="0">
                <a:solidFill>
                  <a:srgbClr val="731F43"/>
                </a:solidFill>
                <a:latin typeface="Lucida Grande" pitchFamily="80" charset="0"/>
                <a:ea typeface="ＭＳ Ｐゴシック" charset="-128"/>
                <a:cs typeface="+mn-cs"/>
              </a:rPr>
              <a:t>mage,</a:t>
            </a:r>
            <a:r>
              <a:rPr lang="en-US" sz="1200" kern="1200" baseline="0" dirty="0">
                <a:solidFill>
                  <a:srgbClr val="731F43"/>
                </a:solidFill>
                <a:latin typeface="Lucida Grande" pitchFamily="80" charset="0"/>
                <a:ea typeface="ＭＳ Ｐゴシック" charset="-128"/>
                <a:cs typeface="+mn-cs"/>
              </a:rPr>
              <a:t> please go to ‘insert’ then ‘picture’ and find your image, highlight it and ‘insert’. Resize the image and position as per the example template.</a:t>
            </a:r>
            <a:endParaRPr lang="en-US" sz="1200" kern="1200" dirty="0">
              <a:solidFill>
                <a:srgbClr val="731F43"/>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6: </a:t>
            </a:r>
            <a:r>
              <a:rPr lang="en-GB" sz="1200" b="1" kern="1200" dirty="0">
                <a:solidFill>
                  <a:schemeClr val="tx1"/>
                </a:solidFill>
                <a:latin typeface="Lucida Grande" pitchFamily="80" charset="0"/>
                <a:ea typeface="ＭＳ Ｐゴシック" charset="-128"/>
                <a:cs typeface="+mn-cs"/>
              </a:rPr>
              <a:t>Text boxes</a:t>
            </a:r>
          </a:p>
          <a:p>
            <a:pPr eaLnBrk="1" hangingPunct="1"/>
            <a:r>
              <a:rPr lang="en-GB" sz="1200" kern="1200" dirty="0">
                <a:solidFill>
                  <a:schemeClr val="tx1"/>
                </a:solidFill>
                <a:latin typeface="Lucida Grande" pitchFamily="80" charset="0"/>
                <a:ea typeface="ＭＳ Ｐゴシック" charset="-128"/>
                <a:cs typeface="+mn-cs"/>
              </a:rPr>
              <a:t>If</a:t>
            </a:r>
            <a:r>
              <a:rPr lang="en-GB" sz="1200" kern="1200" baseline="0" dirty="0">
                <a:solidFill>
                  <a:schemeClr val="tx1"/>
                </a:solidFill>
                <a:latin typeface="Lucida Grande" pitchFamily="80" charset="0"/>
                <a:ea typeface="ＭＳ Ｐゴシック" charset="-128"/>
                <a:cs typeface="+mn-cs"/>
              </a:rPr>
              <a:t> a text box is deleted, either insert a new slide (using the appropriate template) or go to another slide and copy a text box. To select a text box for copying, please click on the outer edge of the text box so that the line goes solid (not dashed). Right click your mouse and select ‘copy’, then go back and ‘paste’ it into the slide where the text box is missing which should paste into the correct position on the slide.</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dirty="0">
                <a:solidFill>
                  <a:srgbClr val="731F43"/>
                </a:solidFill>
                <a:latin typeface="Lucida Grande" pitchFamily="80" charset="0"/>
                <a:ea typeface="ＭＳ Ｐゴシック" charset="-128"/>
                <a:cs typeface="+mn-cs"/>
              </a:rPr>
              <a:t>Template slide 7: Other information</a:t>
            </a: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GB" sz="1200" b="1" kern="1200" dirty="0">
                <a:solidFill>
                  <a:schemeClr val="tx1"/>
                </a:solidFill>
                <a:latin typeface="Lucida Grande" pitchFamily="80" charset="0"/>
                <a:ea typeface="ＭＳ Ｐゴシック" charset="-128"/>
                <a:cs typeface="+mn-cs"/>
              </a:rPr>
              <a:t>Typefaces, sizes</a:t>
            </a:r>
            <a:r>
              <a:rPr lang="en-GB" sz="1200" b="1" kern="1200" baseline="0" dirty="0">
                <a:solidFill>
                  <a:schemeClr val="tx1"/>
                </a:solidFill>
                <a:latin typeface="Lucida Grande" pitchFamily="80" charset="0"/>
                <a:ea typeface="ＭＳ Ｐゴシック" charset="-128"/>
                <a:cs typeface="+mn-cs"/>
              </a:rPr>
              <a:t> and colours</a:t>
            </a: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All copy is Calibri.</a:t>
            </a:r>
          </a:p>
          <a:p>
            <a:pPr eaLnBrk="1" hangingPunct="1"/>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Slide</a:t>
            </a:r>
            <a:r>
              <a:rPr lang="en-GB" sz="1200" kern="1200" baseline="0" dirty="0">
                <a:solidFill>
                  <a:schemeClr val="tx1"/>
                </a:solidFill>
                <a:latin typeface="Lucida Grande" pitchFamily="80" charset="0"/>
                <a:ea typeface="ＭＳ Ｐゴシック" charset="-128"/>
                <a:cs typeface="+mn-cs"/>
              </a:rPr>
              <a:t> title</a:t>
            </a:r>
            <a:r>
              <a:rPr lang="en-GB" sz="1200" kern="1200" dirty="0">
                <a:solidFill>
                  <a:schemeClr val="tx1"/>
                </a:solidFill>
                <a:latin typeface="Lucida Grande" pitchFamily="80" charset="0"/>
                <a:ea typeface="ＭＳ Ｐゴシック" charset="-128"/>
                <a:cs typeface="+mn-cs"/>
              </a:rPr>
              <a:t> copy throughout:</a:t>
            </a:r>
          </a:p>
          <a:p>
            <a:pPr eaLnBrk="1" hangingPunct="1"/>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36 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i="1" kern="1200" dirty="0">
                <a:solidFill>
                  <a:schemeClr val="tx1"/>
                </a:solidFill>
                <a:latin typeface="Lucida Grande" pitchFamily="80" charset="0"/>
                <a:ea typeface="ＭＳ Ｐゴシック" charset="-128"/>
                <a:cs typeface="+mn-cs"/>
              </a:rPr>
              <a:t>Colour Lancaster University red:  </a:t>
            </a:r>
            <a:r>
              <a:rPr lang="en-GB" sz="1200" kern="1200" dirty="0">
                <a:solidFill>
                  <a:schemeClr val="tx1"/>
                </a:solidFill>
                <a:latin typeface="Lucida Grande" pitchFamily="80" charset="0"/>
                <a:ea typeface="ＭＳ Ｐゴシック" charset="-128"/>
                <a:cs typeface="+mn-cs"/>
              </a:rPr>
              <a:t>(RGB) R: 181 G: 18 B: 27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Small copy on first and last slide:</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kern="1200" dirty="0">
                <a:solidFill>
                  <a:schemeClr val="tx1"/>
                </a:solidFill>
                <a:latin typeface="Lucida Grande" pitchFamily="80" charset="0"/>
                <a:ea typeface="ＭＳ Ｐゴシック" charset="-128"/>
                <a:cs typeface="+mn-cs"/>
              </a:rPr>
              <a:t>16 point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br>
              <a:rPr lang="en-GB" sz="1200" kern="1200" dirty="0">
                <a:solidFill>
                  <a:schemeClr val="tx1"/>
                </a:solidFill>
                <a:latin typeface="Lucida Grande" pitchFamily="80" charset="0"/>
                <a:ea typeface="ＭＳ Ｐゴシック" charset="-128"/>
                <a:cs typeface="+mn-cs"/>
              </a:rPr>
            </a:b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Sub-heading</a:t>
            </a:r>
            <a:r>
              <a:rPr lang="en-GB" sz="1200" kern="1200" baseline="0" dirty="0">
                <a:solidFill>
                  <a:schemeClr val="tx1"/>
                </a:solidFill>
                <a:latin typeface="Lucida Grande" pitchFamily="80" charset="0"/>
                <a:ea typeface="ＭＳ Ｐゴシック" charset="-128"/>
                <a:cs typeface="+mn-cs"/>
              </a:rPr>
              <a:t>s</a:t>
            </a:r>
            <a:r>
              <a:rPr lang="en-GB" sz="1200" kern="1200" dirty="0">
                <a:solidFill>
                  <a:schemeClr val="tx1"/>
                </a:solidFill>
                <a:latin typeface="Lucida Grande" pitchFamily="80" charset="0"/>
                <a:ea typeface="ＭＳ Ｐゴシック" charset="-128"/>
                <a:cs typeface="+mn-cs"/>
              </a:rPr>
              <a:t>:</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  </a:t>
            </a:r>
            <a:r>
              <a:rPr lang="en-GB" sz="1200" i="0" kern="1200" dirty="0">
                <a:solidFill>
                  <a:schemeClr val="tx1"/>
                </a:solidFill>
                <a:latin typeface="Lucida Grande" pitchFamily="80" charset="0"/>
                <a:ea typeface="ＭＳ Ｐゴシック" charset="-128"/>
                <a:cs typeface="+mn-cs"/>
              </a:rPr>
              <a:t>24 point – italics</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a:t>
            </a:r>
            <a:r>
              <a:rPr lang="en-GB" sz="1200" i="1" kern="1200" baseline="0" dirty="0">
                <a:solidFill>
                  <a:schemeClr val="tx1"/>
                </a:solidFill>
                <a:latin typeface="Lucida Grande" pitchFamily="80" charset="0"/>
                <a:ea typeface="ＭＳ Ｐゴシック" charset="-128"/>
                <a:cs typeface="+mn-cs"/>
              </a:rPr>
              <a:t> </a:t>
            </a:r>
            <a:r>
              <a:rPr lang="en-GB" sz="1200" i="1" kern="1200" dirty="0">
                <a:solidFill>
                  <a:schemeClr val="tx1"/>
                </a:solidFill>
                <a:latin typeface="Lucida Grande" pitchFamily="80" charset="0"/>
                <a:ea typeface="ＭＳ Ｐゴシック" charset="-128"/>
                <a:cs typeface="+mn-cs"/>
              </a:rPr>
              <a:t>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br>
              <a:rPr lang="en-GB" sz="1200" kern="1200" dirty="0">
                <a:solidFill>
                  <a:schemeClr val="tx1"/>
                </a:solidFill>
                <a:latin typeface="Lucida Grande" pitchFamily="80" charset="0"/>
                <a:ea typeface="ＭＳ Ｐゴシック" charset="-128"/>
                <a:cs typeface="+mn-cs"/>
              </a:rPr>
            </a:br>
            <a:r>
              <a:rPr lang="en-GB" sz="1200" kern="1200" dirty="0">
                <a:solidFill>
                  <a:schemeClr val="tx1"/>
                </a:solidFill>
                <a:latin typeface="Lucida Grande" pitchFamily="80" charset="0"/>
                <a:ea typeface="ＭＳ Ｐゴシック" charset="-128"/>
                <a:cs typeface="+mn-cs"/>
              </a:rPr>
              <a:t>Bullets copy and body copy:</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Size:</a:t>
            </a:r>
            <a:r>
              <a:rPr lang="en-GB" sz="1200" i="1"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24 point</a:t>
            </a:r>
            <a:r>
              <a:rPr lang="en-GB" sz="1200" kern="1200" baseline="0" dirty="0">
                <a:solidFill>
                  <a:schemeClr val="tx1"/>
                </a:solidFill>
                <a:latin typeface="Lucida Grande" pitchFamily="80" charset="0"/>
                <a:ea typeface="ＭＳ Ｐゴシック" charset="-128"/>
                <a:cs typeface="+mn-cs"/>
              </a:rPr>
              <a:t> </a:t>
            </a:r>
            <a:r>
              <a:rPr lang="en-GB" sz="1200" kern="1200" dirty="0">
                <a:solidFill>
                  <a:schemeClr val="tx1"/>
                </a:solidFill>
                <a:latin typeface="Lucida Grande" pitchFamily="80" charset="0"/>
                <a:ea typeface="ＭＳ Ｐゴシック" charset="-128"/>
                <a:cs typeface="+mn-cs"/>
              </a:rPr>
              <a:t>(see below for a further option)</a:t>
            </a:r>
            <a:br>
              <a:rPr lang="en-GB" sz="1200" kern="1200" dirty="0">
                <a:solidFill>
                  <a:schemeClr val="tx1"/>
                </a:solidFill>
                <a:latin typeface="Lucida Grande" pitchFamily="80" charset="0"/>
                <a:ea typeface="ＭＳ Ｐゴシック" charset="-128"/>
                <a:cs typeface="+mn-cs"/>
              </a:rPr>
            </a:br>
            <a:r>
              <a:rPr lang="en-GB" sz="1200" i="1" kern="1200" dirty="0">
                <a:solidFill>
                  <a:schemeClr val="tx1"/>
                </a:solidFill>
                <a:latin typeface="Lucida Grande" pitchFamily="80" charset="0"/>
                <a:ea typeface="ＭＳ Ｐゴシック" charset="-128"/>
                <a:cs typeface="+mn-cs"/>
              </a:rPr>
              <a:t>Colour grey:  </a:t>
            </a:r>
            <a:r>
              <a:rPr lang="en-GB" sz="1200" kern="1200" dirty="0">
                <a:solidFill>
                  <a:schemeClr val="tx1"/>
                </a:solidFill>
                <a:latin typeface="Lucida Grande" pitchFamily="80" charset="0"/>
                <a:ea typeface="ＭＳ Ｐゴシック" charset="-128"/>
                <a:cs typeface="+mn-cs"/>
              </a:rPr>
              <a:t>(RGB) R: 102 G: 102 B: 102 (recent</a:t>
            </a:r>
            <a:r>
              <a:rPr lang="en-GB" sz="1200" kern="1200" baseline="0" dirty="0">
                <a:solidFill>
                  <a:schemeClr val="tx1"/>
                </a:solidFill>
                <a:latin typeface="Lucida Grande" pitchFamily="80" charset="0"/>
                <a:ea typeface="ＭＳ Ｐゴシック" charset="-128"/>
                <a:cs typeface="+mn-cs"/>
              </a:rPr>
              <a:t> colours on PowerPoint)</a:t>
            </a:r>
            <a:endParaRPr lang="en-GB" sz="1200" kern="1200" dirty="0">
              <a:solidFill>
                <a:schemeClr val="tx1"/>
              </a:solidFill>
              <a:latin typeface="Lucida Grande" pitchFamily="80" charset="0"/>
              <a:ea typeface="ＭＳ Ｐゴシック" charset="-128"/>
              <a:cs typeface="+mn-cs"/>
            </a:endParaRPr>
          </a:p>
          <a:p>
            <a:pPr eaLnBrk="1" hangingPunct="1"/>
            <a:r>
              <a:rPr lang="en-GB" sz="1200" kern="1200" dirty="0">
                <a:solidFill>
                  <a:schemeClr val="tx1"/>
                </a:solidFill>
                <a:latin typeface="Lucida Grande" pitchFamily="80" charset="0"/>
                <a:ea typeface="ＭＳ Ｐゴシック" charset="-128"/>
                <a:cs typeface="+mn-cs"/>
              </a:rPr>
              <a:t>It</a:t>
            </a:r>
            <a:r>
              <a:rPr lang="en-GB" sz="1200" kern="1200" baseline="0" dirty="0">
                <a:solidFill>
                  <a:schemeClr val="tx1"/>
                </a:solidFill>
                <a:latin typeface="Lucida Grande" pitchFamily="80" charset="0"/>
                <a:ea typeface="ＭＳ Ｐゴシック" charset="-128"/>
                <a:cs typeface="+mn-cs"/>
              </a:rPr>
              <a:t> isn’t advisable to have too much text on a slide, however on rare occasions it may be necessary, therefore there is a slide using 20 point bullet pointed text.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chemeClr val="tx1"/>
              </a:solidFill>
              <a:latin typeface="Lucida Grande" pitchFamily="80" charset="0"/>
              <a:ea typeface="ＭＳ Ｐゴシック" charset="-128"/>
              <a:cs typeface="+mn-cs"/>
            </a:endParaRPr>
          </a:p>
          <a:p>
            <a:pPr eaLnBrk="1" hangingPunct="1"/>
            <a:r>
              <a:rPr lang="en-US" sz="1200" b="1" kern="1200" dirty="0">
                <a:solidFill>
                  <a:schemeClr val="tx1"/>
                </a:solidFill>
                <a:latin typeface="Lucida Grande" pitchFamily="80" charset="0"/>
                <a:ea typeface="ＭＳ Ｐゴシック" charset="-128"/>
                <a:cs typeface="+mn-cs"/>
              </a:rPr>
              <a:t>Line</a:t>
            </a:r>
            <a:r>
              <a:rPr lang="en-US" sz="1200" b="1" kern="1200" baseline="0" dirty="0">
                <a:solidFill>
                  <a:schemeClr val="tx1"/>
                </a:solidFill>
                <a:latin typeface="Lucida Grande" pitchFamily="80" charset="0"/>
                <a:ea typeface="ＭＳ Ｐゴシック" charset="-128"/>
                <a:cs typeface="+mn-cs"/>
              </a:rPr>
              <a:t> spacing and alignment</a:t>
            </a:r>
          </a:p>
          <a:p>
            <a:pPr eaLnBrk="1" hangingPunct="1"/>
            <a:r>
              <a:rPr lang="en-US" sz="1200" kern="1200" baseline="0" dirty="0">
                <a:solidFill>
                  <a:schemeClr val="tx1"/>
                </a:solidFill>
                <a:latin typeface="Lucida Grande" pitchFamily="80" charset="0"/>
                <a:ea typeface="ＭＳ Ｐゴシック" charset="-128"/>
                <a:cs typeface="+mn-cs"/>
              </a:rPr>
              <a:t>Single line spacing (apart from the main headings which is ‘exactly 35 point’)</a:t>
            </a:r>
          </a:p>
          <a:p>
            <a:pPr eaLnBrk="1" hangingPunct="1"/>
            <a:r>
              <a:rPr lang="en-US" sz="1200" kern="1200" baseline="0" dirty="0">
                <a:solidFill>
                  <a:schemeClr val="tx1"/>
                </a:solidFill>
                <a:latin typeface="Lucida Grande" pitchFamily="80" charset="0"/>
                <a:ea typeface="ＭＳ Ｐゴシック" charset="-128"/>
                <a:cs typeface="+mn-cs"/>
              </a:rPr>
              <a:t>All text is aligned left</a:t>
            </a:r>
            <a:endParaRPr lang="en-US" sz="1200" kern="1200" dirty="0">
              <a:solidFill>
                <a:schemeClr val="tx1"/>
              </a:solidFill>
              <a:latin typeface="Lucida Grande" pitchFamily="80" charset="0"/>
              <a:ea typeface="ＭＳ Ｐゴシック" charset="-128"/>
              <a:cs typeface="+mn-cs"/>
            </a:endParaRPr>
          </a:p>
          <a:p>
            <a:pPr eaLnBrk="1" hangingPunct="1"/>
            <a:endParaRPr lang="en-US" sz="1200" kern="1200" dirty="0">
              <a:solidFill>
                <a:srgbClr val="731F43"/>
              </a:solidFill>
              <a:latin typeface="Lucida Grande" pitchFamily="80" charset="0"/>
              <a:ea typeface="ＭＳ Ｐゴシック" charset="-128"/>
              <a:cs typeface="+mn-cs"/>
            </a:endParaRPr>
          </a:p>
          <a:p>
            <a:pPr eaLnBrk="1" hangingPunct="1"/>
            <a:r>
              <a:rPr lang="en-US" sz="1200" b="1" kern="1200" baseline="0" dirty="0">
                <a:solidFill>
                  <a:srgbClr val="731F43"/>
                </a:solidFill>
                <a:latin typeface="Lucida Grande" pitchFamily="80" charset="0"/>
                <a:ea typeface="ＭＳ Ｐゴシック" charset="-128"/>
                <a:cs typeface="+mn-cs"/>
              </a:rPr>
              <a:t>Slide title options</a:t>
            </a:r>
          </a:p>
          <a:p>
            <a:pPr eaLnBrk="1" hangingPunct="1"/>
            <a:r>
              <a:rPr lang="en-US" sz="1200" kern="1200" baseline="0" dirty="0">
                <a:solidFill>
                  <a:srgbClr val="731F43"/>
                </a:solidFill>
                <a:latin typeface="Lucida Grande" pitchFamily="80" charset="0"/>
                <a:ea typeface="ＭＳ Ｐゴシック" charset="-128"/>
                <a:cs typeface="+mn-cs"/>
              </a:rPr>
              <a:t>There are two options for titles on the slides – one line or two lines for longer titles. Ideally, the one line title should be used, however on rare occasions a two line title maybe needed.</a:t>
            </a:r>
            <a:endParaRPr lang="en-US" sz="1200" kern="1200" dirty="0">
              <a:solidFill>
                <a:srgbClr val="731F43"/>
              </a:solidFill>
              <a:latin typeface="Lucida Grande" pitchFamily="80" charset="0"/>
              <a:ea typeface="ＭＳ Ｐゴシック" charset="-128"/>
              <a:cs typeface="+mn-cs"/>
            </a:endParaRPr>
          </a:p>
        </p:txBody>
      </p:sp>
      <p:sp>
        <p:nvSpPr>
          <p:cNvPr id="4" name="Slide Number Placeholder 3"/>
          <p:cNvSpPr>
            <a:spLocks noGrp="1"/>
          </p:cNvSpPr>
          <p:nvPr>
            <p:ph type="sldNum" sz="quarter" idx="10"/>
          </p:nvPr>
        </p:nvSpPr>
        <p:spPr/>
        <p:txBody>
          <a:bodyPr/>
          <a:lstStyle/>
          <a:p>
            <a:fld id="{0EC8AF62-0413-459D-A055-9BD345497D1F}" type="slidenum">
              <a:rPr lang="en-GB" smtClean="0"/>
              <a:pPr/>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1: presentation title">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Slide 9: discussion">
    <p:spTree>
      <p:nvGrpSpPr>
        <p:cNvPr id="1" name=""/>
        <p:cNvGrpSpPr/>
        <p:nvPr/>
      </p:nvGrpSpPr>
      <p:grpSpPr>
        <a:xfrm>
          <a:off x="0" y="0"/>
          <a:ext cx="0" cy="0"/>
          <a:chOff x="0" y="0"/>
          <a:chExt cx="0" cy="0"/>
        </a:xfrm>
      </p:grpSpPr>
      <p:sp>
        <p:nvSpPr>
          <p:cNvPr id="2" name="Title 1"/>
          <p:cNvSpPr>
            <a:spLocks noGrp="1"/>
          </p:cNvSpPr>
          <p:nvPr>
            <p:ph type="ctrTitle"/>
          </p:nvPr>
        </p:nvSpPr>
        <p:spPr>
          <a:xfrm>
            <a:off x="467544" y="1556792"/>
            <a:ext cx="8208912" cy="1010543"/>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467544" y="2852936"/>
            <a:ext cx="8208912" cy="720080"/>
          </a:xfrm>
          <a:prstGeom prst="rect">
            <a:avLst/>
          </a:prstGeom>
        </p:spPr>
        <p:txBody>
          <a:bodyPr/>
          <a:lstStyle>
            <a:lvl1pPr marL="0" indent="0" algn="l">
              <a:spcBef>
                <a:spcPts val="0"/>
              </a:spcBef>
              <a:buNone/>
              <a:defRPr sz="1600">
                <a:solidFill>
                  <a:srgbClr val="66666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lide 2: text only">
    <p:spTree>
      <p:nvGrpSpPr>
        <p:cNvPr id="1" name=""/>
        <p:cNvGrpSpPr/>
        <p:nvPr/>
      </p:nvGrpSpPr>
      <p:grpSpPr>
        <a:xfrm>
          <a:off x="0" y="0"/>
          <a:ext cx="0" cy="0"/>
          <a:chOff x="0" y="0"/>
          <a:chExt cx="0" cy="0"/>
        </a:xfrm>
      </p:grpSpPr>
      <p:sp>
        <p:nvSpPr>
          <p:cNvPr id="2"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4"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lide 3: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lide 4: smaller text using bullet point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8" y="1844675"/>
            <a:ext cx="8425184"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lide 5: text with bullet points &amp; 1 image">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5"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p:txBody>
      </p:sp>
      <p:sp>
        <p:nvSpPr>
          <p:cNvPr id="2" name="TextBox 1"/>
          <p:cNvSpPr txBox="1"/>
          <p:nvPr userDrawn="1"/>
        </p:nvSpPr>
        <p:spPr>
          <a:xfrm>
            <a:off x="3234022" y="3660229"/>
            <a:ext cx="184666" cy="369332"/>
          </a:xfrm>
          <a:prstGeom prst="rect">
            <a:avLst/>
          </a:prstGeom>
          <a:noFill/>
        </p:spPr>
        <p:txBody>
          <a:bodyPr wrap="none" rtlCol="0">
            <a:spAutoFit/>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lide 6: text with bullet points &amp; 2 images">
    <p:spTree>
      <p:nvGrpSpPr>
        <p:cNvPr id="1" name=""/>
        <p:cNvGrpSpPr/>
        <p:nvPr/>
      </p:nvGrpSpPr>
      <p:grpSpPr>
        <a:xfrm>
          <a:off x="0" y="0"/>
          <a:ext cx="0" cy="0"/>
          <a:chOff x="0" y="0"/>
          <a:chExt cx="0" cy="0"/>
        </a:xfrm>
      </p:grpSpPr>
      <p:sp>
        <p:nvSpPr>
          <p:cNvPr id="4"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
        <p:nvSpPr>
          <p:cNvPr id="8" name="Text Placeholder 7"/>
          <p:cNvSpPr>
            <a:spLocks noGrp="1"/>
          </p:cNvSpPr>
          <p:nvPr>
            <p:ph type="body" sz="quarter" idx="14"/>
          </p:nvPr>
        </p:nvSpPr>
        <p:spPr>
          <a:xfrm>
            <a:off x="395289" y="1844675"/>
            <a:ext cx="5400847" cy="4752975"/>
          </a:xfrm>
          <a:prstGeom prst="rect">
            <a:avLst/>
          </a:prstGeom>
        </p:spPr>
        <p:txBody>
          <a:bodyPr vert="horz"/>
          <a:lstStyle>
            <a:lvl1pPr>
              <a:defRPr sz="2400">
                <a:solidFill>
                  <a:srgbClr val="666666"/>
                </a:solidFill>
              </a:defRPr>
            </a:lvl1pPr>
            <a:lvl2pPr>
              <a:defRPr sz="2200">
                <a:solidFill>
                  <a:srgbClr val="666666"/>
                </a:solidFill>
              </a:defRPr>
            </a:lvl2pPr>
            <a:lvl3pPr>
              <a:defRPr sz="2000">
                <a:solidFill>
                  <a:srgbClr val="666666"/>
                </a:solidFill>
              </a:defRPr>
            </a:lvl3pPr>
            <a:lvl4pPr>
              <a:defRPr sz="1800">
                <a:solidFill>
                  <a:srgbClr val="666666"/>
                </a:solidFill>
              </a:defRPr>
            </a:lvl4pPr>
            <a:lvl5pPr>
              <a:defRPr sz="1600">
                <a:solidFill>
                  <a:srgbClr val="666666"/>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lide 7: image only">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lide 8: blank slide">
    <p:spTree>
      <p:nvGrpSpPr>
        <p:cNvPr id="1" name=""/>
        <p:cNvGrpSpPr/>
        <p:nvPr/>
      </p:nvGrpSpPr>
      <p:grpSpPr>
        <a:xfrm>
          <a:off x="0" y="0"/>
          <a:ext cx="0" cy="0"/>
          <a:chOff x="0" y="0"/>
          <a:chExt cx="0" cy="0"/>
        </a:xfrm>
      </p:grpSpPr>
      <p:sp>
        <p:nvSpPr>
          <p:cNvPr id="3" name="Title 1"/>
          <p:cNvSpPr>
            <a:spLocks noGrp="1"/>
          </p:cNvSpPr>
          <p:nvPr>
            <p:ph type="ctrTitle"/>
          </p:nvPr>
        </p:nvSpPr>
        <p:spPr>
          <a:xfrm>
            <a:off x="395536" y="548680"/>
            <a:ext cx="6768752" cy="1152128"/>
          </a:xfrm>
          <a:prstGeom prst="rect">
            <a:avLst/>
          </a:prstGeom>
        </p:spPr>
        <p:txBody>
          <a:bodyPr/>
          <a:lstStyle>
            <a:lvl1pPr algn="l">
              <a:lnSpc>
                <a:spcPts val="3500"/>
              </a:lnSpc>
              <a:defRPr sz="3600">
                <a:solidFill>
                  <a:srgbClr val="B5121B"/>
                </a:solidFill>
              </a:defRPr>
            </a:lvl1pPr>
          </a:lstStyle>
          <a:p>
            <a:r>
              <a:rPr lang="en-US" dirty="0"/>
              <a:t>Click to edit Master title style</a:t>
            </a:r>
            <a:endParaRPr lang="en-GB"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9"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5"/>
          <p:cNvPicPr>
            <a:picLocks noChangeAspect="1" noChangeArrowheads="1"/>
          </p:cNvPicPr>
          <p:nvPr userDrawn="1"/>
        </p:nvPicPr>
        <p:blipFill>
          <a:blip r:embed="rId4">
            <a:extLst>
              <a:ext uri="{28A0092B-C50C-407E-A947-70E740481C1C}">
                <a14:useLocalDpi xmlns:a14="http://schemas.microsoft.com/office/drawing/2010/main" val="0"/>
              </a:ext>
            </a:extLst>
          </a:blip>
          <a:stretch>
            <a:fillRect/>
          </a:stretch>
        </p:blipFill>
        <p:spPr bwMode="auto">
          <a:xfrm>
            <a:off x="1" y="1101"/>
            <a:ext cx="9143998" cy="6862147"/>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68" r:id="rId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8"/>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5522" y="3879"/>
            <a:ext cx="9132955" cy="6862148"/>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4000" dirty="0"/>
              <a:t>Carriage of Goods by Sea: Limitation of Liability and COGSA 1992</a:t>
            </a:r>
          </a:p>
        </p:txBody>
      </p:sp>
      <p:sp>
        <p:nvSpPr>
          <p:cNvPr id="3" name="Subtitle 2"/>
          <p:cNvSpPr>
            <a:spLocks noGrp="1"/>
          </p:cNvSpPr>
          <p:nvPr>
            <p:ph type="subTitle" idx="1"/>
          </p:nvPr>
        </p:nvSpPr>
        <p:spPr/>
        <p:txBody>
          <a:bodyPr/>
          <a:lstStyle/>
          <a:p>
            <a:pPr>
              <a:spcBef>
                <a:spcPts val="0"/>
              </a:spcBef>
            </a:pPr>
            <a:endParaRPr lang="en-GB" dirty="0"/>
          </a:p>
          <a:p>
            <a:pPr>
              <a:spcBef>
                <a:spcPts val="0"/>
              </a:spcBef>
            </a:pPr>
            <a:r>
              <a:rPr lang="en-GB" dirty="0"/>
              <a:t>Dr Mukarrum Ahmed, PhD (Aberdeen), Barrister (Lincoln’s Inn) and Lecturer in Business Law</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Recap of Hague-Visby Rules and practical application of the carrier’s obligations</a:t>
            </a:r>
          </a:p>
          <a:p>
            <a:r>
              <a:rPr lang="en-GB" sz="2800" dirty="0"/>
              <a:t>Introduction to carrier’s limitation of liability</a:t>
            </a:r>
          </a:p>
          <a:p>
            <a:endParaRPr lang="en-GB" sz="2800" dirty="0"/>
          </a:p>
          <a:p>
            <a:endParaRPr lang="en-GB" sz="2800" dirty="0"/>
          </a:p>
        </p:txBody>
      </p:sp>
    </p:spTree>
    <p:extLst>
      <p:ext uri="{BB962C8B-B14F-4D97-AF65-F5344CB8AC3E}">
        <p14:creationId xmlns:p14="http://schemas.microsoft.com/office/powerpoint/2010/main" val="11564152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Recap of Hague-Visby Rules 1</a:t>
            </a:r>
          </a:p>
        </p:txBody>
      </p:sp>
      <p:sp>
        <p:nvSpPr>
          <p:cNvPr id="3" name="Subtitle 2"/>
          <p:cNvSpPr>
            <a:spLocks noGrp="1"/>
          </p:cNvSpPr>
          <p:nvPr>
            <p:ph type="body" sz="quarter" idx="14"/>
          </p:nvPr>
        </p:nvSpPr>
        <p:spPr>
          <a:prstGeom prst="rect">
            <a:avLst/>
          </a:prstGeom>
        </p:spPr>
        <p:txBody>
          <a:bodyPr/>
          <a:lstStyle/>
          <a:p>
            <a:r>
              <a:rPr lang="en-GB" sz="2800" dirty="0"/>
              <a:t>When do the Hague-Visby Rules Apply? Article 10</a:t>
            </a:r>
          </a:p>
          <a:p>
            <a:r>
              <a:rPr lang="en-GB" sz="2800" b="1" dirty="0"/>
              <a:t>The Carrier’s obligations:</a:t>
            </a:r>
          </a:p>
          <a:p>
            <a:r>
              <a:rPr lang="en-GB" sz="2800" dirty="0"/>
              <a:t>Article 3 Rule 1 – Seaworthiness before and at the beginning of the voyage – Due diligence</a:t>
            </a:r>
          </a:p>
          <a:p>
            <a:r>
              <a:rPr lang="en-GB" sz="2800" dirty="0"/>
              <a:t>Article 3 Rule 2 – The obligation to properly and carefully load, stow, handle, carry goods – applies throughout the voyage </a:t>
            </a:r>
          </a:p>
          <a:p>
            <a:r>
              <a:rPr lang="en-GB" sz="2800" dirty="0"/>
              <a:t>Article 4 – Excepted Perils - An act, neglect or fault of the carrier in the navigation and management of the ship – very controversial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Recap of Hague-Visby Rules 2</a:t>
            </a:r>
          </a:p>
        </p:txBody>
      </p:sp>
      <p:sp>
        <p:nvSpPr>
          <p:cNvPr id="3" name="Subtitle 2"/>
          <p:cNvSpPr>
            <a:spLocks noGrp="1"/>
          </p:cNvSpPr>
          <p:nvPr>
            <p:ph type="body" sz="quarter" idx="14"/>
          </p:nvPr>
        </p:nvSpPr>
        <p:spPr>
          <a:prstGeom prst="rect">
            <a:avLst/>
          </a:prstGeom>
        </p:spPr>
        <p:txBody>
          <a:bodyPr/>
          <a:lstStyle/>
          <a:p>
            <a:r>
              <a:rPr lang="en-GB" sz="2000" b="1" dirty="0"/>
              <a:t>Practical application of the carrier’s obligations under the Hague-Visby Rules and how the burden of proof shifts [as per </a:t>
            </a:r>
            <a:r>
              <a:rPr lang="en-GB" sz="2000" b="1" i="1" dirty="0"/>
              <a:t>The Hellenic Dolphin</a:t>
            </a:r>
            <a:r>
              <a:rPr lang="en-GB" sz="2000" b="1" dirty="0"/>
              <a:t> [1978] 2 Lloyd's Rep. 336 (Lloyd J)]</a:t>
            </a:r>
          </a:p>
          <a:p>
            <a:r>
              <a:rPr lang="en-GB" sz="2000" i="1" dirty="0"/>
              <a:t>Prima facie</a:t>
            </a:r>
            <a:r>
              <a:rPr lang="en-GB" sz="2000" dirty="0"/>
              <a:t> breach of Article 3 Rule 2 where goods were shipped in apparent good order and condition (Clean bill of lading) but arrived damaged or were lost at sea.</a:t>
            </a:r>
          </a:p>
          <a:p>
            <a:r>
              <a:rPr lang="en-GB" sz="2000" dirty="0"/>
              <a:t>Shipper pleads and proves that the breach of Article 3 Rule 2 caused the damage to the goods.</a:t>
            </a:r>
          </a:p>
          <a:p>
            <a:r>
              <a:rPr lang="en-GB" sz="2000" dirty="0"/>
              <a:t>Carrier pleads and proves that he is covered by one of the Excepted Perils under Article 4. </a:t>
            </a:r>
          </a:p>
          <a:p>
            <a:r>
              <a:rPr lang="en-GB" sz="2000" dirty="0"/>
              <a:t>Shipper rebuts the applicability of the Excepted Peril and pleads and proves breach of Article 3 Rule 1.</a:t>
            </a:r>
          </a:p>
          <a:p>
            <a:r>
              <a:rPr lang="en-GB" sz="2000" dirty="0"/>
              <a:t>Carrier pleads and proves that the unseaworthiness of the vessel was not due to a lack of due diligence.  </a:t>
            </a:r>
          </a:p>
        </p:txBody>
      </p:sp>
    </p:spTree>
    <p:extLst>
      <p:ext uri="{BB962C8B-B14F-4D97-AF65-F5344CB8AC3E}">
        <p14:creationId xmlns:p14="http://schemas.microsoft.com/office/powerpoint/2010/main" val="30332936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Limitation of Carrier’s Liability</a:t>
            </a:r>
          </a:p>
        </p:txBody>
      </p:sp>
      <p:sp>
        <p:nvSpPr>
          <p:cNvPr id="3" name="Subtitle 2"/>
          <p:cNvSpPr>
            <a:spLocks noGrp="1"/>
          </p:cNvSpPr>
          <p:nvPr>
            <p:ph type="body" sz="quarter" idx="14"/>
          </p:nvPr>
        </p:nvSpPr>
        <p:spPr>
          <a:prstGeom prst="rect">
            <a:avLst/>
          </a:prstGeom>
        </p:spPr>
        <p:txBody>
          <a:bodyPr/>
          <a:lstStyle/>
          <a:p>
            <a:r>
              <a:rPr lang="en-GB" sz="3200" dirty="0"/>
              <a:t>Salvage and wreck removal are not covered</a:t>
            </a:r>
          </a:p>
          <a:p>
            <a:r>
              <a:rPr lang="en-GB" sz="3200" dirty="0"/>
              <a:t>All other claims are subject to limitation </a:t>
            </a:r>
          </a:p>
          <a:p>
            <a:r>
              <a:rPr lang="en-GB" sz="3200" dirty="0"/>
              <a:t>Even if you managed to show that there is a breach of Art.3, the carrier can limit their liability. </a:t>
            </a:r>
          </a:p>
          <a:p>
            <a:r>
              <a:rPr lang="en-GB" sz="3200" dirty="0"/>
              <a:t>A fundamental principle of maritime law is the ability of a carrier to limit its liability.</a:t>
            </a:r>
            <a:endParaRPr lang="en-GB" sz="3200" dirty="0">
              <a:solidFill>
                <a:srgbClr val="7F7F7F"/>
              </a:solidFill>
            </a:endParaRPr>
          </a:p>
        </p:txBody>
      </p:sp>
    </p:spTree>
    <p:extLst>
      <p:ext uri="{BB962C8B-B14F-4D97-AF65-F5344CB8AC3E}">
        <p14:creationId xmlns:p14="http://schemas.microsoft.com/office/powerpoint/2010/main" val="17534258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The limitation of liability provision in the Hague-Visby Rules.</a:t>
            </a:r>
          </a:p>
          <a:p>
            <a:r>
              <a:rPr lang="en-GB" sz="2800" dirty="0"/>
              <a:t>The application of the limitation of liability provision to good carried in containers.</a:t>
            </a:r>
          </a:p>
          <a:p>
            <a:r>
              <a:rPr lang="en-GB" sz="2800" dirty="0"/>
              <a:t>Exception to limitation of liability and a contractually agreed limitation of liability.</a:t>
            </a:r>
          </a:p>
          <a:p>
            <a:endParaRPr lang="en-GB" sz="2800" dirty="0"/>
          </a:p>
          <a:p>
            <a:endParaRPr lang="en-GB" sz="2800" dirty="0"/>
          </a:p>
          <a:p>
            <a:endParaRPr lang="en-GB" sz="2800" dirty="0"/>
          </a:p>
        </p:txBody>
      </p:sp>
    </p:spTree>
    <p:extLst>
      <p:ext uri="{BB962C8B-B14F-4D97-AF65-F5344CB8AC3E}">
        <p14:creationId xmlns:p14="http://schemas.microsoft.com/office/powerpoint/2010/main" val="339087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Limitation of Carrier’s Liability</a:t>
            </a:r>
          </a:p>
        </p:txBody>
      </p:sp>
      <p:sp>
        <p:nvSpPr>
          <p:cNvPr id="3" name="Subtitle 2"/>
          <p:cNvSpPr>
            <a:spLocks noGrp="1"/>
          </p:cNvSpPr>
          <p:nvPr>
            <p:ph type="body" sz="quarter" idx="14"/>
          </p:nvPr>
        </p:nvSpPr>
        <p:spPr>
          <a:prstGeom prst="rect">
            <a:avLst/>
          </a:prstGeom>
        </p:spPr>
        <p:txBody>
          <a:bodyPr/>
          <a:lstStyle/>
          <a:p>
            <a:r>
              <a:rPr lang="en-GB" sz="2000" dirty="0"/>
              <a:t>Article 4 rule 5 </a:t>
            </a:r>
          </a:p>
          <a:p>
            <a:r>
              <a:rPr lang="en-GB" sz="2000" dirty="0"/>
              <a:t>“Unless the nature and value of such goods have been declared by the shipper before shipment and inserted in the bill of lading, (sea carriage document), neither the carrier nor the ship shall in any event be or become liable for any loss or damage to or in connection with the goods in an amount exceeding 666.67 units of account per package or unit or 2 units of account per kilogram of gross weight of the goods lost or damaged, whichever is the higher.”</a:t>
            </a:r>
          </a:p>
          <a:p>
            <a:r>
              <a:rPr lang="en-GB" sz="2000" dirty="0"/>
              <a:t>If your claims are more valuable than this, you should get insurance. </a:t>
            </a:r>
          </a:p>
          <a:p>
            <a:r>
              <a:rPr lang="en-GB" sz="2000" dirty="0"/>
              <a:t>Anything that is more than 333.34 kg, you’ll get more money, this assumes the container is the unit, it doesn’t have to be, it depends on the bill of lading.</a:t>
            </a:r>
            <a:endParaRPr lang="en-GB" sz="2000" dirty="0">
              <a:solidFill>
                <a:srgbClr val="7F7F7F"/>
              </a:solidFill>
            </a:endParaRPr>
          </a:p>
        </p:txBody>
      </p:sp>
    </p:spTree>
    <p:extLst>
      <p:ext uri="{BB962C8B-B14F-4D97-AF65-F5344CB8AC3E}">
        <p14:creationId xmlns:p14="http://schemas.microsoft.com/office/powerpoint/2010/main" val="4525679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Limitation of Carrier’s Liability</a:t>
            </a:r>
          </a:p>
        </p:txBody>
      </p:sp>
      <p:sp>
        <p:nvSpPr>
          <p:cNvPr id="3" name="Subtitle 2"/>
          <p:cNvSpPr>
            <a:spLocks noGrp="1"/>
          </p:cNvSpPr>
          <p:nvPr>
            <p:ph type="body" sz="quarter" idx="14"/>
          </p:nvPr>
        </p:nvSpPr>
        <p:spPr>
          <a:prstGeom prst="rect">
            <a:avLst/>
          </a:prstGeom>
        </p:spPr>
        <p:txBody>
          <a:bodyPr/>
          <a:lstStyle/>
          <a:p>
            <a:r>
              <a:rPr lang="en-GB" sz="1800" b="1" dirty="0"/>
              <a:t>Limitation of carrier’s liability - Containers</a:t>
            </a:r>
            <a:r>
              <a:rPr lang="en-GB" sz="1800" dirty="0"/>
              <a:t>: </a:t>
            </a:r>
          </a:p>
          <a:p>
            <a:r>
              <a:rPr lang="en-GB" sz="1800" dirty="0"/>
              <a:t>For containers –may be either the number of packages or units noted on bill of lading or container itself. </a:t>
            </a:r>
          </a:p>
          <a:p>
            <a:r>
              <a:rPr lang="en-GB" sz="1800" dirty="0"/>
              <a:t>You can say that in your container there are 10 units of whiskey in it, i.e. ten things per limitation of liability, if you fails to mention what is in the container, then the limit of liability is the one container, master will want to be each container to be 1 unit because of the limitation of liability </a:t>
            </a:r>
          </a:p>
          <a:p>
            <a:r>
              <a:rPr lang="en-GB" sz="1800" dirty="0"/>
              <a:t>Latter may limit liability and not strictly interpreted </a:t>
            </a:r>
          </a:p>
          <a:p>
            <a:r>
              <a:rPr lang="en-GB" sz="1800" dirty="0"/>
              <a:t>Carriers will thus often attempt to limit bill of lading to simply recording the container as a unit (article 3 rule 8 renders void attempt to remove shipper’s choice). </a:t>
            </a:r>
          </a:p>
          <a:p>
            <a:r>
              <a:rPr lang="en-GB" sz="1800" i="1" dirty="0"/>
              <a:t>El Greco (Australia) Pty Ltd v Mediterranean Shipping Co SA </a:t>
            </a:r>
            <a:r>
              <a:rPr lang="en-GB" sz="1800" dirty="0"/>
              <a:t>[2004] FCAFC 202. </a:t>
            </a:r>
          </a:p>
          <a:p>
            <a:r>
              <a:rPr lang="en-GB" sz="1800" dirty="0"/>
              <a:t>Bill of lading –“1 x 20ft FCL(full container load)/FCL general purpose container said to contain 200945 pieces poster and prints” </a:t>
            </a:r>
          </a:p>
          <a:p>
            <a:r>
              <a:rPr lang="en-GB" sz="1800" dirty="0"/>
              <a:t>A claim for breach of Art.3.2 </a:t>
            </a:r>
          </a:p>
          <a:p>
            <a:r>
              <a:rPr lang="en-GB" sz="1800" dirty="0"/>
              <a:t>Under packages number ‘1’ listed and at bottom under ‘total number of packages’ </a:t>
            </a:r>
          </a:p>
          <a:p>
            <a:r>
              <a:rPr lang="en-GB" sz="1800" dirty="0"/>
              <a:t>Court found that for limitation purposes there was 1 unit – the container </a:t>
            </a:r>
            <a:endParaRPr lang="en-GB" sz="1800" dirty="0">
              <a:solidFill>
                <a:srgbClr val="7F7F7F"/>
              </a:solidFill>
            </a:endParaRPr>
          </a:p>
        </p:txBody>
      </p:sp>
    </p:spTree>
    <p:extLst>
      <p:ext uri="{BB962C8B-B14F-4D97-AF65-F5344CB8AC3E}">
        <p14:creationId xmlns:p14="http://schemas.microsoft.com/office/powerpoint/2010/main" val="42315385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Limitation of Carrier’s Liability</a:t>
            </a:r>
          </a:p>
        </p:txBody>
      </p:sp>
      <p:sp>
        <p:nvSpPr>
          <p:cNvPr id="3" name="Subtitle 2"/>
          <p:cNvSpPr>
            <a:spLocks noGrp="1"/>
          </p:cNvSpPr>
          <p:nvPr>
            <p:ph type="body" sz="quarter" idx="14"/>
          </p:nvPr>
        </p:nvSpPr>
        <p:spPr>
          <a:prstGeom prst="rect">
            <a:avLst/>
          </a:prstGeom>
        </p:spPr>
        <p:txBody>
          <a:bodyPr/>
          <a:lstStyle/>
          <a:p>
            <a:r>
              <a:rPr lang="en-GB" sz="2800" b="1" dirty="0"/>
              <a:t>Narrow exception</a:t>
            </a:r>
            <a:r>
              <a:rPr lang="en-GB" sz="2800" dirty="0"/>
              <a:t> – when damage resulted from act or omission done with intent to cause damage or recklessly and with knowledge that damage will result. </a:t>
            </a:r>
          </a:p>
          <a:p>
            <a:r>
              <a:rPr lang="en-GB" sz="2800" dirty="0"/>
              <a:t>The only time when you can claim full liability from the carrier </a:t>
            </a:r>
          </a:p>
          <a:p>
            <a:r>
              <a:rPr lang="en-GB" sz="2800" dirty="0"/>
              <a:t>Carrier normally required to advise shipper of limits and can contract for higher limits </a:t>
            </a:r>
            <a:r>
              <a:rPr lang="en-GB" sz="2800" dirty="0" err="1"/>
              <a:t>etc</a:t>
            </a:r>
            <a:r>
              <a:rPr lang="en-GB" sz="1800" dirty="0"/>
              <a:t> </a:t>
            </a:r>
            <a:endParaRPr lang="en-GB" sz="1800" dirty="0">
              <a:solidFill>
                <a:srgbClr val="7F7F7F"/>
              </a:solidFill>
            </a:endParaRPr>
          </a:p>
        </p:txBody>
      </p:sp>
    </p:spTree>
    <p:extLst>
      <p:ext uri="{BB962C8B-B14F-4D97-AF65-F5344CB8AC3E}">
        <p14:creationId xmlns:p14="http://schemas.microsoft.com/office/powerpoint/2010/main" val="1860004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Statute of limitation in the Hague-Visby Rules.</a:t>
            </a:r>
          </a:p>
          <a:p>
            <a:r>
              <a:rPr lang="en-GB" sz="2800" dirty="0"/>
              <a:t>Privity of contract issue 1: Extending the limitation of liability available to the carrier to the stevedore as an independent contractor.</a:t>
            </a:r>
          </a:p>
          <a:p>
            <a:r>
              <a:rPr lang="en-GB" sz="2800" dirty="0"/>
              <a:t>Himalaya clause and the Contracts (Rights of Third Parties) Act 1999.</a:t>
            </a:r>
          </a:p>
          <a:p>
            <a:endParaRPr lang="en-GB" sz="2800" dirty="0"/>
          </a:p>
          <a:p>
            <a:endParaRPr lang="en-GB" sz="2800" dirty="0"/>
          </a:p>
        </p:txBody>
      </p:sp>
    </p:spTree>
    <p:extLst>
      <p:ext uri="{BB962C8B-B14F-4D97-AF65-F5344CB8AC3E}">
        <p14:creationId xmlns:p14="http://schemas.microsoft.com/office/powerpoint/2010/main" val="339087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Limitation Period of Carrier’s Liability</a:t>
            </a:r>
          </a:p>
        </p:txBody>
      </p:sp>
      <p:sp>
        <p:nvSpPr>
          <p:cNvPr id="3" name="Subtitle 2"/>
          <p:cNvSpPr>
            <a:spLocks noGrp="1"/>
          </p:cNvSpPr>
          <p:nvPr>
            <p:ph type="body" sz="quarter" idx="14"/>
          </p:nvPr>
        </p:nvSpPr>
        <p:spPr>
          <a:prstGeom prst="rect">
            <a:avLst/>
          </a:prstGeom>
        </p:spPr>
        <p:txBody>
          <a:bodyPr/>
          <a:lstStyle/>
          <a:p>
            <a:r>
              <a:rPr lang="en-GB" sz="2800" dirty="0"/>
              <a:t>Limitation period of 1 year </a:t>
            </a:r>
          </a:p>
          <a:p>
            <a:r>
              <a:rPr lang="en-GB" sz="2800" dirty="0"/>
              <a:t>From ‘delivery or from the date when [the goods] should have been delivered’ –to be interpreted from the bill of lading. </a:t>
            </a:r>
          </a:p>
        </p:txBody>
      </p:sp>
    </p:spTree>
    <p:extLst>
      <p:ext uri="{BB962C8B-B14F-4D97-AF65-F5344CB8AC3E}">
        <p14:creationId xmlns:p14="http://schemas.microsoft.com/office/powerpoint/2010/main" val="1109203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sz="2400" dirty="0"/>
              <a:t>Privity of Contract Issue 1: Extending the Limitation of Liability Available to the Carrier to a Stevedore</a:t>
            </a:r>
          </a:p>
        </p:txBody>
      </p:sp>
      <p:sp>
        <p:nvSpPr>
          <p:cNvPr id="3" name="Subtitle 2"/>
          <p:cNvSpPr>
            <a:spLocks noGrp="1"/>
          </p:cNvSpPr>
          <p:nvPr>
            <p:ph type="body" sz="quarter" idx="14"/>
          </p:nvPr>
        </p:nvSpPr>
        <p:spPr>
          <a:prstGeom prst="rect">
            <a:avLst/>
          </a:prstGeom>
        </p:spPr>
        <p:txBody>
          <a:bodyPr/>
          <a:lstStyle/>
          <a:p>
            <a:r>
              <a:rPr lang="en-GB" sz="1800" dirty="0"/>
              <a:t>Tackle-to-tackle –H and HV rules apply where ships equipment used </a:t>
            </a:r>
          </a:p>
          <a:p>
            <a:r>
              <a:rPr lang="en-GB" sz="1800" dirty="0"/>
              <a:t>When stevedoring equipment used, period ends when passes the ‘ship’s rail’</a:t>
            </a:r>
          </a:p>
          <a:p>
            <a:r>
              <a:rPr lang="en-GB" sz="1800" b="1" dirty="0"/>
              <a:t>Himalaya clauses</a:t>
            </a:r>
            <a:r>
              <a:rPr lang="en-GB" sz="1800" dirty="0"/>
              <a:t> used to extend the exclusions and limitation of H or HV rules (which apply to servants and agents of the carrier) to independent contractors such as stevedores. You extend the protection given to the carriers and those of their employers.</a:t>
            </a:r>
          </a:p>
          <a:p>
            <a:r>
              <a:rPr lang="en-GB" sz="1800" dirty="0"/>
              <a:t>Contracts (Rights of Third Parties) Act 1999 does give a third party the benefit of a limitation of liability clause in a contract - The utility of the Himalaya clause can now be questioned. </a:t>
            </a:r>
          </a:p>
          <a:p>
            <a:r>
              <a:rPr lang="en-GB" sz="1800" dirty="0"/>
              <a:t>Pre-conditions for </a:t>
            </a:r>
            <a:r>
              <a:rPr lang="en-GB" sz="1800" i="1" dirty="0"/>
              <a:t>Himalaya clause</a:t>
            </a:r>
            <a:r>
              <a:rPr lang="en-GB" sz="1800" dirty="0"/>
              <a:t> to apply: [as per Lord Reid in </a:t>
            </a:r>
            <a:r>
              <a:rPr lang="en-GB" sz="1800" i="1" dirty="0" err="1"/>
              <a:t>Scruttons</a:t>
            </a:r>
            <a:r>
              <a:rPr lang="en-GB" sz="1800" i="1" dirty="0"/>
              <a:t> v Midland Silicones </a:t>
            </a:r>
            <a:r>
              <a:rPr lang="en-GB" sz="1800" dirty="0"/>
              <a:t>[1962]</a:t>
            </a:r>
            <a:r>
              <a:rPr lang="en-GB" sz="1800" i="1" dirty="0"/>
              <a:t> </a:t>
            </a:r>
            <a:r>
              <a:rPr lang="en-GB" sz="1800" dirty="0"/>
              <a:t>House of Lords] Himalaya clause successfully applied for the first time in </a:t>
            </a:r>
            <a:r>
              <a:rPr lang="en-GB" sz="1800" i="1" dirty="0"/>
              <a:t>The </a:t>
            </a:r>
            <a:r>
              <a:rPr lang="en-GB" sz="1800" i="1" dirty="0" err="1"/>
              <a:t>Eurymedon</a:t>
            </a:r>
            <a:r>
              <a:rPr lang="en-GB" sz="1800" dirty="0"/>
              <a:t> [1974] Privy Council and followed in </a:t>
            </a:r>
            <a:r>
              <a:rPr lang="en-GB" sz="1800" i="1" dirty="0"/>
              <a:t>The New York Star</a:t>
            </a:r>
            <a:r>
              <a:rPr lang="en-GB" sz="1800" dirty="0"/>
              <a:t> [1980] PC and </a:t>
            </a:r>
            <a:r>
              <a:rPr lang="en-GB" sz="1800" i="1" dirty="0"/>
              <a:t>The </a:t>
            </a:r>
            <a:r>
              <a:rPr lang="en-GB" sz="1800" i="1" dirty="0" err="1"/>
              <a:t>Starsin</a:t>
            </a:r>
            <a:r>
              <a:rPr lang="en-GB" sz="1800" dirty="0"/>
              <a:t> [2003] UKHL 12. </a:t>
            </a:r>
          </a:p>
          <a:p>
            <a:pPr lvl="1"/>
            <a:r>
              <a:rPr lang="en-GB" sz="1400" dirty="0"/>
              <a:t>Terms of the clause make it clear that third party (stevedore) intended to be protected by HV rules </a:t>
            </a:r>
          </a:p>
          <a:p>
            <a:pPr lvl="1"/>
            <a:r>
              <a:rPr lang="en-GB" sz="1400" dirty="0"/>
              <a:t>Carrier is contracting as agent for the third party </a:t>
            </a:r>
          </a:p>
          <a:p>
            <a:pPr lvl="1"/>
            <a:r>
              <a:rPr lang="en-GB" sz="1400" dirty="0"/>
              <a:t>Third party has authorized that </a:t>
            </a:r>
          </a:p>
          <a:p>
            <a:pPr lvl="1"/>
            <a:r>
              <a:rPr lang="en-GB" sz="1400" dirty="0"/>
              <a:t>Third party provides consideration for the benefit </a:t>
            </a:r>
            <a:endParaRPr lang="en-GB" sz="1800" dirty="0"/>
          </a:p>
          <a:p>
            <a:pPr lvl="1"/>
            <a:endParaRPr lang="en-GB" sz="1800" dirty="0">
              <a:solidFill>
                <a:srgbClr val="7F7F7F"/>
              </a:solidFill>
            </a:endParaRPr>
          </a:p>
        </p:txBody>
      </p:sp>
    </p:spTree>
    <p:extLst>
      <p:ext uri="{BB962C8B-B14F-4D97-AF65-F5344CB8AC3E}">
        <p14:creationId xmlns:p14="http://schemas.microsoft.com/office/powerpoint/2010/main" val="1890089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In this Section</a:t>
            </a:r>
          </a:p>
        </p:txBody>
      </p:sp>
      <p:sp>
        <p:nvSpPr>
          <p:cNvPr id="3" name="Subtitle 2"/>
          <p:cNvSpPr>
            <a:spLocks noGrp="1"/>
          </p:cNvSpPr>
          <p:nvPr>
            <p:ph type="body" sz="quarter" idx="14"/>
          </p:nvPr>
        </p:nvSpPr>
        <p:spPr>
          <a:prstGeom prst="rect">
            <a:avLst/>
          </a:prstGeom>
        </p:spPr>
        <p:txBody>
          <a:bodyPr/>
          <a:lstStyle/>
          <a:p>
            <a:r>
              <a:rPr lang="en-GB" sz="2800" dirty="0"/>
              <a:t>Privity of contract issue 2</a:t>
            </a:r>
          </a:p>
          <a:p>
            <a:r>
              <a:rPr lang="en-GB" sz="2800" dirty="0"/>
              <a:t>The common law, the Bills of Lading Act 1855 and the Carriage of Goods by Sea Act 1992</a:t>
            </a:r>
          </a:p>
          <a:p>
            <a:endParaRPr lang="en-GB" sz="2800" dirty="0"/>
          </a:p>
        </p:txBody>
      </p:sp>
    </p:spTree>
    <p:extLst>
      <p:ext uri="{BB962C8B-B14F-4D97-AF65-F5344CB8AC3E}">
        <p14:creationId xmlns:p14="http://schemas.microsoft.com/office/powerpoint/2010/main" val="3390877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The Privity Problem between the Importer and the Carrier Illustrated</a:t>
            </a:r>
          </a:p>
        </p:txBody>
      </p:sp>
      <p:sp>
        <p:nvSpPr>
          <p:cNvPr id="4" name="Oval 3"/>
          <p:cNvSpPr/>
          <p:nvPr/>
        </p:nvSpPr>
        <p:spPr>
          <a:xfrm>
            <a:off x="6819448" y="3384064"/>
            <a:ext cx="1872208" cy="122413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Shipper</a:t>
            </a:r>
          </a:p>
        </p:txBody>
      </p:sp>
      <p:sp>
        <p:nvSpPr>
          <p:cNvPr id="5" name="Rectangle 4"/>
          <p:cNvSpPr/>
          <p:nvPr/>
        </p:nvSpPr>
        <p:spPr>
          <a:xfrm>
            <a:off x="3348616" y="3429000"/>
            <a:ext cx="1728192" cy="122413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Carrier</a:t>
            </a:r>
          </a:p>
        </p:txBody>
      </p:sp>
      <p:sp>
        <p:nvSpPr>
          <p:cNvPr id="6" name="Oval 5"/>
          <p:cNvSpPr/>
          <p:nvPr/>
        </p:nvSpPr>
        <p:spPr>
          <a:xfrm>
            <a:off x="611560" y="3356992"/>
            <a:ext cx="1800200" cy="12961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Importer</a:t>
            </a:r>
          </a:p>
        </p:txBody>
      </p:sp>
      <p:sp>
        <p:nvSpPr>
          <p:cNvPr id="9" name="Left-Right Arrow 8"/>
          <p:cNvSpPr/>
          <p:nvPr/>
        </p:nvSpPr>
        <p:spPr>
          <a:xfrm>
            <a:off x="5292080" y="3681028"/>
            <a:ext cx="1368152" cy="576064"/>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t>B/L</a:t>
            </a:r>
          </a:p>
        </p:txBody>
      </p:sp>
      <p:sp>
        <p:nvSpPr>
          <p:cNvPr id="10" name="Curved Up Arrow 9"/>
          <p:cNvSpPr/>
          <p:nvPr/>
        </p:nvSpPr>
        <p:spPr>
          <a:xfrm>
            <a:off x="1511660" y="4797152"/>
            <a:ext cx="6228692" cy="1656184"/>
          </a:xfrm>
          <a:prstGeom prst="curved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1" name="TextBox 10"/>
          <p:cNvSpPr txBox="1"/>
          <p:nvPr/>
        </p:nvSpPr>
        <p:spPr>
          <a:xfrm>
            <a:off x="3348616" y="5260644"/>
            <a:ext cx="2258182" cy="369332"/>
          </a:xfrm>
          <a:prstGeom prst="rect">
            <a:avLst/>
          </a:prstGeom>
          <a:noFill/>
        </p:spPr>
        <p:txBody>
          <a:bodyPr wrap="none" rtlCol="0">
            <a:spAutoFit/>
          </a:bodyPr>
          <a:lstStyle/>
          <a:p>
            <a:r>
              <a:rPr lang="en-GB" dirty="0"/>
              <a:t>Sale of goods contract</a:t>
            </a:r>
          </a:p>
        </p:txBody>
      </p:sp>
      <p:sp>
        <p:nvSpPr>
          <p:cNvPr id="12" name="Curved Down Arrow 11"/>
          <p:cNvSpPr/>
          <p:nvPr/>
        </p:nvSpPr>
        <p:spPr>
          <a:xfrm>
            <a:off x="1511660" y="2276872"/>
            <a:ext cx="2966047" cy="864096"/>
          </a:xfrm>
          <a:prstGeom prst="curved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13" name="TextBox 12"/>
          <p:cNvSpPr txBox="1"/>
          <p:nvPr/>
        </p:nvSpPr>
        <p:spPr>
          <a:xfrm>
            <a:off x="1835696" y="2708920"/>
            <a:ext cx="2174826" cy="369332"/>
          </a:xfrm>
          <a:prstGeom prst="rect">
            <a:avLst/>
          </a:prstGeom>
          <a:noFill/>
        </p:spPr>
        <p:txBody>
          <a:bodyPr wrap="none" rtlCol="0">
            <a:spAutoFit/>
          </a:bodyPr>
          <a:lstStyle/>
          <a:p>
            <a:r>
              <a:rPr lang="en-GB" dirty="0"/>
              <a:t>No privity of contract</a:t>
            </a:r>
          </a:p>
        </p:txBody>
      </p:sp>
      <p:sp>
        <p:nvSpPr>
          <p:cNvPr id="14" name="TextBox 13"/>
          <p:cNvSpPr txBox="1"/>
          <p:nvPr/>
        </p:nvSpPr>
        <p:spPr>
          <a:xfrm>
            <a:off x="5148064" y="3356992"/>
            <a:ext cx="1792991" cy="369332"/>
          </a:xfrm>
          <a:prstGeom prst="rect">
            <a:avLst/>
          </a:prstGeom>
          <a:noFill/>
        </p:spPr>
        <p:txBody>
          <a:bodyPr wrap="none" rtlCol="0">
            <a:spAutoFit/>
          </a:bodyPr>
          <a:lstStyle/>
          <a:p>
            <a:r>
              <a:rPr lang="en-GB" dirty="0"/>
              <a:t>Carriage contract</a:t>
            </a:r>
          </a:p>
        </p:txBody>
      </p:sp>
    </p:spTree>
    <p:extLst>
      <p:ext uri="{BB962C8B-B14F-4D97-AF65-F5344CB8AC3E}">
        <p14:creationId xmlns:p14="http://schemas.microsoft.com/office/powerpoint/2010/main" val="339087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GB" dirty="0"/>
              <a:t>Privity of Contract Issue 2: Carriage of Goods by Sea Act 1992</a:t>
            </a:r>
          </a:p>
        </p:txBody>
      </p:sp>
      <p:sp>
        <p:nvSpPr>
          <p:cNvPr id="3" name="Subtitle 2"/>
          <p:cNvSpPr>
            <a:spLocks noGrp="1"/>
          </p:cNvSpPr>
          <p:nvPr>
            <p:ph type="body" sz="quarter" idx="14"/>
          </p:nvPr>
        </p:nvSpPr>
        <p:spPr>
          <a:prstGeom prst="rect">
            <a:avLst/>
          </a:prstGeom>
        </p:spPr>
        <p:txBody>
          <a:bodyPr/>
          <a:lstStyle/>
          <a:p>
            <a:r>
              <a:rPr lang="en-GB" sz="1800" dirty="0"/>
              <a:t>The parties to the </a:t>
            </a:r>
            <a:r>
              <a:rPr lang="en-GB" sz="1800" b="1" dirty="0"/>
              <a:t>contract of sale of goods</a:t>
            </a:r>
            <a:r>
              <a:rPr lang="en-GB" sz="1800" dirty="0"/>
              <a:t> are the </a:t>
            </a:r>
            <a:r>
              <a:rPr lang="en-GB" sz="1800" b="1" dirty="0"/>
              <a:t>shipper</a:t>
            </a:r>
            <a:r>
              <a:rPr lang="en-GB" sz="1800" dirty="0"/>
              <a:t> and the </a:t>
            </a:r>
            <a:r>
              <a:rPr lang="en-GB" sz="1800" b="1" dirty="0"/>
              <a:t>importer</a:t>
            </a:r>
            <a:r>
              <a:rPr lang="en-GB" sz="1800" dirty="0"/>
              <a:t>, and the </a:t>
            </a:r>
            <a:r>
              <a:rPr lang="en-GB" sz="1800" b="1" dirty="0"/>
              <a:t>shipper and carrier are parties to the contract of carriage</a:t>
            </a:r>
            <a:r>
              <a:rPr lang="en-GB" sz="1800" dirty="0"/>
              <a:t>, but the importer and carrier have no privity of contract although they have the bill of lading to exchange for the goods. </a:t>
            </a:r>
          </a:p>
          <a:p>
            <a:r>
              <a:rPr lang="en-GB" sz="1800" dirty="0"/>
              <a:t>Section 1 of the Bills of Lading Act 1855. The law may impose an implied contract between those parties –</a:t>
            </a:r>
            <a:r>
              <a:rPr lang="en-GB" sz="1800" i="1" dirty="0"/>
              <a:t>Brandt v Liverpool </a:t>
            </a:r>
            <a:r>
              <a:rPr lang="en-GB" sz="1800" dirty="0"/>
              <a:t>contract </a:t>
            </a:r>
          </a:p>
          <a:p>
            <a:r>
              <a:rPr lang="en-GB" sz="1800" dirty="0"/>
              <a:t>The Carriage of Good by Sea Act 1992 has repealed the Bills of Lading Act 1855 and provides an altogether more liberal regime for the statutory assignment of the shipper’s rights under the contract of carriage.</a:t>
            </a:r>
          </a:p>
          <a:p>
            <a:pPr lvl="1"/>
            <a:r>
              <a:rPr lang="en-GB" sz="1600" dirty="0"/>
              <a:t>s.2: A person who becomes the lawful holder of a bill of lading (or sea waybill) shall have transferred to and vested in him all rights of suit under the contract of carriage as if he had been a party to the contract.</a:t>
            </a:r>
          </a:p>
          <a:p>
            <a:pPr lvl="1"/>
            <a:r>
              <a:rPr lang="en-GB" sz="1600" dirty="0"/>
              <a:t>s.3: Where such a person (s.2) takes or demands delivery of the goods (or makes a cargo claim), that person becomes subject to the same liabilities under that contract as if he had been a party to that contract.</a:t>
            </a:r>
          </a:p>
          <a:p>
            <a:pPr lvl="1"/>
            <a:r>
              <a:rPr lang="en-GB" sz="1600" dirty="0"/>
              <a:t>s.4: A bill of lading which represents goods to have been shipped, and which is signed by the ship’s master or his agent is </a:t>
            </a:r>
            <a:r>
              <a:rPr lang="en-GB" sz="1600" b="1" dirty="0"/>
              <a:t>conclusive</a:t>
            </a:r>
            <a:r>
              <a:rPr lang="en-GB" sz="1600" dirty="0"/>
              <a:t> evidence of receipt for shipment.</a:t>
            </a:r>
          </a:p>
        </p:txBody>
      </p:sp>
    </p:spTree>
    <p:extLst>
      <p:ext uri="{BB962C8B-B14F-4D97-AF65-F5344CB8AC3E}">
        <p14:creationId xmlns:p14="http://schemas.microsoft.com/office/powerpoint/2010/main" val="39309337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dirty="0"/>
          </a:p>
        </p:txBody>
      </p:sp>
    </p:spTree>
  </p:cSld>
  <p:clrMapOvr>
    <a:masterClrMapping/>
  </p:clrMapOvr>
</p:sld>
</file>

<file path=ppt/theme/theme1.xml><?xml version="1.0" encoding="utf-8"?>
<a:theme xmlns:a="http://schemas.openxmlformats.org/drawingml/2006/main" name="Office Theme">
  <a:themeElements>
    <a:clrScheme name="Custom 1">
      <a:dk1>
        <a:srgbClr val="8C0E1D"/>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lide 2: Text Only">
  <a:themeElements>
    <a:clrScheme name="Custom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D52B1E"/>
      </a:hlink>
      <a:folHlink>
        <a:srgbClr val="D52B1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589</TotalTime>
  <Words>2065</Words>
  <Application>Microsoft Macintosh PowerPoint</Application>
  <PresentationFormat>On-screen Show (4:3)</PresentationFormat>
  <Paragraphs>117</Paragraphs>
  <Slides>16</Slides>
  <Notes>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16</vt:i4>
      </vt:variant>
    </vt:vector>
  </HeadingPairs>
  <TitlesOfParts>
    <vt:vector size="21" baseType="lpstr">
      <vt:lpstr>Calibri</vt:lpstr>
      <vt:lpstr>Lucida Grande</vt:lpstr>
      <vt:lpstr>Arial</vt:lpstr>
      <vt:lpstr>Office Theme</vt:lpstr>
      <vt:lpstr>Slide 2: Text Only</vt:lpstr>
      <vt:lpstr>Carriage of Goods by Sea: Limitation of Liability and COGSA 1992</vt:lpstr>
      <vt:lpstr>In this Section</vt:lpstr>
      <vt:lpstr>Recap of Hague-Visby Rules 1</vt:lpstr>
      <vt:lpstr>Recap of Hague-Visby Rules 2</vt:lpstr>
      <vt:lpstr>Limitation of Carrier’s Liability</vt:lpstr>
      <vt:lpstr>In this Section</vt:lpstr>
      <vt:lpstr>Limitation of Carrier’s Liability</vt:lpstr>
      <vt:lpstr>Limitation of Carrier’s Liability</vt:lpstr>
      <vt:lpstr>Limitation of Carrier’s Liability</vt:lpstr>
      <vt:lpstr>In this Section</vt:lpstr>
      <vt:lpstr>Limitation Period of Carrier’s Liability</vt:lpstr>
      <vt:lpstr>Privity of Contract Issue 1: Extending the Limitation of Liability Available to the Carrier to a Stevedore</vt:lpstr>
      <vt:lpstr>In this Section</vt:lpstr>
      <vt:lpstr>The Privity Problem between the Importer and the Carrier Illustrated</vt:lpstr>
      <vt:lpstr>Privity of Contract Issue 2: Carriage of Goods by Sea Act 1992</vt:lpstr>
      <vt:lpstr>PowerPoint Presentation</vt:lpstr>
    </vt:vector>
  </TitlesOfParts>
  <Company>Hewlett-Packard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wendy.gallagher</dc:creator>
  <cp:lastModifiedBy>Ahmed, Mukarrum</cp:lastModifiedBy>
  <cp:revision>120</cp:revision>
  <dcterms:created xsi:type="dcterms:W3CDTF">2011-10-31T13:04:17Z</dcterms:created>
  <dcterms:modified xsi:type="dcterms:W3CDTF">2024-12-02T21:49:35Z</dcterms:modified>
</cp:coreProperties>
</file>