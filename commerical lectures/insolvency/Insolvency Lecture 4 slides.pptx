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4" r:id="rId1"/>
  </p:sldMasterIdLst>
  <p:notesMasterIdLst>
    <p:notesMasterId r:id="rId12"/>
  </p:notesMasterIdLst>
  <p:sldIdLst>
    <p:sldId id="256" r:id="rId2"/>
    <p:sldId id="257" r:id="rId3"/>
    <p:sldId id="323" r:id="rId4"/>
    <p:sldId id="322" r:id="rId5"/>
    <p:sldId id="324" r:id="rId6"/>
    <p:sldId id="325" r:id="rId7"/>
    <p:sldId id="326" r:id="rId8"/>
    <p:sldId id="327" r:id="rId9"/>
    <p:sldId id="328" r:id="rId10"/>
    <p:sldId id="32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129"/>
    <p:restoredTop sz="96197"/>
  </p:normalViewPr>
  <p:slideViewPr>
    <p:cSldViewPr snapToGrid="0">
      <p:cViewPr varScale="1">
        <p:scale>
          <a:sx n="98" d="100"/>
          <a:sy n="98" d="100"/>
        </p:scale>
        <p:origin x="224" y="7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907582F-F055-4FE7-BD11-2EB77409C54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DEA0589-81A6-43E1-B3F0-049ABFC0E70B}">
      <dgm:prSet/>
      <dgm:spPr/>
      <dgm:t>
        <a:bodyPr/>
        <a:lstStyle/>
        <a:p>
          <a:r>
            <a:rPr lang="en-GB"/>
            <a:t>Discuss the </a:t>
          </a:r>
          <a:r>
            <a:rPr lang="en-GB" i="1"/>
            <a:t>Pari Passu </a:t>
          </a:r>
          <a:r>
            <a:rPr lang="en-GB"/>
            <a:t>Principle </a:t>
          </a:r>
          <a:endParaRPr lang="en-US"/>
        </a:p>
      </dgm:t>
    </dgm:pt>
    <dgm:pt modelId="{9FE3B6FB-3083-4975-90B7-136D398D94F0}" type="parTrans" cxnId="{4428FF7A-B0AE-4A63-90B1-5B725B429C88}">
      <dgm:prSet/>
      <dgm:spPr/>
      <dgm:t>
        <a:bodyPr/>
        <a:lstStyle/>
        <a:p>
          <a:endParaRPr lang="en-US"/>
        </a:p>
      </dgm:t>
    </dgm:pt>
    <dgm:pt modelId="{13BF4A08-2DC3-42C9-9288-0D9916490A89}" type="sibTrans" cxnId="{4428FF7A-B0AE-4A63-90B1-5B725B429C88}">
      <dgm:prSet/>
      <dgm:spPr/>
      <dgm:t>
        <a:bodyPr/>
        <a:lstStyle/>
        <a:p>
          <a:endParaRPr lang="en-US"/>
        </a:p>
      </dgm:t>
    </dgm:pt>
    <dgm:pt modelId="{F846E83D-01D8-430A-8742-7ED33FAC976F}">
      <dgm:prSet/>
      <dgm:spPr/>
      <dgm:t>
        <a:bodyPr/>
        <a:lstStyle/>
        <a:p>
          <a:r>
            <a:rPr lang="en-GB"/>
            <a:t>Discuss the Anti-Deprivation Principle</a:t>
          </a:r>
          <a:endParaRPr lang="en-US"/>
        </a:p>
      </dgm:t>
    </dgm:pt>
    <dgm:pt modelId="{0E3C6689-ACBF-4E29-8C0A-3B3AAF09C056}" type="parTrans" cxnId="{554E11AB-0922-45BC-B124-C7B824B70406}">
      <dgm:prSet/>
      <dgm:spPr/>
      <dgm:t>
        <a:bodyPr/>
        <a:lstStyle/>
        <a:p>
          <a:endParaRPr lang="en-US"/>
        </a:p>
      </dgm:t>
    </dgm:pt>
    <dgm:pt modelId="{CE1D649A-892E-4537-B381-577894E0349F}" type="sibTrans" cxnId="{554E11AB-0922-45BC-B124-C7B824B70406}">
      <dgm:prSet/>
      <dgm:spPr/>
      <dgm:t>
        <a:bodyPr/>
        <a:lstStyle/>
        <a:p>
          <a:endParaRPr lang="en-US"/>
        </a:p>
      </dgm:t>
    </dgm:pt>
    <dgm:pt modelId="{2201BCAA-FE13-4699-BA73-F96748755B79}" type="pres">
      <dgm:prSet presAssocID="{1907582F-F055-4FE7-BD11-2EB77409C548}" presName="root" presStyleCnt="0">
        <dgm:presLayoutVars>
          <dgm:dir/>
          <dgm:resizeHandles val="exact"/>
        </dgm:presLayoutVars>
      </dgm:prSet>
      <dgm:spPr/>
    </dgm:pt>
    <dgm:pt modelId="{D515BDD8-1606-433E-8990-507C66C2D8A1}" type="pres">
      <dgm:prSet presAssocID="{3DEA0589-81A6-43E1-B3F0-049ABFC0E70B}" presName="compNode" presStyleCnt="0"/>
      <dgm:spPr/>
    </dgm:pt>
    <dgm:pt modelId="{C0AB6152-FD69-4E1E-B409-AF176C75DB78}" type="pres">
      <dgm:prSet presAssocID="{3DEA0589-81A6-43E1-B3F0-049ABFC0E70B}" presName="bgRect" presStyleLbl="bgShp" presStyleIdx="0" presStyleCnt="2"/>
      <dgm:spPr/>
    </dgm:pt>
    <dgm:pt modelId="{3FB36F8A-DC69-4D59-B4EC-9DF3DFC8E63C}" type="pres">
      <dgm:prSet presAssocID="{3DEA0589-81A6-43E1-B3F0-049ABFC0E70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
        </a:ext>
      </dgm:extLst>
    </dgm:pt>
    <dgm:pt modelId="{03266655-9FB7-4180-B3EC-73253C99466F}" type="pres">
      <dgm:prSet presAssocID="{3DEA0589-81A6-43E1-B3F0-049ABFC0E70B}" presName="spaceRect" presStyleCnt="0"/>
      <dgm:spPr/>
    </dgm:pt>
    <dgm:pt modelId="{FAB42047-D1E5-4CF3-9BF0-AA6C8CEC8B58}" type="pres">
      <dgm:prSet presAssocID="{3DEA0589-81A6-43E1-B3F0-049ABFC0E70B}" presName="parTx" presStyleLbl="revTx" presStyleIdx="0" presStyleCnt="2">
        <dgm:presLayoutVars>
          <dgm:chMax val="0"/>
          <dgm:chPref val="0"/>
        </dgm:presLayoutVars>
      </dgm:prSet>
      <dgm:spPr/>
    </dgm:pt>
    <dgm:pt modelId="{78FD278D-1C9A-4AB0-BB35-680F3D2DE1A1}" type="pres">
      <dgm:prSet presAssocID="{13BF4A08-2DC3-42C9-9288-0D9916490A89}" presName="sibTrans" presStyleCnt="0"/>
      <dgm:spPr/>
    </dgm:pt>
    <dgm:pt modelId="{57DDB859-076D-4F48-85AA-E4462BB7A06E}" type="pres">
      <dgm:prSet presAssocID="{F846E83D-01D8-430A-8742-7ED33FAC976F}" presName="compNode" presStyleCnt="0"/>
      <dgm:spPr/>
    </dgm:pt>
    <dgm:pt modelId="{05D4AF45-01D2-43D2-AB06-28646C5D8860}" type="pres">
      <dgm:prSet presAssocID="{F846E83D-01D8-430A-8742-7ED33FAC976F}" presName="bgRect" presStyleLbl="bgShp" presStyleIdx="1" presStyleCnt="2"/>
      <dgm:spPr/>
    </dgm:pt>
    <dgm:pt modelId="{88E43384-A4D8-416F-B257-2916323C2515}" type="pres">
      <dgm:prSet presAssocID="{F846E83D-01D8-430A-8742-7ED33FAC976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ick"/>
        </a:ext>
      </dgm:extLst>
    </dgm:pt>
    <dgm:pt modelId="{EEAEF375-5607-4DBC-BF1A-B5B3F20051EF}" type="pres">
      <dgm:prSet presAssocID="{F846E83D-01D8-430A-8742-7ED33FAC976F}" presName="spaceRect" presStyleCnt="0"/>
      <dgm:spPr/>
    </dgm:pt>
    <dgm:pt modelId="{501905E9-E82B-4BD3-8FE2-8B2A0EA57F99}" type="pres">
      <dgm:prSet presAssocID="{F846E83D-01D8-430A-8742-7ED33FAC976F}" presName="parTx" presStyleLbl="revTx" presStyleIdx="1" presStyleCnt="2">
        <dgm:presLayoutVars>
          <dgm:chMax val="0"/>
          <dgm:chPref val="0"/>
        </dgm:presLayoutVars>
      </dgm:prSet>
      <dgm:spPr/>
    </dgm:pt>
  </dgm:ptLst>
  <dgm:cxnLst>
    <dgm:cxn modelId="{C7A94128-CF4C-4A4E-86CB-C88ACD3A5114}" type="presOf" srcId="{1907582F-F055-4FE7-BD11-2EB77409C548}" destId="{2201BCAA-FE13-4699-BA73-F96748755B79}" srcOrd="0" destOrd="0" presId="urn:microsoft.com/office/officeart/2018/2/layout/IconVerticalSolidList"/>
    <dgm:cxn modelId="{D0B74B77-AFE7-4D3C-AEB3-3348BA1D8977}" type="presOf" srcId="{3DEA0589-81A6-43E1-B3F0-049ABFC0E70B}" destId="{FAB42047-D1E5-4CF3-9BF0-AA6C8CEC8B58}" srcOrd="0" destOrd="0" presId="urn:microsoft.com/office/officeart/2018/2/layout/IconVerticalSolidList"/>
    <dgm:cxn modelId="{4428FF7A-B0AE-4A63-90B1-5B725B429C88}" srcId="{1907582F-F055-4FE7-BD11-2EB77409C548}" destId="{3DEA0589-81A6-43E1-B3F0-049ABFC0E70B}" srcOrd="0" destOrd="0" parTransId="{9FE3B6FB-3083-4975-90B7-136D398D94F0}" sibTransId="{13BF4A08-2DC3-42C9-9288-0D9916490A89}"/>
    <dgm:cxn modelId="{554E11AB-0922-45BC-B124-C7B824B70406}" srcId="{1907582F-F055-4FE7-BD11-2EB77409C548}" destId="{F846E83D-01D8-430A-8742-7ED33FAC976F}" srcOrd="1" destOrd="0" parTransId="{0E3C6689-ACBF-4E29-8C0A-3B3AAF09C056}" sibTransId="{CE1D649A-892E-4537-B381-577894E0349F}"/>
    <dgm:cxn modelId="{E3B0ECEA-48E0-4D0B-BD2D-2B336AE9F392}" type="presOf" srcId="{F846E83D-01D8-430A-8742-7ED33FAC976F}" destId="{501905E9-E82B-4BD3-8FE2-8B2A0EA57F99}" srcOrd="0" destOrd="0" presId="urn:microsoft.com/office/officeart/2018/2/layout/IconVerticalSolidList"/>
    <dgm:cxn modelId="{FF3300F7-81D2-46C0-AE04-61E4C7153307}" type="presParOf" srcId="{2201BCAA-FE13-4699-BA73-F96748755B79}" destId="{D515BDD8-1606-433E-8990-507C66C2D8A1}" srcOrd="0" destOrd="0" presId="urn:microsoft.com/office/officeart/2018/2/layout/IconVerticalSolidList"/>
    <dgm:cxn modelId="{34BEE7C0-903C-42FE-A918-2EBA2C3ABA19}" type="presParOf" srcId="{D515BDD8-1606-433E-8990-507C66C2D8A1}" destId="{C0AB6152-FD69-4E1E-B409-AF176C75DB78}" srcOrd="0" destOrd="0" presId="urn:microsoft.com/office/officeart/2018/2/layout/IconVerticalSolidList"/>
    <dgm:cxn modelId="{2E4AAFA5-221C-444E-A1EC-3961FB30B467}" type="presParOf" srcId="{D515BDD8-1606-433E-8990-507C66C2D8A1}" destId="{3FB36F8A-DC69-4D59-B4EC-9DF3DFC8E63C}" srcOrd="1" destOrd="0" presId="urn:microsoft.com/office/officeart/2018/2/layout/IconVerticalSolidList"/>
    <dgm:cxn modelId="{509FAD31-E1C3-4B53-B151-1DAA75F9D1D7}" type="presParOf" srcId="{D515BDD8-1606-433E-8990-507C66C2D8A1}" destId="{03266655-9FB7-4180-B3EC-73253C99466F}" srcOrd="2" destOrd="0" presId="urn:microsoft.com/office/officeart/2018/2/layout/IconVerticalSolidList"/>
    <dgm:cxn modelId="{9614A31A-A336-4B38-A3AC-3D7E0C49C20B}" type="presParOf" srcId="{D515BDD8-1606-433E-8990-507C66C2D8A1}" destId="{FAB42047-D1E5-4CF3-9BF0-AA6C8CEC8B58}" srcOrd="3" destOrd="0" presId="urn:microsoft.com/office/officeart/2018/2/layout/IconVerticalSolidList"/>
    <dgm:cxn modelId="{3778C315-3ECF-4297-8FA4-760FE580EB47}" type="presParOf" srcId="{2201BCAA-FE13-4699-BA73-F96748755B79}" destId="{78FD278D-1C9A-4AB0-BB35-680F3D2DE1A1}" srcOrd="1" destOrd="0" presId="urn:microsoft.com/office/officeart/2018/2/layout/IconVerticalSolidList"/>
    <dgm:cxn modelId="{4DBDD166-07A2-4A93-9F7F-2C93470CC4C9}" type="presParOf" srcId="{2201BCAA-FE13-4699-BA73-F96748755B79}" destId="{57DDB859-076D-4F48-85AA-E4462BB7A06E}" srcOrd="2" destOrd="0" presId="urn:microsoft.com/office/officeart/2018/2/layout/IconVerticalSolidList"/>
    <dgm:cxn modelId="{3F4E791B-34A5-470A-882C-4EC7023AC13E}" type="presParOf" srcId="{57DDB859-076D-4F48-85AA-E4462BB7A06E}" destId="{05D4AF45-01D2-43D2-AB06-28646C5D8860}" srcOrd="0" destOrd="0" presId="urn:microsoft.com/office/officeart/2018/2/layout/IconVerticalSolidList"/>
    <dgm:cxn modelId="{C7DD117A-866E-49EC-8D3D-A59710F658A4}" type="presParOf" srcId="{57DDB859-076D-4F48-85AA-E4462BB7A06E}" destId="{88E43384-A4D8-416F-B257-2916323C2515}" srcOrd="1" destOrd="0" presId="urn:microsoft.com/office/officeart/2018/2/layout/IconVerticalSolidList"/>
    <dgm:cxn modelId="{DE7DA486-0F7E-44E8-A526-0506ED6856B7}" type="presParOf" srcId="{57DDB859-076D-4F48-85AA-E4462BB7A06E}" destId="{EEAEF375-5607-4DBC-BF1A-B5B3F20051EF}" srcOrd="2" destOrd="0" presId="urn:microsoft.com/office/officeart/2018/2/layout/IconVerticalSolidList"/>
    <dgm:cxn modelId="{D35FCA77-34B0-491C-9C0F-AC6C5A1B2A08}" type="presParOf" srcId="{57DDB859-076D-4F48-85AA-E4462BB7A06E}" destId="{501905E9-E82B-4BD3-8FE2-8B2A0EA57F9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EF14583-0797-475E-8A2F-91AC3534DF70}"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72FB655-3264-4AF8-84EA-78BB88A5C240}">
      <dgm:prSet/>
      <dgm:spPr/>
      <dgm:t>
        <a:bodyPr/>
        <a:lstStyle/>
        <a:p>
          <a:pPr>
            <a:defRPr b="1"/>
          </a:pPr>
          <a:r>
            <a:rPr lang="en-GB" b="1"/>
            <a:t>Statutory Scheme</a:t>
          </a:r>
          <a:endParaRPr lang="en-US"/>
        </a:p>
      </dgm:t>
    </dgm:pt>
    <dgm:pt modelId="{C9852B31-B7F4-496C-B294-6C166122E024}" type="parTrans" cxnId="{8E019EC0-9589-4CA9-A918-97EFD55456BB}">
      <dgm:prSet/>
      <dgm:spPr/>
      <dgm:t>
        <a:bodyPr/>
        <a:lstStyle/>
        <a:p>
          <a:endParaRPr lang="en-US"/>
        </a:p>
      </dgm:t>
    </dgm:pt>
    <dgm:pt modelId="{5475D7E8-55FA-450E-8E31-49BBD8185743}" type="sibTrans" cxnId="{8E019EC0-9589-4CA9-A918-97EFD55456BB}">
      <dgm:prSet/>
      <dgm:spPr/>
      <dgm:t>
        <a:bodyPr/>
        <a:lstStyle/>
        <a:p>
          <a:endParaRPr lang="en-US"/>
        </a:p>
      </dgm:t>
    </dgm:pt>
    <dgm:pt modelId="{5D718066-0343-4FC7-8727-3B44D6B3E62C}">
      <dgm:prSet/>
      <dgm:spPr/>
      <dgm:t>
        <a:bodyPr/>
        <a:lstStyle/>
        <a:p>
          <a:r>
            <a:rPr lang="pt-BR"/>
            <a:t>Statute of Bankrupts, 1542</a:t>
          </a:r>
          <a:endParaRPr lang="en-US"/>
        </a:p>
      </dgm:t>
    </dgm:pt>
    <dgm:pt modelId="{34F42573-04C0-4308-AC85-D47955F344E3}" type="parTrans" cxnId="{46B3317B-4472-4C0F-AC5C-0B31C862EBBF}">
      <dgm:prSet/>
      <dgm:spPr/>
      <dgm:t>
        <a:bodyPr/>
        <a:lstStyle/>
        <a:p>
          <a:endParaRPr lang="en-US"/>
        </a:p>
      </dgm:t>
    </dgm:pt>
    <dgm:pt modelId="{0C1D273C-33DE-493A-BB0B-63FEA6A03AAF}" type="sibTrans" cxnId="{46B3317B-4472-4C0F-AC5C-0B31C862EBBF}">
      <dgm:prSet/>
      <dgm:spPr/>
      <dgm:t>
        <a:bodyPr/>
        <a:lstStyle/>
        <a:p>
          <a:endParaRPr lang="en-US"/>
        </a:p>
      </dgm:t>
    </dgm:pt>
    <dgm:pt modelId="{0A908589-3117-403A-BCFA-8F95A0A61E64}">
      <dgm:prSet/>
      <dgm:spPr/>
      <dgm:t>
        <a:bodyPr/>
        <a:lstStyle/>
        <a:p>
          <a:r>
            <a:rPr lang="pt-BR"/>
            <a:t>IA, s 107; IR 2016, r 14.12</a:t>
          </a:r>
          <a:endParaRPr lang="en-US"/>
        </a:p>
      </dgm:t>
    </dgm:pt>
    <dgm:pt modelId="{593593FB-6184-44DA-B256-B788307821E1}" type="parTrans" cxnId="{77009A92-362C-40C6-964B-FAF32AB67DDC}">
      <dgm:prSet/>
      <dgm:spPr/>
      <dgm:t>
        <a:bodyPr/>
        <a:lstStyle/>
        <a:p>
          <a:endParaRPr lang="en-US"/>
        </a:p>
      </dgm:t>
    </dgm:pt>
    <dgm:pt modelId="{F8E86AA7-C33E-4044-8ABE-515D703E1F15}" type="sibTrans" cxnId="{77009A92-362C-40C6-964B-FAF32AB67DDC}">
      <dgm:prSet/>
      <dgm:spPr/>
      <dgm:t>
        <a:bodyPr/>
        <a:lstStyle/>
        <a:p>
          <a:endParaRPr lang="en-US"/>
        </a:p>
      </dgm:t>
    </dgm:pt>
    <dgm:pt modelId="{EFDBDCBF-18AA-47CE-87AD-A69D1B8CEB19}">
      <dgm:prSet/>
      <dgm:spPr/>
      <dgm:t>
        <a:bodyPr/>
        <a:lstStyle/>
        <a:p>
          <a:pPr>
            <a:defRPr b="1"/>
          </a:pPr>
          <a:r>
            <a:rPr lang="en-GB" b="1"/>
            <a:t>Mandatory Nature of </a:t>
          </a:r>
          <a:r>
            <a:rPr lang="en-GB" b="1" i="1"/>
            <a:t>Pari Passu </a:t>
          </a:r>
          <a:r>
            <a:rPr lang="en-GB" b="1"/>
            <a:t>Rule</a:t>
          </a:r>
          <a:endParaRPr lang="en-US"/>
        </a:p>
      </dgm:t>
    </dgm:pt>
    <dgm:pt modelId="{6C7AF4A3-3BAB-4FB8-BECE-9F6E7677D78E}" type="parTrans" cxnId="{714DC5A8-B64E-4D1F-904B-D29A4E57E260}">
      <dgm:prSet/>
      <dgm:spPr/>
      <dgm:t>
        <a:bodyPr/>
        <a:lstStyle/>
        <a:p>
          <a:endParaRPr lang="en-US"/>
        </a:p>
      </dgm:t>
    </dgm:pt>
    <dgm:pt modelId="{85DC31B2-604F-4400-98B4-2E30B840439F}" type="sibTrans" cxnId="{714DC5A8-B64E-4D1F-904B-D29A4E57E260}">
      <dgm:prSet/>
      <dgm:spPr/>
      <dgm:t>
        <a:bodyPr/>
        <a:lstStyle/>
        <a:p>
          <a:endParaRPr lang="en-US"/>
        </a:p>
      </dgm:t>
    </dgm:pt>
    <dgm:pt modelId="{102DAF21-3F97-4625-9CE3-8E918253DAFA}">
      <dgm:prSet/>
      <dgm:spPr/>
      <dgm:t>
        <a:bodyPr/>
        <a:lstStyle/>
        <a:p>
          <a:r>
            <a:rPr lang="fr-FR" i="1" u="sng"/>
            <a:t>Re Jeavons, ex parte Mackay </a:t>
          </a:r>
          <a:r>
            <a:rPr lang="fr-FR"/>
            <a:t>(1873) 8 Ch App 643</a:t>
          </a:r>
          <a:endParaRPr lang="en-US"/>
        </a:p>
      </dgm:t>
    </dgm:pt>
    <dgm:pt modelId="{8F589B64-56AC-4FEC-8EFB-53B8CD40D64C}" type="parTrans" cxnId="{E56DBD3D-80F5-4CCA-A296-FF55D3FE9C5F}">
      <dgm:prSet/>
      <dgm:spPr/>
      <dgm:t>
        <a:bodyPr/>
        <a:lstStyle/>
        <a:p>
          <a:endParaRPr lang="en-US"/>
        </a:p>
      </dgm:t>
    </dgm:pt>
    <dgm:pt modelId="{A5841398-4BF7-496C-B49F-1A1FA339981B}" type="sibTrans" cxnId="{E56DBD3D-80F5-4CCA-A296-FF55D3FE9C5F}">
      <dgm:prSet/>
      <dgm:spPr/>
      <dgm:t>
        <a:bodyPr/>
        <a:lstStyle/>
        <a:p>
          <a:endParaRPr lang="en-US"/>
        </a:p>
      </dgm:t>
    </dgm:pt>
    <dgm:pt modelId="{57F467FA-067E-4BF8-9AA9-BF60CF2432CD}">
      <dgm:prSet/>
      <dgm:spPr/>
      <dgm:t>
        <a:bodyPr/>
        <a:lstStyle/>
        <a:p>
          <a:r>
            <a:rPr lang="en-GB"/>
            <a:t>“…a man is not allowed, by stipulation with a creditor, to provide for a different distribution of his effects in the event of bankruptcy from that which the law provides.” (James LJ)</a:t>
          </a:r>
          <a:endParaRPr lang="en-US"/>
        </a:p>
      </dgm:t>
    </dgm:pt>
    <dgm:pt modelId="{8D42210A-CCA2-4AC9-B52C-EB055D56EF64}" type="parTrans" cxnId="{B6E7136C-838E-49A0-BFAE-CA11F3AB586B}">
      <dgm:prSet/>
      <dgm:spPr/>
      <dgm:t>
        <a:bodyPr/>
        <a:lstStyle/>
        <a:p>
          <a:endParaRPr lang="en-US"/>
        </a:p>
      </dgm:t>
    </dgm:pt>
    <dgm:pt modelId="{85329DBD-13CF-4930-87D1-A100F6D6407A}" type="sibTrans" cxnId="{B6E7136C-838E-49A0-BFAE-CA11F3AB586B}">
      <dgm:prSet/>
      <dgm:spPr/>
      <dgm:t>
        <a:bodyPr/>
        <a:lstStyle/>
        <a:p>
          <a:endParaRPr lang="en-US"/>
        </a:p>
      </dgm:t>
    </dgm:pt>
    <dgm:pt modelId="{14407E29-123D-4757-A760-4F3FC6B541FB}" type="pres">
      <dgm:prSet presAssocID="{7EF14583-0797-475E-8A2F-91AC3534DF70}" presName="root" presStyleCnt="0">
        <dgm:presLayoutVars>
          <dgm:dir/>
          <dgm:resizeHandles val="exact"/>
        </dgm:presLayoutVars>
      </dgm:prSet>
      <dgm:spPr/>
    </dgm:pt>
    <dgm:pt modelId="{DAC5D660-7B14-4FEC-9E6E-56C5FCE4199E}" type="pres">
      <dgm:prSet presAssocID="{272FB655-3264-4AF8-84EA-78BB88A5C240}" presName="compNode" presStyleCnt="0"/>
      <dgm:spPr/>
    </dgm:pt>
    <dgm:pt modelId="{77DB2CD5-C531-4BFD-80C3-278E8104A146}" type="pres">
      <dgm:prSet presAssocID="{272FB655-3264-4AF8-84EA-78BB88A5C24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Judge"/>
        </a:ext>
      </dgm:extLst>
    </dgm:pt>
    <dgm:pt modelId="{D177524C-F469-43AD-9318-243D5276C9D3}" type="pres">
      <dgm:prSet presAssocID="{272FB655-3264-4AF8-84EA-78BB88A5C240}" presName="iconSpace" presStyleCnt="0"/>
      <dgm:spPr/>
    </dgm:pt>
    <dgm:pt modelId="{2C2825E5-FA4B-406C-A306-79D96B03281A}" type="pres">
      <dgm:prSet presAssocID="{272FB655-3264-4AF8-84EA-78BB88A5C240}" presName="parTx" presStyleLbl="revTx" presStyleIdx="0" presStyleCnt="4">
        <dgm:presLayoutVars>
          <dgm:chMax val="0"/>
          <dgm:chPref val="0"/>
        </dgm:presLayoutVars>
      </dgm:prSet>
      <dgm:spPr/>
    </dgm:pt>
    <dgm:pt modelId="{A95C8FD4-3000-4581-8553-9283BE4D6919}" type="pres">
      <dgm:prSet presAssocID="{272FB655-3264-4AF8-84EA-78BB88A5C240}" presName="txSpace" presStyleCnt="0"/>
      <dgm:spPr/>
    </dgm:pt>
    <dgm:pt modelId="{49A29CFF-B35F-4F77-8C89-8E82DBB69FB0}" type="pres">
      <dgm:prSet presAssocID="{272FB655-3264-4AF8-84EA-78BB88A5C240}" presName="desTx" presStyleLbl="revTx" presStyleIdx="1" presStyleCnt="4">
        <dgm:presLayoutVars/>
      </dgm:prSet>
      <dgm:spPr/>
    </dgm:pt>
    <dgm:pt modelId="{0FF85EC8-E228-42E2-A35F-BAC8CDFC8524}" type="pres">
      <dgm:prSet presAssocID="{5475D7E8-55FA-450E-8E31-49BBD8185743}" presName="sibTrans" presStyleCnt="0"/>
      <dgm:spPr/>
    </dgm:pt>
    <dgm:pt modelId="{218F52F3-1D39-4BD5-B181-DD294023A5BD}" type="pres">
      <dgm:prSet presAssocID="{EFDBDCBF-18AA-47CE-87AD-A69D1B8CEB19}" presName="compNode" presStyleCnt="0"/>
      <dgm:spPr/>
    </dgm:pt>
    <dgm:pt modelId="{A2023283-173D-4510-BDF6-174EF39CBA60}" type="pres">
      <dgm:prSet presAssocID="{EFDBDCBF-18AA-47CE-87AD-A69D1B8CEB1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ffice Worker"/>
        </a:ext>
      </dgm:extLst>
    </dgm:pt>
    <dgm:pt modelId="{DBD6F748-EC1B-45FB-9535-449B7C71037B}" type="pres">
      <dgm:prSet presAssocID="{EFDBDCBF-18AA-47CE-87AD-A69D1B8CEB19}" presName="iconSpace" presStyleCnt="0"/>
      <dgm:spPr/>
    </dgm:pt>
    <dgm:pt modelId="{66AAB665-A6F9-409C-8EC3-DE0FFE59D2FD}" type="pres">
      <dgm:prSet presAssocID="{EFDBDCBF-18AA-47CE-87AD-A69D1B8CEB19}" presName="parTx" presStyleLbl="revTx" presStyleIdx="2" presStyleCnt="4">
        <dgm:presLayoutVars>
          <dgm:chMax val="0"/>
          <dgm:chPref val="0"/>
        </dgm:presLayoutVars>
      </dgm:prSet>
      <dgm:spPr/>
    </dgm:pt>
    <dgm:pt modelId="{E936E720-19CD-4507-AB9B-E12A6FC9EC0F}" type="pres">
      <dgm:prSet presAssocID="{EFDBDCBF-18AA-47CE-87AD-A69D1B8CEB19}" presName="txSpace" presStyleCnt="0"/>
      <dgm:spPr/>
    </dgm:pt>
    <dgm:pt modelId="{AD906C64-D610-4EF7-87F0-B15FE30EEB4F}" type="pres">
      <dgm:prSet presAssocID="{EFDBDCBF-18AA-47CE-87AD-A69D1B8CEB19}" presName="desTx" presStyleLbl="revTx" presStyleIdx="3" presStyleCnt="4">
        <dgm:presLayoutVars/>
      </dgm:prSet>
      <dgm:spPr/>
    </dgm:pt>
  </dgm:ptLst>
  <dgm:cxnLst>
    <dgm:cxn modelId="{2EFC8C0A-7A72-4981-803E-F0B6F6775C77}" type="presOf" srcId="{57F467FA-067E-4BF8-9AA9-BF60CF2432CD}" destId="{AD906C64-D610-4EF7-87F0-B15FE30EEB4F}" srcOrd="0" destOrd="1" presId="urn:microsoft.com/office/officeart/2018/2/layout/IconLabelDescriptionList"/>
    <dgm:cxn modelId="{3A89AB0F-0420-4E64-A5C2-258EB5ADD2C6}" type="presOf" srcId="{5D718066-0343-4FC7-8727-3B44D6B3E62C}" destId="{49A29CFF-B35F-4F77-8C89-8E82DBB69FB0}" srcOrd="0" destOrd="0" presId="urn:microsoft.com/office/officeart/2018/2/layout/IconLabelDescriptionList"/>
    <dgm:cxn modelId="{8AEE1138-E1C8-42BF-A3DB-9AA0F4F2417C}" type="presOf" srcId="{EFDBDCBF-18AA-47CE-87AD-A69D1B8CEB19}" destId="{66AAB665-A6F9-409C-8EC3-DE0FFE59D2FD}" srcOrd="0" destOrd="0" presId="urn:microsoft.com/office/officeart/2018/2/layout/IconLabelDescriptionList"/>
    <dgm:cxn modelId="{E56DBD3D-80F5-4CCA-A296-FF55D3FE9C5F}" srcId="{EFDBDCBF-18AA-47CE-87AD-A69D1B8CEB19}" destId="{102DAF21-3F97-4625-9CE3-8E918253DAFA}" srcOrd="0" destOrd="0" parTransId="{8F589B64-56AC-4FEC-8EFB-53B8CD40D64C}" sibTransId="{A5841398-4BF7-496C-B49F-1A1FA339981B}"/>
    <dgm:cxn modelId="{B6E7136C-838E-49A0-BFAE-CA11F3AB586B}" srcId="{102DAF21-3F97-4625-9CE3-8E918253DAFA}" destId="{57F467FA-067E-4BF8-9AA9-BF60CF2432CD}" srcOrd="0" destOrd="0" parTransId="{8D42210A-CCA2-4AC9-B52C-EB055D56EF64}" sibTransId="{85329DBD-13CF-4930-87D1-A100F6D6407A}"/>
    <dgm:cxn modelId="{46B3317B-4472-4C0F-AC5C-0B31C862EBBF}" srcId="{272FB655-3264-4AF8-84EA-78BB88A5C240}" destId="{5D718066-0343-4FC7-8727-3B44D6B3E62C}" srcOrd="0" destOrd="0" parTransId="{34F42573-04C0-4308-AC85-D47955F344E3}" sibTransId="{0C1D273C-33DE-493A-BB0B-63FEA6A03AAF}"/>
    <dgm:cxn modelId="{9971078D-5A13-4E1A-8A69-95420EF29F72}" type="presOf" srcId="{7EF14583-0797-475E-8A2F-91AC3534DF70}" destId="{14407E29-123D-4757-A760-4F3FC6B541FB}" srcOrd="0" destOrd="0" presId="urn:microsoft.com/office/officeart/2018/2/layout/IconLabelDescriptionList"/>
    <dgm:cxn modelId="{F1836A90-C377-44B7-9E05-B87E12967CFE}" type="presOf" srcId="{272FB655-3264-4AF8-84EA-78BB88A5C240}" destId="{2C2825E5-FA4B-406C-A306-79D96B03281A}" srcOrd="0" destOrd="0" presId="urn:microsoft.com/office/officeart/2018/2/layout/IconLabelDescriptionList"/>
    <dgm:cxn modelId="{77009A92-362C-40C6-964B-FAF32AB67DDC}" srcId="{272FB655-3264-4AF8-84EA-78BB88A5C240}" destId="{0A908589-3117-403A-BCFA-8F95A0A61E64}" srcOrd="1" destOrd="0" parTransId="{593593FB-6184-44DA-B256-B788307821E1}" sibTransId="{F8E86AA7-C33E-4044-8ABE-515D703E1F15}"/>
    <dgm:cxn modelId="{EFFC2293-35E7-4885-885B-BFD33FEB8FBC}" type="presOf" srcId="{0A908589-3117-403A-BCFA-8F95A0A61E64}" destId="{49A29CFF-B35F-4F77-8C89-8E82DBB69FB0}" srcOrd="0" destOrd="1" presId="urn:microsoft.com/office/officeart/2018/2/layout/IconLabelDescriptionList"/>
    <dgm:cxn modelId="{714DC5A8-B64E-4D1F-904B-D29A4E57E260}" srcId="{7EF14583-0797-475E-8A2F-91AC3534DF70}" destId="{EFDBDCBF-18AA-47CE-87AD-A69D1B8CEB19}" srcOrd="1" destOrd="0" parTransId="{6C7AF4A3-3BAB-4FB8-BECE-9F6E7677D78E}" sibTransId="{85DC31B2-604F-4400-98B4-2E30B840439F}"/>
    <dgm:cxn modelId="{C0C05BB7-82C2-4C5D-9C6E-EA6790EA507E}" type="presOf" srcId="{102DAF21-3F97-4625-9CE3-8E918253DAFA}" destId="{AD906C64-D610-4EF7-87F0-B15FE30EEB4F}" srcOrd="0" destOrd="0" presId="urn:microsoft.com/office/officeart/2018/2/layout/IconLabelDescriptionList"/>
    <dgm:cxn modelId="{8E019EC0-9589-4CA9-A918-97EFD55456BB}" srcId="{7EF14583-0797-475E-8A2F-91AC3534DF70}" destId="{272FB655-3264-4AF8-84EA-78BB88A5C240}" srcOrd="0" destOrd="0" parTransId="{C9852B31-B7F4-496C-B294-6C166122E024}" sibTransId="{5475D7E8-55FA-450E-8E31-49BBD8185743}"/>
    <dgm:cxn modelId="{3F082E90-F222-4EBB-A9BD-83DE272C3D06}" type="presParOf" srcId="{14407E29-123D-4757-A760-4F3FC6B541FB}" destId="{DAC5D660-7B14-4FEC-9E6E-56C5FCE4199E}" srcOrd="0" destOrd="0" presId="urn:microsoft.com/office/officeart/2018/2/layout/IconLabelDescriptionList"/>
    <dgm:cxn modelId="{40BAF450-6A5A-41EE-9A34-C54DCD3CFC64}" type="presParOf" srcId="{DAC5D660-7B14-4FEC-9E6E-56C5FCE4199E}" destId="{77DB2CD5-C531-4BFD-80C3-278E8104A146}" srcOrd="0" destOrd="0" presId="urn:microsoft.com/office/officeart/2018/2/layout/IconLabelDescriptionList"/>
    <dgm:cxn modelId="{DC35DFB1-8442-4FE7-BA4C-2994F04AC933}" type="presParOf" srcId="{DAC5D660-7B14-4FEC-9E6E-56C5FCE4199E}" destId="{D177524C-F469-43AD-9318-243D5276C9D3}" srcOrd="1" destOrd="0" presId="urn:microsoft.com/office/officeart/2018/2/layout/IconLabelDescriptionList"/>
    <dgm:cxn modelId="{8B27C77F-8922-4E5A-9D02-9CB874CE86F0}" type="presParOf" srcId="{DAC5D660-7B14-4FEC-9E6E-56C5FCE4199E}" destId="{2C2825E5-FA4B-406C-A306-79D96B03281A}" srcOrd="2" destOrd="0" presId="urn:microsoft.com/office/officeart/2018/2/layout/IconLabelDescriptionList"/>
    <dgm:cxn modelId="{B689970A-EA4F-4973-9042-EB803ACD33B4}" type="presParOf" srcId="{DAC5D660-7B14-4FEC-9E6E-56C5FCE4199E}" destId="{A95C8FD4-3000-4581-8553-9283BE4D6919}" srcOrd="3" destOrd="0" presId="urn:microsoft.com/office/officeart/2018/2/layout/IconLabelDescriptionList"/>
    <dgm:cxn modelId="{5DCEBBE8-10CE-420F-B2FB-0142F0EF5BF1}" type="presParOf" srcId="{DAC5D660-7B14-4FEC-9E6E-56C5FCE4199E}" destId="{49A29CFF-B35F-4F77-8C89-8E82DBB69FB0}" srcOrd="4" destOrd="0" presId="urn:microsoft.com/office/officeart/2018/2/layout/IconLabelDescriptionList"/>
    <dgm:cxn modelId="{415E78AB-CE8A-47D2-BD28-47191E80707B}" type="presParOf" srcId="{14407E29-123D-4757-A760-4F3FC6B541FB}" destId="{0FF85EC8-E228-42E2-A35F-BAC8CDFC8524}" srcOrd="1" destOrd="0" presId="urn:microsoft.com/office/officeart/2018/2/layout/IconLabelDescriptionList"/>
    <dgm:cxn modelId="{FE88342B-23EF-4025-A8F5-54C8686FCDAA}" type="presParOf" srcId="{14407E29-123D-4757-A760-4F3FC6B541FB}" destId="{218F52F3-1D39-4BD5-B181-DD294023A5BD}" srcOrd="2" destOrd="0" presId="urn:microsoft.com/office/officeart/2018/2/layout/IconLabelDescriptionList"/>
    <dgm:cxn modelId="{9F2BAB9D-C3F5-4AE6-A06B-E04DE4DCFC42}" type="presParOf" srcId="{218F52F3-1D39-4BD5-B181-DD294023A5BD}" destId="{A2023283-173D-4510-BDF6-174EF39CBA60}" srcOrd="0" destOrd="0" presId="urn:microsoft.com/office/officeart/2018/2/layout/IconLabelDescriptionList"/>
    <dgm:cxn modelId="{BE21C705-032B-4890-816D-BCA98E2ABCCA}" type="presParOf" srcId="{218F52F3-1D39-4BD5-B181-DD294023A5BD}" destId="{DBD6F748-EC1B-45FB-9535-449B7C71037B}" srcOrd="1" destOrd="0" presId="urn:microsoft.com/office/officeart/2018/2/layout/IconLabelDescriptionList"/>
    <dgm:cxn modelId="{64024B77-EA96-4449-99D4-5D2B7D0E9741}" type="presParOf" srcId="{218F52F3-1D39-4BD5-B181-DD294023A5BD}" destId="{66AAB665-A6F9-409C-8EC3-DE0FFE59D2FD}" srcOrd="2" destOrd="0" presId="urn:microsoft.com/office/officeart/2018/2/layout/IconLabelDescriptionList"/>
    <dgm:cxn modelId="{3F78050A-28A7-4251-A0AF-38E592469663}" type="presParOf" srcId="{218F52F3-1D39-4BD5-B181-DD294023A5BD}" destId="{E936E720-19CD-4507-AB9B-E12A6FC9EC0F}" srcOrd="3" destOrd="0" presId="urn:microsoft.com/office/officeart/2018/2/layout/IconLabelDescriptionList"/>
    <dgm:cxn modelId="{8AF28C00-73B0-4CA8-9795-EFAAC53AAAC2}" type="presParOf" srcId="{218F52F3-1D39-4BD5-B181-DD294023A5BD}" destId="{AD906C64-D610-4EF7-87F0-B15FE30EEB4F}"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AB6152-FD69-4E1E-B409-AF176C75DB78}">
      <dsp:nvSpPr>
        <dsp:cNvPr id="0" name=""/>
        <dsp:cNvSpPr/>
      </dsp:nvSpPr>
      <dsp:spPr>
        <a:xfrm>
          <a:off x="0" y="940328"/>
          <a:ext cx="6949440" cy="17359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B36F8A-DC69-4D59-B4EC-9DF3DFC8E63C}">
      <dsp:nvSpPr>
        <dsp:cNvPr id="0" name=""/>
        <dsp:cNvSpPr/>
      </dsp:nvSpPr>
      <dsp:spPr>
        <a:xfrm>
          <a:off x="525137" y="1330926"/>
          <a:ext cx="954795" cy="9547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B42047-D1E5-4CF3-9BF0-AA6C8CEC8B58}">
      <dsp:nvSpPr>
        <dsp:cNvPr id="0" name=""/>
        <dsp:cNvSpPr/>
      </dsp:nvSpPr>
      <dsp:spPr>
        <a:xfrm>
          <a:off x="2005070" y="940328"/>
          <a:ext cx="4944369" cy="1735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3726" tIns="183726" rIns="183726" bIns="183726" numCol="1" spcCol="1270" anchor="ctr" anchorCtr="0">
          <a:noAutofit/>
        </a:bodyPr>
        <a:lstStyle/>
        <a:p>
          <a:pPr marL="0" lvl="0" indent="0" algn="l" defTabSz="1111250">
            <a:lnSpc>
              <a:spcPct val="90000"/>
            </a:lnSpc>
            <a:spcBef>
              <a:spcPct val="0"/>
            </a:spcBef>
            <a:spcAft>
              <a:spcPct val="35000"/>
            </a:spcAft>
            <a:buNone/>
          </a:pPr>
          <a:r>
            <a:rPr lang="en-GB" sz="2500" kern="1200"/>
            <a:t>Discuss the </a:t>
          </a:r>
          <a:r>
            <a:rPr lang="en-GB" sz="2500" i="1" kern="1200"/>
            <a:t>Pari Passu </a:t>
          </a:r>
          <a:r>
            <a:rPr lang="en-GB" sz="2500" kern="1200"/>
            <a:t>Principle </a:t>
          </a:r>
          <a:endParaRPr lang="en-US" sz="2500" kern="1200"/>
        </a:p>
      </dsp:txBody>
      <dsp:txXfrm>
        <a:off x="2005070" y="940328"/>
        <a:ext cx="4944369" cy="1735991"/>
      </dsp:txXfrm>
    </dsp:sp>
    <dsp:sp modelId="{05D4AF45-01D2-43D2-AB06-28646C5D8860}">
      <dsp:nvSpPr>
        <dsp:cNvPr id="0" name=""/>
        <dsp:cNvSpPr/>
      </dsp:nvSpPr>
      <dsp:spPr>
        <a:xfrm>
          <a:off x="0" y="3110317"/>
          <a:ext cx="6949440" cy="17359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E43384-A4D8-416F-B257-2916323C2515}">
      <dsp:nvSpPr>
        <dsp:cNvPr id="0" name=""/>
        <dsp:cNvSpPr/>
      </dsp:nvSpPr>
      <dsp:spPr>
        <a:xfrm>
          <a:off x="525137" y="3500915"/>
          <a:ext cx="954795" cy="9547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1905E9-E82B-4BD3-8FE2-8B2A0EA57F99}">
      <dsp:nvSpPr>
        <dsp:cNvPr id="0" name=""/>
        <dsp:cNvSpPr/>
      </dsp:nvSpPr>
      <dsp:spPr>
        <a:xfrm>
          <a:off x="2005070" y="3110317"/>
          <a:ext cx="4944369" cy="1735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3726" tIns="183726" rIns="183726" bIns="183726" numCol="1" spcCol="1270" anchor="ctr" anchorCtr="0">
          <a:noAutofit/>
        </a:bodyPr>
        <a:lstStyle/>
        <a:p>
          <a:pPr marL="0" lvl="0" indent="0" algn="l" defTabSz="1111250">
            <a:lnSpc>
              <a:spcPct val="90000"/>
            </a:lnSpc>
            <a:spcBef>
              <a:spcPct val="0"/>
            </a:spcBef>
            <a:spcAft>
              <a:spcPct val="35000"/>
            </a:spcAft>
            <a:buNone/>
          </a:pPr>
          <a:r>
            <a:rPr lang="en-GB" sz="2500" kern="1200"/>
            <a:t>Discuss the Anti-Deprivation Principle</a:t>
          </a:r>
          <a:endParaRPr lang="en-US" sz="2500" kern="1200"/>
        </a:p>
      </dsp:txBody>
      <dsp:txXfrm>
        <a:off x="2005070" y="3110317"/>
        <a:ext cx="4944369" cy="17359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DB2CD5-C531-4BFD-80C3-278E8104A146}">
      <dsp:nvSpPr>
        <dsp:cNvPr id="0" name=""/>
        <dsp:cNvSpPr/>
      </dsp:nvSpPr>
      <dsp:spPr>
        <a:xfrm>
          <a:off x="774518" y="102972"/>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2825E5-FA4B-406C-A306-79D96B03281A}">
      <dsp:nvSpPr>
        <dsp:cNvPr id="0" name=""/>
        <dsp:cNvSpPr/>
      </dsp:nvSpPr>
      <dsp:spPr>
        <a:xfrm>
          <a:off x="774518" y="179593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77900">
            <a:lnSpc>
              <a:spcPct val="90000"/>
            </a:lnSpc>
            <a:spcBef>
              <a:spcPct val="0"/>
            </a:spcBef>
            <a:spcAft>
              <a:spcPct val="35000"/>
            </a:spcAft>
            <a:buNone/>
            <a:defRPr b="1"/>
          </a:pPr>
          <a:r>
            <a:rPr lang="en-GB" sz="2200" b="1" kern="1200"/>
            <a:t>Statutory Scheme</a:t>
          </a:r>
          <a:endParaRPr lang="en-US" sz="2200" kern="1200"/>
        </a:p>
      </dsp:txBody>
      <dsp:txXfrm>
        <a:off x="774518" y="1795934"/>
        <a:ext cx="4320000" cy="648000"/>
      </dsp:txXfrm>
    </dsp:sp>
    <dsp:sp modelId="{49A29CFF-B35F-4F77-8C89-8E82DBB69FB0}">
      <dsp:nvSpPr>
        <dsp:cNvPr id="0" name=""/>
        <dsp:cNvSpPr/>
      </dsp:nvSpPr>
      <dsp:spPr>
        <a:xfrm>
          <a:off x="774518" y="2528102"/>
          <a:ext cx="4320000" cy="17832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pt-BR" sz="1700" kern="1200"/>
            <a:t>Statute of Bankrupts, 1542</a:t>
          </a:r>
          <a:endParaRPr lang="en-US" sz="1700" kern="1200"/>
        </a:p>
        <a:p>
          <a:pPr marL="0" lvl="0" indent="0" algn="l" defTabSz="755650">
            <a:lnSpc>
              <a:spcPct val="90000"/>
            </a:lnSpc>
            <a:spcBef>
              <a:spcPct val="0"/>
            </a:spcBef>
            <a:spcAft>
              <a:spcPct val="35000"/>
            </a:spcAft>
            <a:buNone/>
          </a:pPr>
          <a:r>
            <a:rPr lang="pt-BR" sz="1700" kern="1200"/>
            <a:t>IA, s 107; IR 2016, r 14.12</a:t>
          </a:r>
          <a:endParaRPr lang="en-US" sz="1700" kern="1200"/>
        </a:p>
      </dsp:txBody>
      <dsp:txXfrm>
        <a:off x="774518" y="2528102"/>
        <a:ext cx="4320000" cy="1783278"/>
      </dsp:txXfrm>
    </dsp:sp>
    <dsp:sp modelId="{A2023283-173D-4510-BDF6-174EF39CBA60}">
      <dsp:nvSpPr>
        <dsp:cNvPr id="0" name=""/>
        <dsp:cNvSpPr/>
      </dsp:nvSpPr>
      <dsp:spPr>
        <a:xfrm>
          <a:off x="5850518" y="102972"/>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AAB665-A6F9-409C-8EC3-DE0FFE59D2FD}">
      <dsp:nvSpPr>
        <dsp:cNvPr id="0" name=""/>
        <dsp:cNvSpPr/>
      </dsp:nvSpPr>
      <dsp:spPr>
        <a:xfrm>
          <a:off x="5850518" y="179593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77900">
            <a:lnSpc>
              <a:spcPct val="90000"/>
            </a:lnSpc>
            <a:spcBef>
              <a:spcPct val="0"/>
            </a:spcBef>
            <a:spcAft>
              <a:spcPct val="35000"/>
            </a:spcAft>
            <a:buNone/>
            <a:defRPr b="1"/>
          </a:pPr>
          <a:r>
            <a:rPr lang="en-GB" sz="2200" b="1" kern="1200"/>
            <a:t>Mandatory Nature of </a:t>
          </a:r>
          <a:r>
            <a:rPr lang="en-GB" sz="2200" b="1" i="1" kern="1200"/>
            <a:t>Pari Passu </a:t>
          </a:r>
          <a:r>
            <a:rPr lang="en-GB" sz="2200" b="1" kern="1200"/>
            <a:t>Rule</a:t>
          </a:r>
          <a:endParaRPr lang="en-US" sz="2200" kern="1200"/>
        </a:p>
      </dsp:txBody>
      <dsp:txXfrm>
        <a:off x="5850518" y="1795934"/>
        <a:ext cx="4320000" cy="648000"/>
      </dsp:txXfrm>
    </dsp:sp>
    <dsp:sp modelId="{AD906C64-D610-4EF7-87F0-B15FE30EEB4F}">
      <dsp:nvSpPr>
        <dsp:cNvPr id="0" name=""/>
        <dsp:cNvSpPr/>
      </dsp:nvSpPr>
      <dsp:spPr>
        <a:xfrm>
          <a:off x="5850518" y="2528102"/>
          <a:ext cx="4320000" cy="17832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fr-FR" sz="1700" i="1" u="sng" kern="1200"/>
            <a:t>Re Jeavons, ex parte Mackay </a:t>
          </a:r>
          <a:r>
            <a:rPr lang="fr-FR" sz="1700" kern="1200"/>
            <a:t>(1873) 8 Ch App 643</a:t>
          </a:r>
          <a:endParaRPr lang="en-US" sz="1700" kern="1200"/>
        </a:p>
        <a:p>
          <a:pPr marL="171450" lvl="1" indent="-171450" algn="l" defTabSz="755650">
            <a:lnSpc>
              <a:spcPct val="90000"/>
            </a:lnSpc>
            <a:spcBef>
              <a:spcPct val="0"/>
            </a:spcBef>
            <a:spcAft>
              <a:spcPct val="15000"/>
            </a:spcAft>
            <a:buChar char="•"/>
          </a:pPr>
          <a:r>
            <a:rPr lang="en-GB" sz="1700" kern="1200"/>
            <a:t>“…a man is not allowed, by stipulation with a creditor, to provide for a different distribution of his effects in the event of bankruptcy from that which the law provides.” (James LJ)</a:t>
          </a:r>
          <a:endParaRPr lang="en-US" sz="1700" kern="1200"/>
        </a:p>
      </dsp:txBody>
      <dsp:txXfrm>
        <a:off x="5850518" y="2528102"/>
        <a:ext cx="4320000" cy="178327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1E9B9A-8CCA-8C43-AC9A-7D832359680D}" type="datetimeFigureOut">
              <a:rPr lang="en-US" smtClean="0"/>
              <a:t>3/4/26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791737-D1A5-6B4A-93D7-0C35081271D9}" type="slidenum">
              <a:rPr lang="en-US" smtClean="0"/>
              <a:t>‹#›</a:t>
            </a:fld>
            <a:endParaRPr lang="en-US"/>
          </a:p>
        </p:txBody>
      </p:sp>
    </p:spTree>
    <p:extLst>
      <p:ext uri="{BB962C8B-B14F-4D97-AF65-F5344CB8AC3E}">
        <p14:creationId xmlns:p14="http://schemas.microsoft.com/office/powerpoint/2010/main" val="3926004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791737-D1A5-6B4A-93D7-0C35081271D9}" type="slidenum">
              <a:rPr lang="en-US" smtClean="0"/>
              <a:t>1</a:t>
            </a:fld>
            <a:endParaRPr lang="en-US"/>
          </a:p>
        </p:txBody>
      </p:sp>
    </p:spTree>
    <p:extLst>
      <p:ext uri="{BB962C8B-B14F-4D97-AF65-F5344CB8AC3E}">
        <p14:creationId xmlns:p14="http://schemas.microsoft.com/office/powerpoint/2010/main" val="1786706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3/4/26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45915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3/4/26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80665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3/4/26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18354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3/4/26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80461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3/4/26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47531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3/4/26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84992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3/4/26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59304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3/4/26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98572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3/4/26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65793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3/4/26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7889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3/4/26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70990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3/4/26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124040018"/>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23" r:id="rId6"/>
    <p:sldLayoutId id="2147483718" r:id="rId7"/>
    <p:sldLayoutId id="2147483719" r:id="rId8"/>
    <p:sldLayoutId id="2147483720" r:id="rId9"/>
    <p:sldLayoutId id="2147483722" r:id="rId10"/>
    <p:sldLayoutId id="214748372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flickr.com/photos/97026550@N00/33287047596" TargetMode="External"/><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hyperlink" Target="https://creativecommons.org/licenses/by-nc-nd/3.0/"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mamvas.blogspot.com/2015/09/lehman-brothers-las-burbujas.html" TargetMode="External"/><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mamvas.blogspot.com/2015/09/lehman-brothers-las-burbujas.html" TargetMode="External"/><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mamvas.blogspot.com/2015/09/lehman-brothers-las-burbujas.html" TargetMode="External"/><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310135D4-D3A1-4556-B91B-4A12069D4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plash of colours on a white surface">
            <a:extLst>
              <a:ext uri="{FF2B5EF4-FFF2-40B4-BE49-F238E27FC236}">
                <a16:creationId xmlns:a16="http://schemas.microsoft.com/office/drawing/2014/main" id="{4BBD223E-AAE7-A930-AD7C-C6D24DB57A82}"/>
              </a:ext>
            </a:extLst>
          </p:cNvPr>
          <p:cNvPicPr>
            <a:picLocks noChangeAspect="1"/>
          </p:cNvPicPr>
          <p:nvPr/>
        </p:nvPicPr>
        <p:blipFill>
          <a:blip r:embed="rId3"/>
          <a:srcRect t="7889" r="9091" b="23930"/>
          <a:stretch>
            <a:fillRect/>
          </a:stretch>
        </p:blipFill>
        <p:spPr>
          <a:xfrm>
            <a:off x="20" y="-1"/>
            <a:ext cx="12191980" cy="6858001"/>
          </a:xfrm>
          <a:prstGeom prst="rect">
            <a:avLst/>
          </a:prstGeom>
        </p:spPr>
      </p:pic>
      <p:sp>
        <p:nvSpPr>
          <p:cNvPr id="36" name="Rectangle 35">
            <a:extLst>
              <a:ext uri="{FF2B5EF4-FFF2-40B4-BE49-F238E27FC236}">
                <a16:creationId xmlns:a16="http://schemas.microsoft.com/office/drawing/2014/main" id="{A9CCD9CD-49AE-3D3E-923B-81ECD3FBF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2015" y="-752015"/>
            <a:ext cx="6858000" cy="8362030"/>
          </a:xfrm>
          <a:prstGeom prst="rect">
            <a:avLst/>
          </a:prstGeom>
          <a:gradFill>
            <a:gsLst>
              <a:gs pos="0">
                <a:srgbClr val="000000">
                  <a:alpha val="0"/>
                </a:srgbClr>
              </a:gs>
              <a:gs pos="55000">
                <a:srgbClr val="000000">
                  <a:alpha val="50000"/>
                </a:srgbClr>
              </a:gs>
              <a:gs pos="100000">
                <a:srgbClr val="000000">
                  <a:alpha val="6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AB34DC-5FF3-D123-635D-4A77E4ED9AA0}"/>
              </a:ext>
            </a:extLst>
          </p:cNvPr>
          <p:cNvSpPr>
            <a:spLocks noGrp="1"/>
          </p:cNvSpPr>
          <p:nvPr>
            <p:ph type="ctrTitle"/>
          </p:nvPr>
        </p:nvSpPr>
        <p:spPr>
          <a:xfrm>
            <a:off x="626918" y="3429000"/>
            <a:ext cx="4506064" cy="1888742"/>
          </a:xfrm>
        </p:spPr>
        <p:txBody>
          <a:bodyPr vert="horz" lIns="91440" tIns="45720" rIns="91440" bIns="45720" rtlCol="0">
            <a:normAutofit fontScale="90000"/>
          </a:bodyPr>
          <a:lstStyle/>
          <a:p>
            <a:pPr algn="l"/>
            <a:r>
              <a:rPr lang="en-US" sz="3100" b="1" kern="1200" dirty="0">
                <a:solidFill>
                  <a:srgbClr val="FFFFFF"/>
                </a:solidFill>
                <a:latin typeface="+mj-lt"/>
                <a:ea typeface="+mj-ea"/>
                <a:cs typeface="+mj-cs"/>
              </a:rPr>
              <a:t>LAW 237 – Principles of Commercial Law</a:t>
            </a:r>
            <a:br>
              <a:rPr lang="en-US" sz="3100" b="1" kern="1200" dirty="0">
                <a:solidFill>
                  <a:srgbClr val="FFFFFF"/>
                </a:solidFill>
                <a:latin typeface="+mj-lt"/>
                <a:ea typeface="+mj-ea"/>
                <a:cs typeface="+mj-cs"/>
              </a:rPr>
            </a:br>
            <a:br>
              <a:rPr lang="en-US" sz="3100" b="1" kern="1200" dirty="0">
                <a:solidFill>
                  <a:srgbClr val="FFFFFF"/>
                </a:solidFill>
                <a:latin typeface="+mj-lt"/>
                <a:ea typeface="+mj-ea"/>
                <a:cs typeface="+mj-cs"/>
              </a:rPr>
            </a:br>
            <a:r>
              <a:rPr lang="en-US" sz="3100" b="1" kern="1200" dirty="0">
                <a:solidFill>
                  <a:srgbClr val="FFFFFF"/>
                </a:solidFill>
                <a:latin typeface="+mj-lt"/>
                <a:ea typeface="+mj-ea"/>
                <a:cs typeface="+mj-cs"/>
              </a:rPr>
              <a:t>Insolvency Lecture 4</a:t>
            </a:r>
            <a:br>
              <a:rPr lang="en-US" sz="3100" b="1" kern="1200" dirty="0">
                <a:solidFill>
                  <a:srgbClr val="FFFFFF"/>
                </a:solidFill>
                <a:latin typeface="+mj-lt"/>
                <a:ea typeface="+mj-ea"/>
                <a:cs typeface="+mj-cs"/>
              </a:rPr>
            </a:br>
            <a:endParaRPr lang="en-US" sz="3100" b="1" kern="1200" dirty="0">
              <a:solidFill>
                <a:srgbClr val="FFFFFF"/>
              </a:solidFill>
              <a:latin typeface="+mj-lt"/>
              <a:ea typeface="+mj-ea"/>
              <a:cs typeface="+mj-cs"/>
            </a:endParaRPr>
          </a:p>
        </p:txBody>
      </p:sp>
      <p:sp>
        <p:nvSpPr>
          <p:cNvPr id="3" name="Subtitle 2">
            <a:extLst>
              <a:ext uri="{FF2B5EF4-FFF2-40B4-BE49-F238E27FC236}">
                <a16:creationId xmlns:a16="http://schemas.microsoft.com/office/drawing/2014/main" id="{38A836F9-5DB4-EB2E-9159-C46FEEA966EC}"/>
              </a:ext>
            </a:extLst>
          </p:cNvPr>
          <p:cNvSpPr>
            <a:spLocks noGrp="1"/>
          </p:cNvSpPr>
          <p:nvPr>
            <p:ph type="subTitle" idx="1"/>
          </p:nvPr>
        </p:nvSpPr>
        <p:spPr>
          <a:xfrm>
            <a:off x="0" y="6133079"/>
            <a:ext cx="2459184" cy="839221"/>
          </a:xfrm>
        </p:spPr>
        <p:txBody>
          <a:bodyPr vert="horz" lIns="91440" tIns="45720" rIns="91440" bIns="45720" rtlCol="0">
            <a:normAutofit fontScale="62500" lnSpcReduction="20000"/>
          </a:bodyPr>
          <a:lstStyle/>
          <a:p>
            <a:pPr indent="-228600" algn="l">
              <a:buFont typeface="Arial" panose="020B0604020202020204" pitchFamily="34" charset="0"/>
              <a:buChar char="•"/>
            </a:pPr>
            <a:endParaRPr lang="en-US" dirty="0">
              <a:solidFill>
                <a:srgbClr val="FFFFFF"/>
              </a:solidFill>
            </a:endParaRPr>
          </a:p>
          <a:p>
            <a:pPr algn="l"/>
            <a:r>
              <a:rPr lang="en-US" dirty="0">
                <a:solidFill>
                  <a:srgbClr val="FFFFFF"/>
                </a:solidFill>
              </a:rPr>
              <a:t>This material is based on the university’s teaching materials</a:t>
            </a:r>
          </a:p>
          <a:p>
            <a:pPr indent="-228600" algn="l">
              <a:buFont typeface="Arial" panose="020B0604020202020204" pitchFamily="34" charset="0"/>
              <a:buChar char="•"/>
            </a:pPr>
            <a:endParaRPr lang="en-US" dirty="0">
              <a:solidFill>
                <a:srgbClr val="FFFFFF"/>
              </a:solidFill>
            </a:endParaRPr>
          </a:p>
        </p:txBody>
      </p:sp>
    </p:spTree>
    <p:extLst>
      <p:ext uri="{BB962C8B-B14F-4D97-AF65-F5344CB8AC3E}">
        <p14:creationId xmlns:p14="http://schemas.microsoft.com/office/powerpoint/2010/main" val="2177600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5F8DC99-4338-81F1-396F-D99FFAEA975B}"/>
              </a:ext>
            </a:extLst>
          </p:cNvPr>
          <p:cNvGraphicFramePr>
            <a:graphicFrameLocks noGrp="1"/>
          </p:cNvGraphicFramePr>
          <p:nvPr>
            <p:ph idx="1"/>
            <p:extLst>
              <p:ext uri="{D42A27DB-BD31-4B8C-83A1-F6EECF244321}">
                <p14:modId xmlns:p14="http://schemas.microsoft.com/office/powerpoint/2010/main" val="1121241530"/>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2418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212D13-96DD-1870-23BF-5510DEBCFCC1}"/>
              </a:ext>
            </a:extLst>
          </p:cNvPr>
          <p:cNvSpPr>
            <a:spLocks noGrp="1"/>
          </p:cNvSpPr>
          <p:nvPr>
            <p:ph type="title"/>
          </p:nvPr>
        </p:nvSpPr>
        <p:spPr>
          <a:xfrm>
            <a:off x="612648" y="548640"/>
            <a:ext cx="10945037" cy="1133856"/>
          </a:xfrm>
        </p:spPr>
        <p:txBody>
          <a:bodyPr anchor="t">
            <a:normAutofit/>
          </a:bodyPr>
          <a:lstStyle/>
          <a:p>
            <a:r>
              <a:rPr lang="en-US"/>
              <a:t>Pari Passu Principle</a:t>
            </a:r>
            <a:endParaRPr lang="en-US" dirty="0"/>
          </a:p>
        </p:txBody>
      </p:sp>
      <p:graphicFrame>
        <p:nvGraphicFramePr>
          <p:cNvPr id="8" name="Content Placeholder 5">
            <a:extLst>
              <a:ext uri="{FF2B5EF4-FFF2-40B4-BE49-F238E27FC236}">
                <a16:creationId xmlns:a16="http://schemas.microsoft.com/office/drawing/2014/main" id="{F1D272A1-0D0C-14C9-4CCE-9909C8702EFB}"/>
              </a:ext>
            </a:extLst>
          </p:cNvPr>
          <p:cNvGraphicFramePr>
            <a:graphicFrameLocks noGrp="1"/>
          </p:cNvGraphicFramePr>
          <p:nvPr>
            <p:ph idx="1"/>
            <p:extLst>
              <p:ext uri="{D42A27DB-BD31-4B8C-83A1-F6EECF244321}">
                <p14:modId xmlns:p14="http://schemas.microsoft.com/office/powerpoint/2010/main" val="2067835049"/>
              </p:ext>
            </p:extLst>
          </p:nvPr>
        </p:nvGraphicFramePr>
        <p:xfrm>
          <a:off x="612648" y="1881051"/>
          <a:ext cx="10945037" cy="44143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966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233CC-3D0B-7E43-B21C-3734CFB90C94}"/>
              </a:ext>
            </a:extLst>
          </p:cNvPr>
          <p:cNvSpPr>
            <a:spLocks noGrp="1"/>
          </p:cNvSpPr>
          <p:nvPr>
            <p:ph type="title"/>
          </p:nvPr>
        </p:nvSpPr>
        <p:spPr>
          <a:xfrm>
            <a:off x="838200" y="365125"/>
            <a:ext cx="10515600" cy="1131831"/>
          </a:xfrm>
        </p:spPr>
        <p:txBody>
          <a:bodyPr/>
          <a:lstStyle/>
          <a:p>
            <a:r>
              <a:rPr lang="en-US" b="1" dirty="0"/>
              <a:t>Example of Pari Passu</a:t>
            </a:r>
          </a:p>
        </p:txBody>
      </p:sp>
      <p:sp>
        <p:nvSpPr>
          <p:cNvPr id="4" name="Rounded Rectangle 3">
            <a:extLst>
              <a:ext uri="{FF2B5EF4-FFF2-40B4-BE49-F238E27FC236}">
                <a16:creationId xmlns:a16="http://schemas.microsoft.com/office/drawing/2014/main" id="{AAA51348-3BF2-6048-8540-9813A0498B82}"/>
              </a:ext>
            </a:extLst>
          </p:cNvPr>
          <p:cNvSpPr/>
          <p:nvPr/>
        </p:nvSpPr>
        <p:spPr>
          <a:xfrm>
            <a:off x="838182" y="2551471"/>
            <a:ext cx="2566218" cy="2757948"/>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b="1" spc="50" dirty="0">
                <a:ln w="0"/>
                <a:solidFill>
                  <a:schemeClr val="bg2"/>
                </a:solidFill>
                <a:effectLst>
                  <a:innerShdw blurRad="63500" dist="50800" dir="13500000">
                    <a:srgbClr val="000000">
                      <a:alpha val="50000"/>
                    </a:srgbClr>
                  </a:innerShdw>
                </a:effectLst>
              </a:rPr>
              <a:t>Company  = £150</a:t>
            </a:r>
          </a:p>
        </p:txBody>
      </p:sp>
      <p:sp>
        <p:nvSpPr>
          <p:cNvPr id="5" name="Rounded Rectangle 4">
            <a:extLst>
              <a:ext uri="{FF2B5EF4-FFF2-40B4-BE49-F238E27FC236}">
                <a16:creationId xmlns:a16="http://schemas.microsoft.com/office/drawing/2014/main" id="{DCFE815D-6F7E-DD43-8344-10883F1673A3}"/>
              </a:ext>
            </a:extLst>
          </p:cNvPr>
          <p:cNvSpPr/>
          <p:nvPr/>
        </p:nvSpPr>
        <p:spPr>
          <a:xfrm>
            <a:off x="4498241" y="1563327"/>
            <a:ext cx="2657145" cy="186567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Creditor A= £100</a:t>
            </a:r>
          </a:p>
        </p:txBody>
      </p:sp>
      <p:sp>
        <p:nvSpPr>
          <p:cNvPr id="6" name="Rounded Rectangle 5">
            <a:extLst>
              <a:ext uri="{FF2B5EF4-FFF2-40B4-BE49-F238E27FC236}">
                <a16:creationId xmlns:a16="http://schemas.microsoft.com/office/drawing/2014/main" id="{9DE5A11E-0E9B-1E40-B818-7FF7849C9847}"/>
              </a:ext>
            </a:extLst>
          </p:cNvPr>
          <p:cNvSpPr/>
          <p:nvPr/>
        </p:nvSpPr>
        <p:spPr>
          <a:xfrm>
            <a:off x="8116493" y="1574388"/>
            <a:ext cx="2657165" cy="186567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Creditor B= £200</a:t>
            </a:r>
          </a:p>
        </p:txBody>
      </p:sp>
      <p:sp>
        <p:nvSpPr>
          <p:cNvPr id="10" name="Rounded Rectangle 9">
            <a:extLst>
              <a:ext uri="{FF2B5EF4-FFF2-40B4-BE49-F238E27FC236}">
                <a16:creationId xmlns:a16="http://schemas.microsoft.com/office/drawing/2014/main" id="{2C5530EB-F447-8A4E-AF69-89D132A246C1}"/>
              </a:ext>
            </a:extLst>
          </p:cNvPr>
          <p:cNvSpPr/>
          <p:nvPr/>
        </p:nvSpPr>
        <p:spPr>
          <a:xfrm>
            <a:off x="4498243" y="4535130"/>
            <a:ext cx="2657165" cy="186567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Creditor A= £50</a:t>
            </a:r>
          </a:p>
        </p:txBody>
      </p:sp>
      <p:sp>
        <p:nvSpPr>
          <p:cNvPr id="11" name="Rounded Rectangle 10">
            <a:extLst>
              <a:ext uri="{FF2B5EF4-FFF2-40B4-BE49-F238E27FC236}">
                <a16:creationId xmlns:a16="http://schemas.microsoft.com/office/drawing/2014/main" id="{17DE4484-44EA-2849-9349-13820CD6363A}"/>
              </a:ext>
            </a:extLst>
          </p:cNvPr>
          <p:cNvSpPr/>
          <p:nvPr/>
        </p:nvSpPr>
        <p:spPr>
          <a:xfrm>
            <a:off x="8158317" y="4535131"/>
            <a:ext cx="2657165" cy="186567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Creditor B= £100</a:t>
            </a:r>
          </a:p>
        </p:txBody>
      </p:sp>
      <p:sp>
        <p:nvSpPr>
          <p:cNvPr id="15" name="Down Arrow 14">
            <a:extLst>
              <a:ext uri="{FF2B5EF4-FFF2-40B4-BE49-F238E27FC236}">
                <a16:creationId xmlns:a16="http://schemas.microsoft.com/office/drawing/2014/main" id="{EDB2B187-C26F-8941-AF95-C4B794CC2C44}"/>
              </a:ext>
            </a:extLst>
          </p:cNvPr>
          <p:cNvSpPr/>
          <p:nvPr/>
        </p:nvSpPr>
        <p:spPr>
          <a:xfrm>
            <a:off x="5584713" y="3520280"/>
            <a:ext cx="393290" cy="929148"/>
          </a:xfrm>
          <a:prstGeom prst="down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17" name="Down Arrow 16">
            <a:extLst>
              <a:ext uri="{FF2B5EF4-FFF2-40B4-BE49-F238E27FC236}">
                <a16:creationId xmlns:a16="http://schemas.microsoft.com/office/drawing/2014/main" id="{4A12DCBF-C641-9B4F-A05B-CEEF24BB4BE3}"/>
              </a:ext>
            </a:extLst>
          </p:cNvPr>
          <p:cNvSpPr/>
          <p:nvPr/>
        </p:nvSpPr>
        <p:spPr>
          <a:xfrm>
            <a:off x="9290245" y="3517491"/>
            <a:ext cx="393290" cy="929148"/>
          </a:xfrm>
          <a:prstGeom prst="down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5530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p:tgtEl>
                                          <p:spTgt spid="15"/>
                                        </p:tgtEl>
                                        <p:attrNameLst>
                                          <p:attrName>ppt_y</p:attrName>
                                        </p:attrNameLst>
                                      </p:cBhvr>
                                      <p:tavLst>
                                        <p:tav tm="0">
                                          <p:val>
                                            <p:strVal val="#ppt_y+#ppt_h*1.125000"/>
                                          </p:val>
                                        </p:tav>
                                        <p:tav tm="100000">
                                          <p:val>
                                            <p:strVal val="#ppt_y"/>
                                          </p:val>
                                        </p:tav>
                                      </p:tavLst>
                                    </p:anim>
                                    <p:animEffect transition="in" filter="wipe(up)">
                                      <p:cBhvr>
                                        <p:cTn id="26" dur="500"/>
                                        <p:tgtEl>
                                          <p:spTgt spid="15"/>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p:tgtEl>
                                          <p:spTgt spid="10"/>
                                        </p:tgtEl>
                                        <p:attrNameLst>
                                          <p:attrName>ppt_y</p:attrName>
                                        </p:attrNameLst>
                                      </p:cBhvr>
                                      <p:tavLst>
                                        <p:tav tm="0">
                                          <p:val>
                                            <p:strVal val="#ppt_y+#ppt_h*1.125000"/>
                                          </p:val>
                                        </p:tav>
                                        <p:tav tm="100000">
                                          <p:val>
                                            <p:strVal val="#ppt_y"/>
                                          </p:val>
                                        </p:tav>
                                      </p:tavLst>
                                    </p:anim>
                                    <p:animEffect transition="in" filter="wipe(up)">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p:tgtEl>
                                          <p:spTgt spid="17"/>
                                        </p:tgtEl>
                                        <p:attrNameLst>
                                          <p:attrName>ppt_y</p:attrName>
                                        </p:attrNameLst>
                                      </p:cBhvr>
                                      <p:tavLst>
                                        <p:tav tm="0">
                                          <p:val>
                                            <p:strVal val="#ppt_y+#ppt_h*1.125000"/>
                                          </p:val>
                                        </p:tav>
                                        <p:tav tm="100000">
                                          <p:val>
                                            <p:strVal val="#ppt_y"/>
                                          </p:val>
                                        </p:tav>
                                      </p:tavLst>
                                    </p:anim>
                                    <p:animEffect transition="in" filter="wipe(up)">
                                      <p:cBhvr>
                                        <p:cTn id="36" dur="500"/>
                                        <p:tgtEl>
                                          <p:spTgt spid="17"/>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p:tgtEl>
                                          <p:spTgt spid="11"/>
                                        </p:tgtEl>
                                        <p:attrNameLst>
                                          <p:attrName>ppt_y</p:attrName>
                                        </p:attrNameLst>
                                      </p:cBhvr>
                                      <p:tavLst>
                                        <p:tav tm="0">
                                          <p:val>
                                            <p:strVal val="#ppt_y+#ppt_h*1.125000"/>
                                          </p:val>
                                        </p:tav>
                                        <p:tav tm="100000">
                                          <p:val>
                                            <p:strVal val="#ppt_y"/>
                                          </p:val>
                                        </p:tav>
                                      </p:tavLst>
                                    </p:anim>
                                    <p:animEffect transition="in" filter="wipe(up)">
                                      <p:cBhvr>
                                        <p:cTn id="4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0" grpId="0" animBg="1"/>
      <p:bldP spid="11" grpId="0" animBg="1"/>
      <p:bldP spid="15" grpId="0"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924710-4286-E245-8C83-1AFD6B6C1C2A}"/>
              </a:ext>
            </a:extLst>
          </p:cNvPr>
          <p:cNvSpPr>
            <a:spLocks noGrp="1"/>
          </p:cNvSpPr>
          <p:nvPr>
            <p:ph type="title"/>
          </p:nvPr>
        </p:nvSpPr>
        <p:spPr>
          <a:xfrm>
            <a:off x="612648" y="603504"/>
            <a:ext cx="5862396" cy="1527048"/>
          </a:xfrm>
        </p:spPr>
        <p:txBody>
          <a:bodyPr anchor="b">
            <a:normAutofit/>
          </a:bodyPr>
          <a:lstStyle/>
          <a:p>
            <a:r>
              <a:rPr lang="en-US"/>
              <a:t>Pari Passu Principle</a:t>
            </a:r>
            <a:endParaRPr lang="en-US" dirty="0"/>
          </a:p>
        </p:txBody>
      </p:sp>
      <p:sp>
        <p:nvSpPr>
          <p:cNvPr id="3" name="Content Placeholder 2">
            <a:extLst>
              <a:ext uri="{FF2B5EF4-FFF2-40B4-BE49-F238E27FC236}">
                <a16:creationId xmlns:a16="http://schemas.microsoft.com/office/drawing/2014/main" id="{77123D41-D990-E2FE-492B-BFD3DA8AC338}"/>
              </a:ext>
            </a:extLst>
          </p:cNvPr>
          <p:cNvSpPr>
            <a:spLocks noGrp="1"/>
          </p:cNvSpPr>
          <p:nvPr>
            <p:ph idx="1"/>
          </p:nvPr>
        </p:nvSpPr>
        <p:spPr>
          <a:xfrm>
            <a:off x="612648" y="2212848"/>
            <a:ext cx="5862396" cy="4096512"/>
          </a:xfrm>
        </p:spPr>
        <p:txBody>
          <a:bodyPr>
            <a:normAutofit/>
          </a:bodyPr>
          <a:lstStyle/>
          <a:p>
            <a:pPr>
              <a:lnSpc>
                <a:spcPct val="110000"/>
              </a:lnSpc>
            </a:pPr>
            <a:r>
              <a:rPr lang="en-GB" sz="1100" b="1"/>
              <a:t>Mandatory Nature of </a:t>
            </a:r>
            <a:r>
              <a:rPr lang="en-GB" sz="1100" b="1" i="1"/>
              <a:t>Pari Passu </a:t>
            </a:r>
            <a:r>
              <a:rPr lang="en-GB" sz="1100" b="1"/>
              <a:t>Rule</a:t>
            </a:r>
          </a:p>
          <a:p>
            <a:pPr lvl="1">
              <a:lnSpc>
                <a:spcPct val="110000"/>
              </a:lnSpc>
            </a:pPr>
            <a:r>
              <a:rPr lang="fr-FR" sz="1100" i="1" u="sng"/>
              <a:t>British Eagle International Airlines Ltd v Compagnie National Air France </a:t>
            </a:r>
            <a:r>
              <a:rPr lang="fr-FR" sz="1100"/>
              <a:t>[1975] 2 All ER 390</a:t>
            </a:r>
          </a:p>
          <a:p>
            <a:pPr lvl="2">
              <a:lnSpc>
                <a:spcPct val="110000"/>
              </a:lnSpc>
            </a:pPr>
            <a:r>
              <a:rPr lang="en-GB" sz="1100" i="1"/>
              <a:t>‘[W]hat Air France are saying here is that the parties to the ‘clearing house’ arrangements by agreeing that simple contract debts are to be satisfied in a particular way have succeeded in ‘contracting out’ of the provisions contained in [section 107 of the Insolvency Act 1986] for the payment of unsecured debts ‘pari passu’. In such a context it is to my mind irrelevant that the parties to the ‘clearing house’ arrangements had good business reasons for entering into them and did not direct their minds to the question how the arrangements might be affected by the insolvency of one or more of the parties. Such ‘contracting out’ must, to my mind, be contrary to public policy.’ </a:t>
            </a:r>
            <a:r>
              <a:rPr lang="en-GB" sz="1100"/>
              <a:t>(per Lord Cross at 411b-c).</a:t>
            </a:r>
          </a:p>
          <a:p>
            <a:pPr lvl="2">
              <a:lnSpc>
                <a:spcPct val="110000"/>
              </a:lnSpc>
            </a:pPr>
            <a:r>
              <a:rPr lang="en-GB" sz="1100"/>
              <a:t>See however </a:t>
            </a:r>
            <a:r>
              <a:rPr lang="en-GB" sz="1100" i="1"/>
              <a:t>IATA V Ansett </a:t>
            </a:r>
            <a:r>
              <a:rPr lang="en-GB" sz="1100"/>
              <a:t> [2008] HCA 3</a:t>
            </a:r>
          </a:p>
          <a:p>
            <a:pPr lvl="2">
              <a:lnSpc>
                <a:spcPct val="110000"/>
              </a:lnSpc>
            </a:pPr>
            <a:r>
              <a:rPr lang="en-GB" sz="1100"/>
              <a:t>What</a:t>
            </a:r>
            <a:r>
              <a:rPr lang="fr-FR" sz="1100"/>
              <a:t> about subordination </a:t>
            </a:r>
            <a:r>
              <a:rPr lang="en-GB" sz="1100"/>
              <a:t>agreements</a:t>
            </a:r>
            <a:r>
              <a:rPr lang="fr-FR" sz="1100" i="1"/>
              <a:t>? Re Maxwell Communications Corp (No 2) </a:t>
            </a:r>
            <a:r>
              <a:rPr lang="fr-FR" sz="1100"/>
              <a:t>[1993] BCC 369</a:t>
            </a:r>
          </a:p>
          <a:p>
            <a:pPr>
              <a:lnSpc>
                <a:spcPct val="110000"/>
              </a:lnSpc>
            </a:pPr>
            <a:r>
              <a:rPr lang="en-GB" sz="1100" b="1"/>
              <a:t>Summary</a:t>
            </a:r>
          </a:p>
          <a:p>
            <a:pPr lvl="1">
              <a:lnSpc>
                <a:spcPct val="110000"/>
              </a:lnSpc>
            </a:pPr>
            <a:r>
              <a:rPr lang="en-GB" sz="1100"/>
              <a:t>Mandatory; creditors; intention/purpose/commercial rationale irrelevant </a:t>
            </a:r>
          </a:p>
          <a:p>
            <a:pPr>
              <a:lnSpc>
                <a:spcPct val="110000"/>
              </a:lnSpc>
            </a:pPr>
            <a:endParaRPr lang="en-US" sz="1100"/>
          </a:p>
        </p:txBody>
      </p:sp>
      <p:pic>
        <p:nvPicPr>
          <p:cNvPr id="4" name="Picture 3" descr="British Eagle Airline Aircraft Image&#10;(c) Bing">
            <a:extLst>
              <a:ext uri="{FF2B5EF4-FFF2-40B4-BE49-F238E27FC236}">
                <a16:creationId xmlns:a16="http://schemas.microsoft.com/office/drawing/2014/main" id="{DBABEB93-EE19-F995-3807-E370713781AA}"/>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7091395" y="1886592"/>
            <a:ext cx="4681506" cy="3113201"/>
          </a:xfrm>
          <a:prstGeom prst="rect">
            <a:avLst/>
          </a:prstGeom>
        </p:spPr>
      </p:pic>
      <p:sp>
        <p:nvSpPr>
          <p:cNvPr id="5" name="TextBox 4">
            <a:extLst>
              <a:ext uri="{FF2B5EF4-FFF2-40B4-BE49-F238E27FC236}">
                <a16:creationId xmlns:a16="http://schemas.microsoft.com/office/drawing/2014/main" id="{191C969A-965E-59BA-9F3C-239322C1DEB3}"/>
              </a:ext>
            </a:extLst>
          </p:cNvPr>
          <p:cNvSpPr txBox="1"/>
          <p:nvPr/>
        </p:nvSpPr>
        <p:spPr>
          <a:xfrm>
            <a:off x="8938472" y="4799738"/>
            <a:ext cx="2834429" cy="200055"/>
          </a:xfrm>
          <a:prstGeom prst="rect">
            <a:avLst/>
          </a:prstGeom>
          <a:solidFill>
            <a:srgbClr val="000000"/>
          </a:solidFill>
        </p:spPr>
        <p:txBody>
          <a:bodyPr wrap="none" rtlCol="0">
            <a:spAutoFit/>
          </a:bodyPr>
          <a:lstStyle/>
          <a:p>
            <a:pPr algn="r">
              <a:spcAft>
                <a:spcPts val="600"/>
              </a:spcAft>
            </a:pPr>
            <a:r>
              <a:rPr lang="en-GB" sz="700">
                <a:solidFill>
                  <a:srgbClr val="FFFFFF"/>
                </a:solidFill>
                <a:hlinkClick r:id="rId3" tooltip="https://www.flickr.com/photos/97026550@N00/33287047596">
                  <a:extLst>
                    <a:ext uri="{A12FA001-AC4F-418D-AE19-62706E023703}">
                      <ahyp:hlinkClr xmlns:ahyp="http://schemas.microsoft.com/office/drawing/2018/hyperlinkcolor" val="tx"/>
                    </a:ext>
                  </a:extLst>
                </a:hlinkClick>
              </a:rPr>
              <a:t>This Photo</a:t>
            </a:r>
            <a:r>
              <a:rPr lang="en-GB" sz="700">
                <a:solidFill>
                  <a:srgbClr val="FFFFFF"/>
                </a:solidFill>
              </a:rPr>
              <a:t> by Unknown Author is licensed under </a:t>
            </a:r>
            <a:r>
              <a:rPr lang="en-GB" sz="700">
                <a:solidFill>
                  <a:srgbClr val="FFFFFF"/>
                </a:solidFill>
                <a:hlinkClick r:id="rId4" tooltip="https://creativecommons.org/licenses/by-nc-nd/3.0/">
                  <a:extLst>
                    <a:ext uri="{A12FA001-AC4F-418D-AE19-62706E023703}">
                      <ahyp:hlinkClr xmlns:ahyp="http://schemas.microsoft.com/office/drawing/2018/hyperlinkcolor" val="tx"/>
                    </a:ext>
                  </a:extLst>
                </a:hlinkClick>
              </a:rPr>
              <a:t>CC BY-NC-ND</a:t>
            </a:r>
            <a:endParaRPr lang="en-GB" sz="700">
              <a:solidFill>
                <a:srgbClr val="FFFFFF"/>
              </a:solidFill>
            </a:endParaRPr>
          </a:p>
        </p:txBody>
      </p:sp>
    </p:spTree>
    <p:extLst>
      <p:ext uri="{BB962C8B-B14F-4D97-AF65-F5344CB8AC3E}">
        <p14:creationId xmlns:p14="http://schemas.microsoft.com/office/powerpoint/2010/main" val="3595716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outdoor, building, of Lehman Brothers (c) Bing&#10;&#10;">
            <a:extLst>
              <a:ext uri="{FF2B5EF4-FFF2-40B4-BE49-F238E27FC236}">
                <a16:creationId xmlns:a16="http://schemas.microsoft.com/office/drawing/2014/main" id="{89F2CA61-D325-7FDB-1FB6-EC69324FF1B0}"/>
              </a:ext>
            </a:extLst>
          </p:cNvPr>
          <p:cNvPicPr>
            <a:picLocks noChangeAspect="1"/>
          </p:cNvPicPr>
          <p:nvPr/>
        </p:nvPicPr>
        <p:blipFill>
          <a:blip r:embed="rId2">
            <a:extLst>
              <a:ext uri="{837473B0-CC2E-450A-ABE3-18F120FF3D39}">
                <a1611:picAttrSrcUrl xmlns:a1611="http://schemas.microsoft.com/office/drawing/2016/11/main" r:id="rId3"/>
              </a:ext>
            </a:extLst>
          </a:blip>
          <a:srcRect l="17704" r="33070" b="-1"/>
          <a:stretch/>
        </p:blipFill>
        <p:spPr>
          <a:xfrm>
            <a:off x="20" y="10"/>
            <a:ext cx="4910308" cy="6857990"/>
          </a:xfrm>
          <a:prstGeom prst="rect">
            <a:avLst/>
          </a:prstGeom>
        </p:spPr>
      </p:pic>
      <p:sp>
        <p:nvSpPr>
          <p:cNvPr id="2" name="Title 1">
            <a:extLst>
              <a:ext uri="{FF2B5EF4-FFF2-40B4-BE49-F238E27FC236}">
                <a16:creationId xmlns:a16="http://schemas.microsoft.com/office/drawing/2014/main" id="{830E4343-7335-AE2A-D84F-B6AC5408017E}"/>
              </a:ext>
            </a:extLst>
          </p:cNvPr>
          <p:cNvSpPr>
            <a:spLocks noGrp="1"/>
          </p:cNvSpPr>
          <p:nvPr>
            <p:ph type="title"/>
          </p:nvPr>
        </p:nvSpPr>
        <p:spPr>
          <a:xfrm>
            <a:off x="5568537" y="603504"/>
            <a:ext cx="5916168" cy="1527048"/>
          </a:xfrm>
        </p:spPr>
        <p:txBody>
          <a:bodyPr anchor="b">
            <a:normAutofit/>
          </a:bodyPr>
          <a:lstStyle/>
          <a:p>
            <a:r>
              <a:rPr lang="en-GB" sz="2800"/>
              <a:t>Insolvency-triggered divestment: the ‘anti-deprivation’ rule </a:t>
            </a:r>
            <a:br>
              <a:rPr lang="en-US" sz="2800"/>
            </a:br>
            <a:endParaRPr lang="en-US" sz="2800"/>
          </a:p>
        </p:txBody>
      </p:sp>
      <p:sp>
        <p:nvSpPr>
          <p:cNvPr id="3" name="Content Placeholder 2">
            <a:extLst>
              <a:ext uri="{FF2B5EF4-FFF2-40B4-BE49-F238E27FC236}">
                <a16:creationId xmlns:a16="http://schemas.microsoft.com/office/drawing/2014/main" id="{4A7BC202-BF6D-A4AB-C53F-0B6C7D774D2A}"/>
              </a:ext>
            </a:extLst>
          </p:cNvPr>
          <p:cNvSpPr>
            <a:spLocks noGrp="1"/>
          </p:cNvSpPr>
          <p:nvPr>
            <p:ph idx="1"/>
          </p:nvPr>
        </p:nvSpPr>
        <p:spPr>
          <a:xfrm>
            <a:off x="5568537" y="2214282"/>
            <a:ext cx="5916168" cy="4095078"/>
          </a:xfrm>
        </p:spPr>
        <p:txBody>
          <a:bodyPr>
            <a:normAutofit/>
          </a:bodyPr>
          <a:lstStyle/>
          <a:p>
            <a:pPr>
              <a:lnSpc>
                <a:spcPct val="110000"/>
              </a:lnSpc>
            </a:pPr>
            <a:r>
              <a:rPr lang="en-GB" sz="1100" b="1"/>
              <a:t>The basic principle</a:t>
            </a:r>
          </a:p>
          <a:p>
            <a:pPr lvl="1">
              <a:lnSpc>
                <a:spcPct val="110000"/>
              </a:lnSpc>
            </a:pPr>
            <a:r>
              <a:rPr lang="en-GB" sz="1100"/>
              <a:t>Contractual provision + removal of asset on insolvency = </a:t>
            </a:r>
            <a:r>
              <a:rPr lang="en-GB" sz="1100" u="sng"/>
              <a:t>Fraud on insolvency/void</a:t>
            </a:r>
            <a:endParaRPr lang="he-IL" sz="1100" u="sng"/>
          </a:p>
          <a:p>
            <a:pPr lvl="1">
              <a:lnSpc>
                <a:spcPct val="110000"/>
              </a:lnSpc>
            </a:pPr>
            <a:endParaRPr lang="en-GB" sz="1100"/>
          </a:p>
          <a:p>
            <a:pPr lvl="1" indent="0">
              <a:lnSpc>
                <a:spcPct val="110000"/>
              </a:lnSpc>
              <a:buNone/>
            </a:pPr>
            <a:endParaRPr lang="en-GB" sz="1100"/>
          </a:p>
          <a:p>
            <a:pPr>
              <a:lnSpc>
                <a:spcPct val="110000"/>
              </a:lnSpc>
            </a:pPr>
            <a:r>
              <a:rPr lang="en-GB" sz="1100" b="1"/>
              <a:t>Treatment of different contractual clauses</a:t>
            </a:r>
          </a:p>
          <a:p>
            <a:pPr marL="800100" lvl="1" indent="-342900">
              <a:lnSpc>
                <a:spcPct val="110000"/>
              </a:lnSpc>
              <a:buFont typeface="+mj-lt"/>
              <a:buAutoNum type="alphaLcParenR"/>
            </a:pPr>
            <a:r>
              <a:rPr lang="en-GB" sz="1100"/>
              <a:t>Vesting clauses on insolvency: </a:t>
            </a:r>
            <a:r>
              <a:rPr lang="en-GB" sz="1100" i="1"/>
              <a:t>Re Harrison, ex parte Jay </a:t>
            </a:r>
            <a:r>
              <a:rPr lang="en-GB" sz="1100"/>
              <a:t>(1880) 14 Ch D 19</a:t>
            </a:r>
          </a:p>
          <a:p>
            <a:pPr lvl="2">
              <a:lnSpc>
                <a:spcPct val="110000"/>
              </a:lnSpc>
            </a:pPr>
            <a:r>
              <a:rPr lang="en-GB" sz="1100"/>
              <a:t>“…a simple stipulation that, upon a man becoming bankrupt, that which was his property up to the date of the bankruptcy should go over to someone else and be taken away from his creditors, is void as being a violation of the policy of the bankrupt law.” (per James LJ, p. 25)</a:t>
            </a:r>
          </a:p>
          <a:p>
            <a:pPr marL="800100" lvl="1" indent="-342900">
              <a:lnSpc>
                <a:spcPct val="110000"/>
              </a:lnSpc>
              <a:buFont typeface="+mj-lt"/>
              <a:buAutoNum type="alphaLcParenR"/>
            </a:pPr>
            <a:r>
              <a:rPr lang="en-GB" sz="1100"/>
              <a:t>Vesting clauses on default: </a:t>
            </a:r>
            <a:r>
              <a:rPr lang="en-GB" sz="1100" i="1"/>
              <a:t>Re Garrud, ex parte Newitt </a:t>
            </a:r>
            <a:r>
              <a:rPr lang="en-GB" sz="1100"/>
              <a:t>(1880) 16 Ch D 522 </a:t>
            </a:r>
          </a:p>
          <a:p>
            <a:pPr lvl="2">
              <a:lnSpc>
                <a:spcPct val="110000"/>
              </a:lnSpc>
            </a:pPr>
            <a:r>
              <a:rPr lang="en-GB" sz="1100" i="1"/>
              <a:t>cf  Money Markets International Stockbrokers Ltd (In Liquidation) v London Stock Exchange Ltd </a:t>
            </a:r>
            <a:r>
              <a:rPr lang="en-GB" sz="1100"/>
              <a:t>[2002] 1 W.L.R. 1150 </a:t>
            </a:r>
          </a:p>
          <a:p>
            <a:pPr>
              <a:lnSpc>
                <a:spcPct val="110000"/>
              </a:lnSpc>
            </a:pPr>
            <a:endParaRPr lang="en-US" sz="1100"/>
          </a:p>
        </p:txBody>
      </p:sp>
      <p:sp>
        <p:nvSpPr>
          <p:cNvPr id="5" name="TextBox 4">
            <a:extLst>
              <a:ext uri="{FF2B5EF4-FFF2-40B4-BE49-F238E27FC236}">
                <a16:creationId xmlns:a16="http://schemas.microsoft.com/office/drawing/2014/main" id="{86D73EA8-D119-5C9A-AA5E-87F6EEEC81C2}"/>
              </a:ext>
            </a:extLst>
          </p:cNvPr>
          <p:cNvSpPr txBox="1"/>
          <p:nvPr/>
        </p:nvSpPr>
        <p:spPr>
          <a:xfrm>
            <a:off x="2407720" y="6657945"/>
            <a:ext cx="2502608" cy="200055"/>
          </a:xfrm>
          <a:prstGeom prst="rect">
            <a:avLst/>
          </a:prstGeom>
          <a:solidFill>
            <a:srgbClr val="000000"/>
          </a:solidFill>
        </p:spPr>
        <p:txBody>
          <a:bodyPr wrap="none" rtlCol="0">
            <a:spAutoFit/>
          </a:bodyPr>
          <a:lstStyle/>
          <a:p>
            <a:pPr algn="r">
              <a:spcAft>
                <a:spcPts val="600"/>
              </a:spcAft>
            </a:pPr>
            <a:r>
              <a:rPr lang="en-GB" sz="700">
                <a:solidFill>
                  <a:srgbClr val="FFFFFF"/>
                </a:solidFill>
                <a:hlinkClick r:id="rId3" tooltip="http://mamvas.blogspot.com/2015/09/lehman-brothers-las-burbujas.html">
                  <a:extLst>
                    <a:ext uri="{A12FA001-AC4F-418D-AE19-62706E023703}">
                      <ahyp:hlinkClr xmlns:ahyp="http://schemas.microsoft.com/office/drawing/2018/hyperlinkcolor" val="tx"/>
                    </a:ext>
                  </a:extLst>
                </a:hlinkClick>
              </a:rPr>
              <a:t>This Photo</a:t>
            </a:r>
            <a:r>
              <a:rPr lang="en-GB" sz="700">
                <a:solidFill>
                  <a:srgbClr val="FFFFFF"/>
                </a:solidFill>
              </a:rPr>
              <a:t> by Unknown Author is licensed under </a:t>
            </a:r>
            <a:r>
              <a:rPr lang="en-GB" sz="700">
                <a:solidFill>
                  <a:srgbClr val="FFFFFF"/>
                </a:solidFill>
                <a:hlinkClick r:id="rId4" tooltip="https://creativecommons.org/licenses/by/3.0/">
                  <a:extLst>
                    <a:ext uri="{A12FA001-AC4F-418D-AE19-62706E023703}">
                      <ahyp:hlinkClr xmlns:ahyp="http://schemas.microsoft.com/office/drawing/2018/hyperlinkcolor" val="tx"/>
                    </a:ext>
                  </a:extLst>
                </a:hlinkClick>
              </a:rPr>
              <a:t>CC BY</a:t>
            </a:r>
            <a:endParaRPr lang="en-GB" sz="700">
              <a:solidFill>
                <a:srgbClr val="FFFFFF"/>
              </a:solidFill>
            </a:endParaRPr>
          </a:p>
        </p:txBody>
      </p:sp>
    </p:spTree>
    <p:extLst>
      <p:ext uri="{BB962C8B-B14F-4D97-AF65-F5344CB8AC3E}">
        <p14:creationId xmlns:p14="http://schemas.microsoft.com/office/powerpoint/2010/main" val="1201993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outdoor, building, of Lehman Brothers (c) Bing&#10;&#10;">
            <a:extLst>
              <a:ext uri="{FF2B5EF4-FFF2-40B4-BE49-F238E27FC236}">
                <a16:creationId xmlns:a16="http://schemas.microsoft.com/office/drawing/2014/main" id="{6E7F9BA5-8645-A216-D72B-2F0F03866565}"/>
              </a:ext>
            </a:extLst>
          </p:cNvPr>
          <p:cNvPicPr>
            <a:picLocks noChangeAspect="1"/>
          </p:cNvPicPr>
          <p:nvPr/>
        </p:nvPicPr>
        <p:blipFill>
          <a:blip r:embed="rId2">
            <a:extLst>
              <a:ext uri="{837473B0-CC2E-450A-ABE3-18F120FF3D39}">
                <a1611:picAttrSrcUrl xmlns:a1611="http://schemas.microsoft.com/office/drawing/2016/11/main" r:id="rId3"/>
              </a:ext>
            </a:extLst>
          </a:blip>
          <a:srcRect l="17705" r="33070" b="-1"/>
          <a:stretch/>
        </p:blipFill>
        <p:spPr>
          <a:xfrm>
            <a:off x="20" y="10"/>
            <a:ext cx="4910308" cy="6857990"/>
          </a:xfrm>
          <a:prstGeom prst="rect">
            <a:avLst/>
          </a:prstGeom>
        </p:spPr>
      </p:pic>
      <p:sp>
        <p:nvSpPr>
          <p:cNvPr id="2" name="Title 1">
            <a:extLst>
              <a:ext uri="{FF2B5EF4-FFF2-40B4-BE49-F238E27FC236}">
                <a16:creationId xmlns:a16="http://schemas.microsoft.com/office/drawing/2014/main" id="{8023EB46-9CD5-3421-9DBC-10868EAB9F63}"/>
              </a:ext>
            </a:extLst>
          </p:cNvPr>
          <p:cNvSpPr>
            <a:spLocks noGrp="1"/>
          </p:cNvSpPr>
          <p:nvPr>
            <p:ph type="title"/>
          </p:nvPr>
        </p:nvSpPr>
        <p:spPr>
          <a:xfrm>
            <a:off x="5568537" y="603504"/>
            <a:ext cx="5916168" cy="1527048"/>
          </a:xfrm>
        </p:spPr>
        <p:txBody>
          <a:bodyPr anchor="b">
            <a:normAutofit/>
          </a:bodyPr>
          <a:lstStyle/>
          <a:p>
            <a:r>
              <a:rPr lang="en-GB" sz="2800"/>
              <a:t>Insolvency-triggered divestment: the ‘anti-deprivation’ rule </a:t>
            </a:r>
            <a:br>
              <a:rPr lang="en-US" sz="2800"/>
            </a:br>
            <a:endParaRPr lang="en-US" sz="2800"/>
          </a:p>
        </p:txBody>
      </p:sp>
      <p:sp>
        <p:nvSpPr>
          <p:cNvPr id="3" name="Content Placeholder 2">
            <a:extLst>
              <a:ext uri="{FF2B5EF4-FFF2-40B4-BE49-F238E27FC236}">
                <a16:creationId xmlns:a16="http://schemas.microsoft.com/office/drawing/2014/main" id="{203277D0-1110-4EBE-7E94-AA2758B3AE8D}"/>
              </a:ext>
            </a:extLst>
          </p:cNvPr>
          <p:cNvSpPr>
            <a:spLocks noGrp="1"/>
          </p:cNvSpPr>
          <p:nvPr>
            <p:ph idx="1"/>
          </p:nvPr>
        </p:nvSpPr>
        <p:spPr>
          <a:xfrm>
            <a:off x="5568537" y="2214282"/>
            <a:ext cx="5916168" cy="4095078"/>
          </a:xfrm>
        </p:spPr>
        <p:txBody>
          <a:bodyPr>
            <a:normAutofit/>
          </a:bodyPr>
          <a:lstStyle/>
          <a:p>
            <a:pPr>
              <a:lnSpc>
                <a:spcPct val="110000"/>
              </a:lnSpc>
            </a:pPr>
            <a:r>
              <a:rPr lang="en-GB" sz="1500" b="1"/>
              <a:t>…Treatment of different contractual clauses</a:t>
            </a:r>
          </a:p>
          <a:p>
            <a:pPr marL="800100" lvl="1" indent="-342900">
              <a:lnSpc>
                <a:spcPct val="110000"/>
              </a:lnSpc>
              <a:buFont typeface="+mj-lt"/>
              <a:buAutoNum type="alphaLcParenR" startAt="3"/>
            </a:pPr>
            <a:r>
              <a:rPr lang="en-GB" sz="1500" dirty="0"/>
              <a:t>Forfeiture clauses in leases</a:t>
            </a:r>
            <a:endParaRPr lang="en-GB" sz="1500"/>
          </a:p>
          <a:p>
            <a:pPr marL="800100" lvl="1" indent="-342900">
              <a:lnSpc>
                <a:spcPct val="110000"/>
              </a:lnSpc>
              <a:buFont typeface="+mj-lt"/>
              <a:buAutoNum type="alphaLcParenR" startAt="3"/>
            </a:pPr>
            <a:r>
              <a:rPr lang="en-GB" sz="1500" dirty="0"/>
              <a:t>Deprivation of valueless assets - </a:t>
            </a:r>
            <a:r>
              <a:rPr lang="en-GB" sz="1500" i="1"/>
              <a:t>Money Markets (supra</a:t>
            </a:r>
            <a:r>
              <a:rPr lang="de-DE" sz="1500" i="1"/>
              <a:t>)</a:t>
            </a:r>
          </a:p>
          <a:p>
            <a:pPr marL="800100" lvl="1" indent="-342900">
              <a:lnSpc>
                <a:spcPct val="110000"/>
              </a:lnSpc>
              <a:buFont typeface="+mj-lt"/>
              <a:buAutoNum type="alphaLcParenR" startAt="3"/>
            </a:pPr>
            <a:r>
              <a:rPr lang="de-DE" sz="1500"/>
              <a:t>Determinable interests</a:t>
            </a:r>
            <a:r>
              <a:rPr lang="en-GB" sz="1500"/>
              <a:t> -</a:t>
            </a:r>
            <a:r>
              <a:rPr lang="he-IL" sz="1500"/>
              <a:t> </a:t>
            </a:r>
            <a:r>
              <a:rPr lang="en-GB" sz="1500" i="1"/>
              <a:t>Brandon v Robinson</a:t>
            </a:r>
            <a:r>
              <a:rPr lang="en-GB" sz="1500"/>
              <a:t> (1811) 18 Ves Jun 429</a:t>
            </a:r>
            <a:r>
              <a:rPr lang="he-IL" sz="1500"/>
              <a:t> </a:t>
            </a:r>
          </a:p>
          <a:p>
            <a:pPr marL="800100" lvl="1" indent="-342900">
              <a:lnSpc>
                <a:spcPct val="110000"/>
              </a:lnSpc>
              <a:buFont typeface="+mj-lt"/>
              <a:buAutoNum type="alphaLcParenR" startAt="3"/>
            </a:pPr>
            <a:r>
              <a:rPr lang="en-GB" sz="1500" i="1"/>
              <a:t>Ipso facto clauses -</a:t>
            </a:r>
            <a:r>
              <a:rPr lang="he-IL" sz="1500" i="1"/>
              <a:t> </a:t>
            </a:r>
            <a:r>
              <a:rPr lang="en-GB" sz="1500" i="1"/>
              <a:t>Transag Haulage v Leyland DAF </a:t>
            </a:r>
            <a:r>
              <a:rPr lang="en-GB" sz="1500"/>
              <a:t>[1994] 2 BCLC 88; IA 1986 ss 233, 233A and 233B </a:t>
            </a:r>
          </a:p>
          <a:p>
            <a:pPr>
              <a:lnSpc>
                <a:spcPct val="110000"/>
              </a:lnSpc>
            </a:pPr>
            <a:r>
              <a:rPr lang="en-GB" sz="1500" b="1"/>
              <a:t>The Belmont Park Case: party autonomy and ‘good faith’ to the fore</a:t>
            </a:r>
            <a:endParaRPr lang="he-IL" sz="1500" b="1"/>
          </a:p>
          <a:p>
            <a:pPr lvl="1">
              <a:lnSpc>
                <a:spcPct val="110000"/>
              </a:lnSpc>
            </a:pPr>
            <a:r>
              <a:rPr lang="en-GB" sz="1500" i="1" dirty="0"/>
              <a:t>Belmont Park Investment Pty Ltd v BNY Corporate Trustee Services Ltd </a:t>
            </a:r>
            <a:r>
              <a:rPr lang="en-GB" sz="1500" dirty="0"/>
              <a:t>[2011] UKSC 38</a:t>
            </a:r>
            <a:endParaRPr lang="he-IL" sz="1500"/>
          </a:p>
          <a:p>
            <a:pPr lvl="1">
              <a:lnSpc>
                <a:spcPct val="110000"/>
              </a:lnSpc>
            </a:pPr>
            <a:r>
              <a:rPr lang="en-GB" sz="1500" i="1" dirty="0"/>
              <a:t>Revenue and Customs Commissioners v Football League Ltd</a:t>
            </a:r>
            <a:r>
              <a:rPr lang="en-GB" sz="1500" dirty="0"/>
              <a:t> [2012] EWHC 1372 (Ch)</a:t>
            </a:r>
            <a:endParaRPr lang="en-GB" sz="1500"/>
          </a:p>
          <a:p>
            <a:pPr>
              <a:lnSpc>
                <a:spcPct val="110000"/>
              </a:lnSpc>
            </a:pPr>
            <a:endParaRPr lang="en-US" sz="1500"/>
          </a:p>
        </p:txBody>
      </p:sp>
    </p:spTree>
    <p:extLst>
      <p:ext uri="{BB962C8B-B14F-4D97-AF65-F5344CB8AC3E}">
        <p14:creationId xmlns:p14="http://schemas.microsoft.com/office/powerpoint/2010/main" val="1371594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picture containing outdoor, building, of Lehman Brothers (c) Bing&#10;&#10;">
            <a:extLst>
              <a:ext uri="{FF2B5EF4-FFF2-40B4-BE49-F238E27FC236}">
                <a16:creationId xmlns:a16="http://schemas.microsoft.com/office/drawing/2014/main" id="{2C4FEAFA-C80B-ABAB-C0C4-225AA5AF0A76}"/>
              </a:ext>
            </a:extLst>
          </p:cNvPr>
          <p:cNvPicPr>
            <a:picLocks noGrp="1" noChangeAspect="1"/>
          </p:cNvPicPr>
          <p:nvPr>
            <p:ph idx="1"/>
          </p:nvPr>
        </p:nvPicPr>
        <p:blipFill>
          <a:blip r:embed="rId2">
            <a:extLst>
              <a:ext uri="{837473B0-CC2E-450A-ABE3-18F120FF3D39}">
                <a1611:picAttrSrcUrl xmlns:a1611="http://schemas.microsoft.com/office/drawing/2016/11/main" r:id="rId3"/>
              </a:ext>
            </a:extLst>
          </a:blip>
          <a:srcRect l="17705" r="33070" b="-1"/>
          <a:stretch/>
        </p:blipFill>
        <p:spPr>
          <a:xfrm>
            <a:off x="20" y="10"/>
            <a:ext cx="4910308" cy="6857990"/>
          </a:xfrm>
          <a:prstGeom prst="rect">
            <a:avLst/>
          </a:prstGeom>
        </p:spPr>
      </p:pic>
      <p:sp>
        <p:nvSpPr>
          <p:cNvPr id="2" name="Title 1">
            <a:extLst>
              <a:ext uri="{FF2B5EF4-FFF2-40B4-BE49-F238E27FC236}">
                <a16:creationId xmlns:a16="http://schemas.microsoft.com/office/drawing/2014/main" id="{6A294EB7-9A56-8935-5D1B-490101816039}"/>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The Belmont Park case</a:t>
            </a:r>
          </a:p>
        </p:txBody>
      </p:sp>
      <p:sp>
        <p:nvSpPr>
          <p:cNvPr id="6" name="TextBox 5">
            <a:extLst>
              <a:ext uri="{FF2B5EF4-FFF2-40B4-BE49-F238E27FC236}">
                <a16:creationId xmlns:a16="http://schemas.microsoft.com/office/drawing/2014/main" id="{2BAEB055-8D8D-651A-32F1-22C419407706}"/>
              </a:ext>
            </a:extLst>
          </p:cNvPr>
          <p:cNvSpPr txBox="1"/>
          <p:nvPr/>
        </p:nvSpPr>
        <p:spPr>
          <a:xfrm>
            <a:off x="5568537" y="2214282"/>
            <a:ext cx="5916168" cy="4095078"/>
          </a:xfrm>
          <a:prstGeom prst="rect">
            <a:avLst/>
          </a:prstGeom>
        </p:spPr>
        <p:txBody>
          <a:bodyPr vert="horz" lIns="91440" tIns="45720" rIns="91440" bIns="45720" rtlCol="0">
            <a:normAutofit/>
          </a:bodyPr>
          <a:lstStyle/>
          <a:p>
            <a:pPr marL="342900" indent="-228600">
              <a:lnSpc>
                <a:spcPct val="110000"/>
              </a:lnSpc>
              <a:spcAft>
                <a:spcPts val="600"/>
              </a:spcAft>
              <a:buFont typeface="Arial" panose="020B0604020202020204" pitchFamily="34" charset="0"/>
              <a:buChar char="•"/>
            </a:pPr>
            <a:r>
              <a:rPr lang="en-US" sz="1500"/>
              <a:t>Notwithstanding the fact that that modern insolvency law included detailed provisions enacted against the background of the common law anti-deprivation rule, that rule was too well-established to be wholly discarded</a:t>
            </a:r>
            <a:r>
              <a:rPr lang="en-US" sz="1500" b="1"/>
              <a:t>.</a:t>
            </a:r>
          </a:p>
          <a:p>
            <a:pPr marL="342900" indent="-228600">
              <a:lnSpc>
                <a:spcPct val="110000"/>
              </a:lnSpc>
              <a:spcAft>
                <a:spcPts val="600"/>
              </a:spcAft>
              <a:buFont typeface="Arial" panose="020B0604020202020204" pitchFamily="34" charset="0"/>
              <a:buChar char="•"/>
            </a:pPr>
            <a:r>
              <a:rPr lang="en-US" sz="1500"/>
              <a:t>The rule potentially applied to any agreement which purported, on the insolvency of one party, to allocate to another party who was not a creditor of the insolvent party, an asset in which the insolvent party had an interest </a:t>
            </a:r>
          </a:p>
          <a:p>
            <a:pPr marL="342900" indent="-228600">
              <a:lnSpc>
                <a:spcPct val="110000"/>
              </a:lnSpc>
              <a:spcAft>
                <a:spcPts val="600"/>
              </a:spcAft>
              <a:buFont typeface="Arial" panose="020B0604020202020204" pitchFamily="34" charset="0"/>
              <a:buChar char="•"/>
            </a:pPr>
            <a:r>
              <a:rPr lang="en-US" sz="1500"/>
              <a:t>In determining whether the rule applied, the court should have regard to the substance of any given agreement to establish whether its purpose was to evade the application of insolvency law or, alternatively, it had a legitimate commercial purpose. Only agreements with the former purpose would contravene the anti-deprivation rule.</a:t>
            </a:r>
          </a:p>
        </p:txBody>
      </p:sp>
    </p:spTree>
    <p:extLst>
      <p:ext uri="{BB962C8B-B14F-4D97-AF65-F5344CB8AC3E}">
        <p14:creationId xmlns:p14="http://schemas.microsoft.com/office/powerpoint/2010/main" val="4239479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20EFA-1561-6BE4-1AA4-40DE838493CE}"/>
              </a:ext>
            </a:extLst>
          </p:cNvPr>
          <p:cNvSpPr>
            <a:spLocks noGrp="1"/>
          </p:cNvSpPr>
          <p:nvPr>
            <p:ph type="title"/>
          </p:nvPr>
        </p:nvSpPr>
        <p:spPr/>
        <p:txBody>
          <a:bodyPr/>
          <a:lstStyle/>
          <a:p>
            <a:r>
              <a:rPr lang="en-GB" sz="3600" dirty="0"/>
              <a:t>The Belmont Park case</a:t>
            </a:r>
            <a:endParaRPr lang="en-US" dirty="0"/>
          </a:p>
        </p:txBody>
      </p:sp>
      <p:sp>
        <p:nvSpPr>
          <p:cNvPr id="3" name="Content Placeholder 2">
            <a:extLst>
              <a:ext uri="{FF2B5EF4-FFF2-40B4-BE49-F238E27FC236}">
                <a16:creationId xmlns:a16="http://schemas.microsoft.com/office/drawing/2014/main" id="{296E0566-5DD9-E253-2894-106514E0231D}"/>
              </a:ext>
            </a:extLst>
          </p:cNvPr>
          <p:cNvSpPr>
            <a:spLocks noGrp="1"/>
          </p:cNvSpPr>
          <p:nvPr>
            <p:ph idx="1"/>
          </p:nvPr>
        </p:nvSpPr>
        <p:spPr/>
        <p:txBody>
          <a:bodyPr/>
          <a:lstStyle/>
          <a:p>
            <a:pPr marL="342900" indent="-342900" algn="just">
              <a:buFont typeface="+mj-lt"/>
              <a:buAutoNum type="arabicPeriod" startAt="4"/>
            </a:pPr>
            <a:r>
              <a:rPr lang="en-GB" sz="2000" dirty="0"/>
              <a:t>…The principle of party autonomy dictated that the court should not seek to disturb commercial agreements entered in good faith unless there was a clear inference that the agreement in question was deliberately designed to evade provisions of insolvency law. This is particularly the case in the context of complex financial instruments such as that before the court.</a:t>
            </a:r>
          </a:p>
          <a:p>
            <a:pPr marL="342900" indent="-342900" algn="just">
              <a:buFont typeface="+mj-lt"/>
              <a:buAutoNum type="arabicPeriod" startAt="4"/>
            </a:pPr>
            <a:r>
              <a:rPr lang="en-GB" sz="2000" dirty="0"/>
              <a:t>In deciding whether such an intention is present, whilst the existence of an insolvency-triggered deprivation is relevant, it is not determinative. There will be ‘borderline cases’ and in such cases “a commercially sensible transaction entered into in good faith should not be held to infringe the anti-deprivation rule.”</a:t>
            </a:r>
          </a:p>
          <a:p>
            <a:pPr marL="342900" indent="-342900" algn="just">
              <a:buFont typeface="+mj-lt"/>
              <a:buAutoNum type="arabicPeriod" startAt="4"/>
            </a:pPr>
            <a:r>
              <a:rPr lang="en-GB" sz="2000" dirty="0"/>
              <a:t>The fact that the noteholders had effectively provided the funds for the collateral was not determinative</a:t>
            </a:r>
          </a:p>
          <a:p>
            <a:endParaRPr lang="en-US" dirty="0"/>
          </a:p>
        </p:txBody>
      </p:sp>
    </p:spTree>
    <p:extLst>
      <p:ext uri="{BB962C8B-B14F-4D97-AF65-F5344CB8AC3E}">
        <p14:creationId xmlns:p14="http://schemas.microsoft.com/office/powerpoint/2010/main" val="1912284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Placeholder 12">
            <a:extLst>
              <a:ext uri="{FF2B5EF4-FFF2-40B4-BE49-F238E27FC236}">
                <a16:creationId xmlns:a16="http://schemas.microsoft.com/office/drawing/2014/main" id="{6049419D-46BE-9324-BAD9-77D3A86CE8DC}"/>
              </a:ext>
              <a:ext uri="{C183D7F6-B498-43B3-948B-1728B52AA6E4}">
                <adec:decorative xmlns:adec="http://schemas.microsoft.com/office/drawing/2017/decorative" val="1"/>
              </a:ext>
            </a:extLst>
          </p:cNvPr>
          <p:cNvPicPr>
            <a:picLocks noChangeAspect="1"/>
          </p:cNvPicPr>
          <p:nvPr/>
        </p:nvPicPr>
        <p:blipFill rotWithShape="1">
          <a:blip r:embed="rId2"/>
          <a:srcRect l="11494" r="27487"/>
          <a:stretch/>
        </p:blipFill>
        <p:spPr>
          <a:xfrm>
            <a:off x="4752550" y="10"/>
            <a:ext cx="7439450" cy="6857990"/>
          </a:xfrm>
          <a:prstGeom prst="rect">
            <a:avLst/>
          </a:prstGeom>
        </p:spPr>
      </p:pic>
      <p:sp>
        <p:nvSpPr>
          <p:cNvPr id="2" name="Title 1">
            <a:extLst>
              <a:ext uri="{FF2B5EF4-FFF2-40B4-BE49-F238E27FC236}">
                <a16:creationId xmlns:a16="http://schemas.microsoft.com/office/drawing/2014/main" id="{96F7C4A1-7E0D-007D-D95C-B2E1F1E4DE62}"/>
              </a:ext>
            </a:extLst>
          </p:cNvPr>
          <p:cNvSpPr>
            <a:spLocks noGrp="1"/>
          </p:cNvSpPr>
          <p:nvPr>
            <p:ph type="title"/>
          </p:nvPr>
        </p:nvSpPr>
        <p:spPr>
          <a:xfrm>
            <a:off x="614681" y="603504"/>
            <a:ext cx="3553412" cy="1527048"/>
          </a:xfrm>
        </p:spPr>
        <p:txBody>
          <a:bodyPr anchor="b">
            <a:normAutofit/>
          </a:bodyPr>
          <a:lstStyle/>
          <a:p>
            <a:r>
              <a:rPr lang="en-US" i="1" kern="1200" dirty="0">
                <a:latin typeface="+mj-lt"/>
                <a:ea typeface="+mj-ea"/>
                <a:cs typeface="+mj-cs"/>
              </a:rPr>
              <a:t>Microtask</a:t>
            </a:r>
            <a:endParaRPr lang="en-US" dirty="0"/>
          </a:p>
        </p:txBody>
      </p:sp>
      <p:sp>
        <p:nvSpPr>
          <p:cNvPr id="3" name="Content Placeholder 2">
            <a:extLst>
              <a:ext uri="{FF2B5EF4-FFF2-40B4-BE49-F238E27FC236}">
                <a16:creationId xmlns:a16="http://schemas.microsoft.com/office/drawing/2014/main" id="{AF24F37E-49BB-5192-7B8D-F1761D2EDBD1}"/>
              </a:ext>
            </a:extLst>
          </p:cNvPr>
          <p:cNvSpPr>
            <a:spLocks noGrp="1"/>
          </p:cNvSpPr>
          <p:nvPr>
            <p:ph idx="1"/>
          </p:nvPr>
        </p:nvSpPr>
        <p:spPr>
          <a:xfrm>
            <a:off x="614680" y="2212848"/>
            <a:ext cx="3553413" cy="4122420"/>
          </a:xfrm>
        </p:spPr>
        <p:txBody>
          <a:bodyPr>
            <a:normAutofit/>
          </a:bodyPr>
          <a:lstStyle/>
          <a:p>
            <a:r>
              <a:rPr lang="en-GB" sz="1800" b="1" spc="300" dirty="0"/>
              <a:t>Can you explain the key differences between the </a:t>
            </a:r>
            <a:r>
              <a:rPr lang="en-GB" sz="1800" b="1" i="1" spc="300"/>
              <a:t>pari</a:t>
            </a:r>
            <a:r>
              <a:rPr lang="en-GB" sz="1800" b="1" i="1" spc="300" dirty="0"/>
              <a:t> passu </a:t>
            </a:r>
            <a:r>
              <a:rPr lang="en-GB" sz="1800" b="1" spc="300" dirty="0"/>
              <a:t>and anti-Deprivation rules?</a:t>
            </a:r>
          </a:p>
          <a:p>
            <a:endParaRPr lang="en-US" sz="1800" dirty="0"/>
          </a:p>
        </p:txBody>
      </p:sp>
    </p:spTree>
    <p:extLst>
      <p:ext uri="{BB962C8B-B14F-4D97-AF65-F5344CB8AC3E}">
        <p14:creationId xmlns:p14="http://schemas.microsoft.com/office/powerpoint/2010/main" val="2271104866"/>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917</Words>
  <Application>Microsoft Macintosh PowerPoint</Application>
  <PresentationFormat>Widescreen</PresentationFormat>
  <Paragraphs>58</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Neue Haas Grotesk Text Pro</vt:lpstr>
      <vt:lpstr>VanillaVTI</vt:lpstr>
      <vt:lpstr>LAW 237 – Principles of Commercial Law  Insolvency Lecture 4 </vt:lpstr>
      <vt:lpstr>PowerPoint Presentation</vt:lpstr>
      <vt:lpstr>Pari Passu Principle</vt:lpstr>
      <vt:lpstr>Example of Pari Passu</vt:lpstr>
      <vt:lpstr>Pari Passu Principle</vt:lpstr>
      <vt:lpstr>Insolvency-triggered divestment: the ‘anti-deprivation’ rule  </vt:lpstr>
      <vt:lpstr>Insolvency-triggered divestment: the ‘anti-deprivation’ rule  </vt:lpstr>
      <vt:lpstr>The Belmont Park case</vt:lpstr>
      <vt:lpstr>The Belmont Park case</vt:lpstr>
      <vt:lpstr>Microtask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Azinge, Nkechikwu</dc:creator>
  <cp:lastModifiedBy>Kizilyurek Jones, Zora</cp:lastModifiedBy>
  <cp:revision>2</cp:revision>
  <dcterms:created xsi:type="dcterms:W3CDTF">2025-03-06T01:03:46Z</dcterms:created>
  <dcterms:modified xsi:type="dcterms:W3CDTF">2026-03-04T20:43:02Z</dcterms:modified>
</cp:coreProperties>
</file>