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98" r:id="rId6"/>
    <p:sldId id="262" r:id="rId7"/>
    <p:sldId id="263" r:id="rId8"/>
    <p:sldId id="297" r:id="rId9"/>
    <p:sldId id="264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1"/>
    <p:restoredTop sz="94366"/>
  </p:normalViewPr>
  <p:slideViewPr>
    <p:cSldViewPr snapToGrid="0">
      <p:cViewPr varScale="1">
        <p:scale>
          <a:sx n="95" d="100"/>
          <a:sy n="95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C575FA-D463-4028-BBAE-C38FD00C9108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CA48B99-BB28-4184-8C36-B401B439F369}">
      <dgm:prSet/>
      <dgm:spPr/>
      <dgm:t>
        <a:bodyPr/>
        <a:lstStyle/>
        <a:p>
          <a:r>
            <a:rPr lang="en-US"/>
            <a:t>Explain the core principles of corporate insolvency</a:t>
          </a:r>
        </a:p>
      </dgm:t>
    </dgm:pt>
    <dgm:pt modelId="{71721553-694B-4639-98EA-4570148D1186}" type="parTrans" cxnId="{D1C8C3BE-F390-44BB-914A-CE1C3F81ACB1}">
      <dgm:prSet/>
      <dgm:spPr/>
      <dgm:t>
        <a:bodyPr/>
        <a:lstStyle/>
        <a:p>
          <a:endParaRPr lang="en-US"/>
        </a:p>
      </dgm:t>
    </dgm:pt>
    <dgm:pt modelId="{B2F76240-912E-4A8A-AACF-973D19FF5AB5}" type="sibTrans" cxnId="{D1C8C3BE-F390-44BB-914A-CE1C3F81ACB1}">
      <dgm:prSet/>
      <dgm:spPr/>
      <dgm:t>
        <a:bodyPr/>
        <a:lstStyle/>
        <a:p>
          <a:endParaRPr lang="en-US"/>
        </a:p>
      </dgm:t>
    </dgm:pt>
    <dgm:pt modelId="{E0564521-4718-4957-B4D7-1437C839F784}">
      <dgm:prSet/>
      <dgm:spPr/>
      <dgm:t>
        <a:bodyPr/>
        <a:lstStyle/>
        <a:p>
          <a:r>
            <a:rPr lang="en-US"/>
            <a:t>Consider its historical evolution </a:t>
          </a:r>
        </a:p>
      </dgm:t>
    </dgm:pt>
    <dgm:pt modelId="{9AEDF451-2526-44CC-8C00-D4A072CC8448}" type="parTrans" cxnId="{08E7894B-0388-43B1-A09E-B4C174709589}">
      <dgm:prSet/>
      <dgm:spPr/>
      <dgm:t>
        <a:bodyPr/>
        <a:lstStyle/>
        <a:p>
          <a:endParaRPr lang="en-US"/>
        </a:p>
      </dgm:t>
    </dgm:pt>
    <dgm:pt modelId="{8B739FA4-2F35-4C82-B941-2033DE58C31C}" type="sibTrans" cxnId="{08E7894B-0388-43B1-A09E-B4C174709589}">
      <dgm:prSet/>
      <dgm:spPr/>
      <dgm:t>
        <a:bodyPr/>
        <a:lstStyle/>
        <a:p>
          <a:endParaRPr lang="en-US"/>
        </a:p>
      </dgm:t>
    </dgm:pt>
    <dgm:pt modelId="{E2E59414-AA46-4648-B6F7-E0B7601E768A}">
      <dgm:prSet/>
      <dgm:spPr/>
      <dgm:t>
        <a:bodyPr/>
        <a:lstStyle/>
        <a:p>
          <a:r>
            <a:rPr lang="en-US" dirty="0" err="1"/>
            <a:t>Analyse</a:t>
          </a:r>
          <a:r>
            <a:rPr lang="en-US" dirty="0"/>
            <a:t> the shift from individual enforcement to collective distribution</a:t>
          </a:r>
        </a:p>
      </dgm:t>
    </dgm:pt>
    <dgm:pt modelId="{0E2404A8-9B79-40C2-9100-4ADC9253D70C}" type="parTrans" cxnId="{B855492A-3083-4541-A953-025DC5107899}">
      <dgm:prSet/>
      <dgm:spPr/>
      <dgm:t>
        <a:bodyPr/>
        <a:lstStyle/>
        <a:p>
          <a:endParaRPr lang="en-US"/>
        </a:p>
      </dgm:t>
    </dgm:pt>
    <dgm:pt modelId="{5111BA22-3CDB-4C6E-9ACB-300D7D47D3BE}" type="sibTrans" cxnId="{B855492A-3083-4541-A953-025DC5107899}">
      <dgm:prSet/>
      <dgm:spPr/>
      <dgm:t>
        <a:bodyPr/>
        <a:lstStyle/>
        <a:p>
          <a:endParaRPr lang="en-US"/>
        </a:p>
      </dgm:t>
    </dgm:pt>
    <dgm:pt modelId="{66B7CA89-BC22-E14B-98BA-9349635EEBBB}">
      <dgm:prSet/>
      <dgm:spPr/>
      <dgm:t>
        <a:bodyPr/>
        <a:lstStyle/>
        <a:p>
          <a:r>
            <a:rPr lang="en-US" dirty="0"/>
            <a:t>Contemporary </a:t>
          </a:r>
          <a:r>
            <a:rPr lang="en-US" dirty="0" err="1"/>
            <a:t>challanges</a:t>
          </a:r>
          <a:endParaRPr lang="en-US" dirty="0"/>
        </a:p>
      </dgm:t>
    </dgm:pt>
    <dgm:pt modelId="{214302E8-D87A-904D-AC36-E4D3B070B1E7}" type="parTrans" cxnId="{65CC13EF-7A15-D946-A655-C80DC48A0506}">
      <dgm:prSet/>
      <dgm:spPr/>
      <dgm:t>
        <a:bodyPr/>
        <a:lstStyle/>
        <a:p>
          <a:endParaRPr lang="en-GB"/>
        </a:p>
      </dgm:t>
    </dgm:pt>
    <dgm:pt modelId="{BF87D92D-AD67-CC47-B37D-A50F6184A63C}" type="sibTrans" cxnId="{65CC13EF-7A15-D946-A655-C80DC48A0506}">
      <dgm:prSet/>
      <dgm:spPr/>
      <dgm:t>
        <a:bodyPr/>
        <a:lstStyle/>
        <a:p>
          <a:endParaRPr lang="en-GB"/>
        </a:p>
      </dgm:t>
    </dgm:pt>
    <dgm:pt modelId="{8A860D90-067F-BB4C-B50D-8B8F7326C170}" type="pres">
      <dgm:prSet presAssocID="{01C575FA-D463-4028-BBAE-C38FD00C9108}" presName="outerComposite" presStyleCnt="0">
        <dgm:presLayoutVars>
          <dgm:chMax val="5"/>
          <dgm:dir/>
          <dgm:resizeHandles val="exact"/>
        </dgm:presLayoutVars>
      </dgm:prSet>
      <dgm:spPr/>
    </dgm:pt>
    <dgm:pt modelId="{34F25F68-8FC2-9745-B727-C0136D37B23E}" type="pres">
      <dgm:prSet presAssocID="{01C575FA-D463-4028-BBAE-C38FD00C9108}" presName="dummyMaxCanvas" presStyleCnt="0">
        <dgm:presLayoutVars/>
      </dgm:prSet>
      <dgm:spPr/>
    </dgm:pt>
    <dgm:pt modelId="{94CB80D0-D6AD-9E47-B4C2-BC38DA943FA3}" type="pres">
      <dgm:prSet presAssocID="{01C575FA-D463-4028-BBAE-C38FD00C9108}" presName="FourNodes_1" presStyleLbl="node1" presStyleIdx="0" presStyleCnt="4">
        <dgm:presLayoutVars>
          <dgm:bulletEnabled val="1"/>
        </dgm:presLayoutVars>
      </dgm:prSet>
      <dgm:spPr/>
    </dgm:pt>
    <dgm:pt modelId="{C489D1C2-E862-E74C-BD6B-264ABD1FB3DE}" type="pres">
      <dgm:prSet presAssocID="{01C575FA-D463-4028-BBAE-C38FD00C9108}" presName="FourNodes_2" presStyleLbl="node1" presStyleIdx="1" presStyleCnt="4">
        <dgm:presLayoutVars>
          <dgm:bulletEnabled val="1"/>
        </dgm:presLayoutVars>
      </dgm:prSet>
      <dgm:spPr/>
    </dgm:pt>
    <dgm:pt modelId="{17C4991B-5090-C143-AC8C-A4A88689F8FD}" type="pres">
      <dgm:prSet presAssocID="{01C575FA-D463-4028-BBAE-C38FD00C9108}" presName="FourNodes_3" presStyleLbl="node1" presStyleIdx="2" presStyleCnt="4">
        <dgm:presLayoutVars>
          <dgm:bulletEnabled val="1"/>
        </dgm:presLayoutVars>
      </dgm:prSet>
      <dgm:spPr/>
    </dgm:pt>
    <dgm:pt modelId="{E5BBD68D-E0F1-2B46-B240-BC741F7B4B03}" type="pres">
      <dgm:prSet presAssocID="{01C575FA-D463-4028-BBAE-C38FD00C9108}" presName="FourNodes_4" presStyleLbl="node1" presStyleIdx="3" presStyleCnt="4">
        <dgm:presLayoutVars>
          <dgm:bulletEnabled val="1"/>
        </dgm:presLayoutVars>
      </dgm:prSet>
      <dgm:spPr/>
    </dgm:pt>
    <dgm:pt modelId="{C69EEB66-223F-4646-838B-6D0748E12AEF}" type="pres">
      <dgm:prSet presAssocID="{01C575FA-D463-4028-BBAE-C38FD00C9108}" presName="FourConn_1-2" presStyleLbl="fgAccFollowNode1" presStyleIdx="0" presStyleCnt="3">
        <dgm:presLayoutVars>
          <dgm:bulletEnabled val="1"/>
        </dgm:presLayoutVars>
      </dgm:prSet>
      <dgm:spPr/>
    </dgm:pt>
    <dgm:pt modelId="{B655961C-45F9-C24D-AF76-1C619A1B221A}" type="pres">
      <dgm:prSet presAssocID="{01C575FA-D463-4028-BBAE-C38FD00C9108}" presName="FourConn_2-3" presStyleLbl="fgAccFollowNode1" presStyleIdx="1" presStyleCnt="3">
        <dgm:presLayoutVars>
          <dgm:bulletEnabled val="1"/>
        </dgm:presLayoutVars>
      </dgm:prSet>
      <dgm:spPr/>
    </dgm:pt>
    <dgm:pt modelId="{662E3079-1E4E-BD4E-96F6-CDE97892494B}" type="pres">
      <dgm:prSet presAssocID="{01C575FA-D463-4028-BBAE-C38FD00C9108}" presName="FourConn_3-4" presStyleLbl="fgAccFollowNode1" presStyleIdx="2" presStyleCnt="3">
        <dgm:presLayoutVars>
          <dgm:bulletEnabled val="1"/>
        </dgm:presLayoutVars>
      </dgm:prSet>
      <dgm:spPr/>
    </dgm:pt>
    <dgm:pt modelId="{8E708733-5E8D-6040-B14A-3C4E9F434F9D}" type="pres">
      <dgm:prSet presAssocID="{01C575FA-D463-4028-BBAE-C38FD00C9108}" presName="FourNodes_1_text" presStyleLbl="node1" presStyleIdx="3" presStyleCnt="4">
        <dgm:presLayoutVars>
          <dgm:bulletEnabled val="1"/>
        </dgm:presLayoutVars>
      </dgm:prSet>
      <dgm:spPr/>
    </dgm:pt>
    <dgm:pt modelId="{3E0A2447-2802-8743-BB16-1EC8670F921B}" type="pres">
      <dgm:prSet presAssocID="{01C575FA-D463-4028-BBAE-C38FD00C9108}" presName="FourNodes_2_text" presStyleLbl="node1" presStyleIdx="3" presStyleCnt="4">
        <dgm:presLayoutVars>
          <dgm:bulletEnabled val="1"/>
        </dgm:presLayoutVars>
      </dgm:prSet>
      <dgm:spPr/>
    </dgm:pt>
    <dgm:pt modelId="{3EB57D13-5F2F-3C47-9C03-E7EABC0F99ED}" type="pres">
      <dgm:prSet presAssocID="{01C575FA-D463-4028-BBAE-C38FD00C9108}" presName="FourNodes_3_text" presStyleLbl="node1" presStyleIdx="3" presStyleCnt="4">
        <dgm:presLayoutVars>
          <dgm:bulletEnabled val="1"/>
        </dgm:presLayoutVars>
      </dgm:prSet>
      <dgm:spPr/>
    </dgm:pt>
    <dgm:pt modelId="{63A20C41-8836-4244-BE65-3DC27F0A4E6D}" type="pres">
      <dgm:prSet presAssocID="{01C575FA-D463-4028-BBAE-C38FD00C910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99FC30E-B08E-F749-8B0B-65A37F3D634E}" type="presOf" srcId="{E2E59414-AA46-4648-B6F7-E0B7601E768A}" destId="{17C4991B-5090-C143-AC8C-A4A88689F8FD}" srcOrd="0" destOrd="0" presId="urn:microsoft.com/office/officeart/2005/8/layout/vProcess5"/>
    <dgm:cxn modelId="{5B1C8A16-A9FB-4941-9142-E684708CDB8C}" type="presOf" srcId="{E0564521-4718-4957-B4D7-1437C839F784}" destId="{C489D1C2-E862-E74C-BD6B-264ABD1FB3DE}" srcOrd="0" destOrd="0" presId="urn:microsoft.com/office/officeart/2005/8/layout/vProcess5"/>
    <dgm:cxn modelId="{4D44FE19-78F6-9842-A57A-57E714D460A8}" type="presOf" srcId="{01C575FA-D463-4028-BBAE-C38FD00C9108}" destId="{8A860D90-067F-BB4C-B50D-8B8F7326C170}" srcOrd="0" destOrd="0" presId="urn:microsoft.com/office/officeart/2005/8/layout/vProcess5"/>
    <dgm:cxn modelId="{105D7124-EBA9-F74C-9565-4BF166628F34}" type="presOf" srcId="{B2F76240-912E-4A8A-AACF-973D19FF5AB5}" destId="{C69EEB66-223F-4646-838B-6D0748E12AEF}" srcOrd="0" destOrd="0" presId="urn:microsoft.com/office/officeart/2005/8/layout/vProcess5"/>
    <dgm:cxn modelId="{6D759227-7DFD-644D-A160-84EC8FC48DE6}" type="presOf" srcId="{66B7CA89-BC22-E14B-98BA-9349635EEBBB}" destId="{63A20C41-8836-4244-BE65-3DC27F0A4E6D}" srcOrd="1" destOrd="0" presId="urn:microsoft.com/office/officeart/2005/8/layout/vProcess5"/>
    <dgm:cxn modelId="{B855492A-3083-4541-A953-025DC5107899}" srcId="{01C575FA-D463-4028-BBAE-C38FD00C9108}" destId="{E2E59414-AA46-4648-B6F7-E0B7601E768A}" srcOrd="2" destOrd="0" parTransId="{0E2404A8-9B79-40C2-9100-4ADC9253D70C}" sibTransId="{5111BA22-3CDB-4C6E-9ACB-300D7D47D3BE}"/>
    <dgm:cxn modelId="{0791F03F-7FC7-BA49-B02F-A2BC391F3562}" type="presOf" srcId="{E2E59414-AA46-4648-B6F7-E0B7601E768A}" destId="{3EB57D13-5F2F-3C47-9C03-E7EABC0F99ED}" srcOrd="1" destOrd="0" presId="urn:microsoft.com/office/officeart/2005/8/layout/vProcess5"/>
    <dgm:cxn modelId="{BC3E274A-6F2B-C349-B2F0-DB9183EDA771}" type="presOf" srcId="{8B739FA4-2F35-4C82-B941-2033DE58C31C}" destId="{B655961C-45F9-C24D-AF76-1C619A1B221A}" srcOrd="0" destOrd="0" presId="urn:microsoft.com/office/officeart/2005/8/layout/vProcess5"/>
    <dgm:cxn modelId="{08E7894B-0388-43B1-A09E-B4C174709589}" srcId="{01C575FA-D463-4028-BBAE-C38FD00C9108}" destId="{E0564521-4718-4957-B4D7-1437C839F784}" srcOrd="1" destOrd="0" parTransId="{9AEDF451-2526-44CC-8C00-D4A072CC8448}" sibTransId="{8B739FA4-2F35-4C82-B941-2033DE58C31C}"/>
    <dgm:cxn modelId="{F56F856C-498C-9643-8B22-A64EC6B93C11}" type="presOf" srcId="{66B7CA89-BC22-E14B-98BA-9349635EEBBB}" destId="{E5BBD68D-E0F1-2B46-B240-BC741F7B4B03}" srcOrd="0" destOrd="0" presId="urn:microsoft.com/office/officeart/2005/8/layout/vProcess5"/>
    <dgm:cxn modelId="{0DA87B70-E49C-6F42-839E-D8C8AA2D928C}" type="presOf" srcId="{E0564521-4718-4957-B4D7-1437C839F784}" destId="{3E0A2447-2802-8743-BB16-1EC8670F921B}" srcOrd="1" destOrd="0" presId="urn:microsoft.com/office/officeart/2005/8/layout/vProcess5"/>
    <dgm:cxn modelId="{5C15E99D-B2A2-864F-8CFC-1B6F602F1988}" type="presOf" srcId="{8CA48B99-BB28-4184-8C36-B401B439F369}" destId="{94CB80D0-D6AD-9E47-B4C2-BC38DA943FA3}" srcOrd="0" destOrd="0" presId="urn:microsoft.com/office/officeart/2005/8/layout/vProcess5"/>
    <dgm:cxn modelId="{D1C8C3BE-F390-44BB-914A-CE1C3F81ACB1}" srcId="{01C575FA-D463-4028-BBAE-C38FD00C9108}" destId="{8CA48B99-BB28-4184-8C36-B401B439F369}" srcOrd="0" destOrd="0" parTransId="{71721553-694B-4639-98EA-4570148D1186}" sibTransId="{B2F76240-912E-4A8A-AACF-973D19FF5AB5}"/>
    <dgm:cxn modelId="{B21CE4DE-AD4A-9B4F-A915-2AFBF4A9218D}" type="presOf" srcId="{5111BA22-3CDB-4C6E-9ACB-300D7D47D3BE}" destId="{662E3079-1E4E-BD4E-96F6-CDE97892494B}" srcOrd="0" destOrd="0" presId="urn:microsoft.com/office/officeart/2005/8/layout/vProcess5"/>
    <dgm:cxn modelId="{608801E3-6E77-C747-B731-8AA09EF0616A}" type="presOf" srcId="{8CA48B99-BB28-4184-8C36-B401B439F369}" destId="{8E708733-5E8D-6040-B14A-3C4E9F434F9D}" srcOrd="1" destOrd="0" presId="urn:microsoft.com/office/officeart/2005/8/layout/vProcess5"/>
    <dgm:cxn modelId="{65CC13EF-7A15-D946-A655-C80DC48A0506}" srcId="{01C575FA-D463-4028-BBAE-C38FD00C9108}" destId="{66B7CA89-BC22-E14B-98BA-9349635EEBBB}" srcOrd="3" destOrd="0" parTransId="{214302E8-D87A-904D-AC36-E4D3B070B1E7}" sibTransId="{BF87D92D-AD67-CC47-B37D-A50F6184A63C}"/>
    <dgm:cxn modelId="{2E7AA180-1CAD-B44F-A302-EA37F3B717A1}" type="presParOf" srcId="{8A860D90-067F-BB4C-B50D-8B8F7326C170}" destId="{34F25F68-8FC2-9745-B727-C0136D37B23E}" srcOrd="0" destOrd="0" presId="urn:microsoft.com/office/officeart/2005/8/layout/vProcess5"/>
    <dgm:cxn modelId="{CE05FCF1-9AE7-6545-B2D3-9B3DC5C909D9}" type="presParOf" srcId="{8A860D90-067F-BB4C-B50D-8B8F7326C170}" destId="{94CB80D0-D6AD-9E47-B4C2-BC38DA943FA3}" srcOrd="1" destOrd="0" presId="urn:microsoft.com/office/officeart/2005/8/layout/vProcess5"/>
    <dgm:cxn modelId="{19EF42F5-840B-3F4C-BF6B-DC006459B709}" type="presParOf" srcId="{8A860D90-067F-BB4C-B50D-8B8F7326C170}" destId="{C489D1C2-E862-E74C-BD6B-264ABD1FB3DE}" srcOrd="2" destOrd="0" presId="urn:microsoft.com/office/officeart/2005/8/layout/vProcess5"/>
    <dgm:cxn modelId="{3919BA40-9B3E-6848-991C-28621D5CFE5F}" type="presParOf" srcId="{8A860D90-067F-BB4C-B50D-8B8F7326C170}" destId="{17C4991B-5090-C143-AC8C-A4A88689F8FD}" srcOrd="3" destOrd="0" presId="urn:microsoft.com/office/officeart/2005/8/layout/vProcess5"/>
    <dgm:cxn modelId="{EE809C93-A619-7A44-AE2B-EA1F1DF09494}" type="presParOf" srcId="{8A860D90-067F-BB4C-B50D-8B8F7326C170}" destId="{E5BBD68D-E0F1-2B46-B240-BC741F7B4B03}" srcOrd="4" destOrd="0" presId="urn:microsoft.com/office/officeart/2005/8/layout/vProcess5"/>
    <dgm:cxn modelId="{EE331A75-BF7A-BA41-B6A8-BEBF30D912FA}" type="presParOf" srcId="{8A860D90-067F-BB4C-B50D-8B8F7326C170}" destId="{C69EEB66-223F-4646-838B-6D0748E12AEF}" srcOrd="5" destOrd="0" presId="urn:microsoft.com/office/officeart/2005/8/layout/vProcess5"/>
    <dgm:cxn modelId="{87D8DED2-E4D4-5F41-ABB3-4CBAAB5AEEA9}" type="presParOf" srcId="{8A860D90-067F-BB4C-B50D-8B8F7326C170}" destId="{B655961C-45F9-C24D-AF76-1C619A1B221A}" srcOrd="6" destOrd="0" presId="urn:microsoft.com/office/officeart/2005/8/layout/vProcess5"/>
    <dgm:cxn modelId="{81352CD5-9971-F241-B968-B613CAC1EDC5}" type="presParOf" srcId="{8A860D90-067F-BB4C-B50D-8B8F7326C170}" destId="{662E3079-1E4E-BD4E-96F6-CDE97892494B}" srcOrd="7" destOrd="0" presId="urn:microsoft.com/office/officeart/2005/8/layout/vProcess5"/>
    <dgm:cxn modelId="{43458F0D-AD99-FA4D-ABAD-06FABC170E28}" type="presParOf" srcId="{8A860D90-067F-BB4C-B50D-8B8F7326C170}" destId="{8E708733-5E8D-6040-B14A-3C4E9F434F9D}" srcOrd="8" destOrd="0" presId="urn:microsoft.com/office/officeart/2005/8/layout/vProcess5"/>
    <dgm:cxn modelId="{1978AE52-3C71-4D45-A83F-57712E0B44B6}" type="presParOf" srcId="{8A860D90-067F-BB4C-B50D-8B8F7326C170}" destId="{3E0A2447-2802-8743-BB16-1EC8670F921B}" srcOrd="9" destOrd="0" presId="urn:microsoft.com/office/officeart/2005/8/layout/vProcess5"/>
    <dgm:cxn modelId="{7994E97C-EE85-D646-BCE5-AB49FD73580A}" type="presParOf" srcId="{8A860D90-067F-BB4C-B50D-8B8F7326C170}" destId="{3EB57D13-5F2F-3C47-9C03-E7EABC0F99ED}" srcOrd="10" destOrd="0" presId="urn:microsoft.com/office/officeart/2005/8/layout/vProcess5"/>
    <dgm:cxn modelId="{2E7A028B-C4AA-D649-8454-551CA793B833}" type="presParOf" srcId="{8A860D90-067F-BB4C-B50D-8B8F7326C170}" destId="{63A20C41-8836-4244-BE65-3DC27F0A4E6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FFD039-38A4-41A4-81D4-4B175538557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4BBBFC0-5EF4-4062-AB9B-A40D962FD0C3}">
      <dgm:prSet/>
      <dgm:spPr/>
      <dgm:t>
        <a:bodyPr/>
        <a:lstStyle/>
        <a:p>
          <a:r>
            <a:rPr lang="en-US" b="1" dirty="0"/>
            <a:t>1- </a:t>
          </a:r>
          <a:r>
            <a:rPr lang="en-US" b="1" dirty="0" err="1"/>
            <a:t>Maximising</a:t>
          </a:r>
          <a:r>
            <a:rPr lang="en-US" b="1" dirty="0"/>
            <a:t> returns to creditors</a:t>
          </a:r>
        </a:p>
      </dgm:t>
    </dgm:pt>
    <dgm:pt modelId="{2E1A94EA-AFF4-446F-A488-804AF9FDDDD5}" type="parTrans" cxnId="{B6B0AEB4-7867-4AEB-BD36-AF3728ED9F6E}">
      <dgm:prSet/>
      <dgm:spPr/>
      <dgm:t>
        <a:bodyPr/>
        <a:lstStyle/>
        <a:p>
          <a:endParaRPr lang="en-US"/>
        </a:p>
      </dgm:t>
    </dgm:pt>
    <dgm:pt modelId="{D9463047-2162-40BF-B32F-5CDF110D5B26}" type="sibTrans" cxnId="{B6B0AEB4-7867-4AEB-BD36-AF3728ED9F6E}">
      <dgm:prSet/>
      <dgm:spPr/>
      <dgm:t>
        <a:bodyPr/>
        <a:lstStyle/>
        <a:p>
          <a:endParaRPr lang="en-US"/>
        </a:p>
      </dgm:t>
    </dgm:pt>
    <dgm:pt modelId="{811FA8AB-B16A-4721-8D60-498FA4E8F997}">
      <dgm:prSet/>
      <dgm:spPr/>
      <dgm:t>
        <a:bodyPr/>
        <a:lstStyle/>
        <a:p>
          <a:r>
            <a:rPr lang="en-US"/>
            <a:t>West Mercia Safetywear Ltd v Dodd </a:t>
          </a:r>
        </a:p>
      </dgm:t>
    </dgm:pt>
    <dgm:pt modelId="{2D016DE6-AFF2-4E99-BD2E-CA29B70E3508}" type="parTrans" cxnId="{8F94EC52-EB3E-44B8-9A84-73EA73919170}">
      <dgm:prSet/>
      <dgm:spPr/>
      <dgm:t>
        <a:bodyPr/>
        <a:lstStyle/>
        <a:p>
          <a:endParaRPr lang="en-US"/>
        </a:p>
      </dgm:t>
    </dgm:pt>
    <dgm:pt modelId="{747FE44F-0948-4633-91A5-7B28603E291A}" type="sibTrans" cxnId="{8F94EC52-EB3E-44B8-9A84-73EA73919170}">
      <dgm:prSet/>
      <dgm:spPr/>
      <dgm:t>
        <a:bodyPr/>
        <a:lstStyle/>
        <a:p>
          <a:endParaRPr lang="en-US"/>
        </a:p>
      </dgm:t>
    </dgm:pt>
    <dgm:pt modelId="{C15A0921-5520-4081-B3AC-97F210320702}">
      <dgm:prSet/>
      <dgm:spPr/>
      <dgm:t>
        <a:bodyPr/>
        <a:lstStyle/>
        <a:p>
          <a:r>
            <a:rPr lang="en-US"/>
            <a:t>BTI 2014 LLC v Sequana SA</a:t>
          </a:r>
        </a:p>
      </dgm:t>
    </dgm:pt>
    <dgm:pt modelId="{6A6497F4-D148-49B1-89EC-BEEDDA34D515}" type="parTrans" cxnId="{E314C7C3-8A24-427F-8DAD-2F84FAB4BCA6}">
      <dgm:prSet/>
      <dgm:spPr/>
      <dgm:t>
        <a:bodyPr/>
        <a:lstStyle/>
        <a:p>
          <a:endParaRPr lang="en-US"/>
        </a:p>
      </dgm:t>
    </dgm:pt>
    <dgm:pt modelId="{BD14B833-5B4C-44F4-B918-89E3DA00B61D}" type="sibTrans" cxnId="{E314C7C3-8A24-427F-8DAD-2F84FAB4BCA6}">
      <dgm:prSet/>
      <dgm:spPr/>
      <dgm:t>
        <a:bodyPr/>
        <a:lstStyle/>
        <a:p>
          <a:endParaRPr lang="en-US"/>
        </a:p>
      </dgm:t>
    </dgm:pt>
    <dgm:pt modelId="{A8DABA7B-C429-45F0-A565-F3A7F3FFB45B}">
      <dgm:prSet/>
      <dgm:spPr/>
      <dgm:t>
        <a:bodyPr/>
        <a:lstStyle/>
        <a:p>
          <a:r>
            <a:rPr lang="en-US" b="1" dirty="0"/>
            <a:t>2- Fair ranking of claims</a:t>
          </a:r>
        </a:p>
      </dgm:t>
    </dgm:pt>
    <dgm:pt modelId="{A545FC1E-3EB3-4460-A021-85E22D845DA6}" type="parTrans" cxnId="{6DD3B302-F6E2-4256-AB16-70C305A3C816}">
      <dgm:prSet/>
      <dgm:spPr/>
      <dgm:t>
        <a:bodyPr/>
        <a:lstStyle/>
        <a:p>
          <a:endParaRPr lang="en-US"/>
        </a:p>
      </dgm:t>
    </dgm:pt>
    <dgm:pt modelId="{39470D2C-4ABF-4508-878F-760CC27C0ABA}" type="sibTrans" cxnId="{6DD3B302-F6E2-4256-AB16-70C305A3C816}">
      <dgm:prSet/>
      <dgm:spPr/>
      <dgm:t>
        <a:bodyPr/>
        <a:lstStyle/>
        <a:p>
          <a:endParaRPr lang="en-US"/>
        </a:p>
      </dgm:t>
    </dgm:pt>
    <dgm:pt modelId="{D9F03CD8-7C80-4927-AD34-6461244CAD52}">
      <dgm:prSet/>
      <dgm:spPr/>
      <dgm:t>
        <a:bodyPr/>
        <a:lstStyle/>
        <a:p>
          <a:r>
            <a:rPr lang="en-US"/>
            <a:t>Insolvency Act 1986, s175 &amp; schedule 6</a:t>
          </a:r>
        </a:p>
      </dgm:t>
    </dgm:pt>
    <dgm:pt modelId="{4513AB8A-CCCE-4C8F-A8C0-1B953B7A4915}" type="parTrans" cxnId="{F7E003EF-A005-49E5-B0AB-CE5CA4C45DE5}">
      <dgm:prSet/>
      <dgm:spPr/>
      <dgm:t>
        <a:bodyPr/>
        <a:lstStyle/>
        <a:p>
          <a:endParaRPr lang="en-US"/>
        </a:p>
      </dgm:t>
    </dgm:pt>
    <dgm:pt modelId="{4D961F2A-F5D3-4AFF-8287-99109E2CDFFB}" type="sibTrans" cxnId="{F7E003EF-A005-49E5-B0AB-CE5CA4C45DE5}">
      <dgm:prSet/>
      <dgm:spPr/>
      <dgm:t>
        <a:bodyPr/>
        <a:lstStyle/>
        <a:p>
          <a:endParaRPr lang="en-US"/>
        </a:p>
      </dgm:t>
    </dgm:pt>
    <dgm:pt modelId="{B7C9348B-6BB5-45ED-9EA4-57E05E649318}">
      <dgm:prSet/>
      <dgm:spPr/>
      <dgm:t>
        <a:bodyPr/>
        <a:lstStyle/>
        <a:p>
          <a:r>
            <a:rPr lang="en-US" b="1" dirty="0"/>
            <a:t>3- Facilitating rescue </a:t>
          </a:r>
        </a:p>
      </dgm:t>
    </dgm:pt>
    <dgm:pt modelId="{8A015BBA-5F7F-4CD2-BFD5-CBDA8436A31C}" type="parTrans" cxnId="{FF1EE1D3-49D1-4AA0-A19C-CE518132C511}">
      <dgm:prSet/>
      <dgm:spPr/>
      <dgm:t>
        <a:bodyPr/>
        <a:lstStyle/>
        <a:p>
          <a:endParaRPr lang="en-US"/>
        </a:p>
      </dgm:t>
    </dgm:pt>
    <dgm:pt modelId="{233F6D95-6CA1-4C6D-A096-D44FA634AF39}" type="sibTrans" cxnId="{FF1EE1D3-49D1-4AA0-A19C-CE518132C511}">
      <dgm:prSet/>
      <dgm:spPr/>
      <dgm:t>
        <a:bodyPr/>
        <a:lstStyle/>
        <a:p>
          <a:endParaRPr lang="en-US"/>
        </a:p>
      </dgm:t>
    </dgm:pt>
    <dgm:pt modelId="{A224C91A-67CF-4527-90C3-1A2EB6B6B96A}">
      <dgm:prSet/>
      <dgm:spPr/>
      <dgm:t>
        <a:bodyPr/>
        <a:lstStyle/>
        <a:p>
          <a:r>
            <a:rPr lang="en-US"/>
            <a:t>IA 1986, Schedule B1 para 3 </a:t>
          </a:r>
        </a:p>
      </dgm:t>
    </dgm:pt>
    <dgm:pt modelId="{3B94F02D-0FA2-4403-B12D-00D55DDE58CA}" type="parTrans" cxnId="{C538C337-C468-4311-80A5-63F9FEFAE580}">
      <dgm:prSet/>
      <dgm:spPr/>
      <dgm:t>
        <a:bodyPr/>
        <a:lstStyle/>
        <a:p>
          <a:endParaRPr lang="en-US"/>
        </a:p>
      </dgm:t>
    </dgm:pt>
    <dgm:pt modelId="{BEA12723-32D8-4E38-A8C7-26A08DE9E9D8}" type="sibTrans" cxnId="{C538C337-C468-4311-80A5-63F9FEFAE580}">
      <dgm:prSet/>
      <dgm:spPr/>
      <dgm:t>
        <a:bodyPr/>
        <a:lstStyle/>
        <a:p>
          <a:endParaRPr lang="en-US"/>
        </a:p>
      </dgm:t>
    </dgm:pt>
    <dgm:pt modelId="{214F21BA-D5E4-4DB0-80FC-65E46D8B22E5}">
      <dgm:prSet/>
      <dgm:spPr/>
      <dgm:t>
        <a:bodyPr/>
        <a:lstStyle/>
        <a:p>
          <a:r>
            <a:rPr lang="en-US"/>
            <a:t>Corporate Insolvency and Governance Act 2020</a:t>
          </a:r>
        </a:p>
      </dgm:t>
    </dgm:pt>
    <dgm:pt modelId="{3412A7DB-E622-4CD5-9681-E094926F4993}" type="parTrans" cxnId="{0D31D54D-C91D-4564-9962-0DAB6541BC09}">
      <dgm:prSet/>
      <dgm:spPr/>
      <dgm:t>
        <a:bodyPr/>
        <a:lstStyle/>
        <a:p>
          <a:endParaRPr lang="en-US"/>
        </a:p>
      </dgm:t>
    </dgm:pt>
    <dgm:pt modelId="{D3AFBDDA-74FF-4D43-B783-1FBE6C3C1848}" type="sibTrans" cxnId="{0D31D54D-C91D-4564-9962-0DAB6541BC09}">
      <dgm:prSet/>
      <dgm:spPr/>
      <dgm:t>
        <a:bodyPr/>
        <a:lstStyle/>
        <a:p>
          <a:endParaRPr lang="en-US"/>
        </a:p>
      </dgm:t>
    </dgm:pt>
    <dgm:pt modelId="{2A27AA21-3221-4649-8299-F8C2452CD6D9}">
      <dgm:prSet/>
      <dgm:spPr/>
      <dgm:t>
        <a:bodyPr/>
        <a:lstStyle/>
        <a:p>
          <a:r>
            <a:rPr lang="en-US" b="1" dirty="0"/>
            <a:t>4- Policing mismanagement </a:t>
          </a:r>
        </a:p>
      </dgm:t>
    </dgm:pt>
    <dgm:pt modelId="{C65CDE0B-440B-42A5-B144-72622081E730}" type="parTrans" cxnId="{0D2A2B0D-3A0C-4D7C-BA58-82AD7710447C}">
      <dgm:prSet/>
      <dgm:spPr/>
      <dgm:t>
        <a:bodyPr/>
        <a:lstStyle/>
        <a:p>
          <a:endParaRPr lang="en-US"/>
        </a:p>
      </dgm:t>
    </dgm:pt>
    <dgm:pt modelId="{A3A00A02-3B66-4B39-838C-34E4202DFF86}" type="sibTrans" cxnId="{0D2A2B0D-3A0C-4D7C-BA58-82AD7710447C}">
      <dgm:prSet/>
      <dgm:spPr/>
      <dgm:t>
        <a:bodyPr/>
        <a:lstStyle/>
        <a:p>
          <a:endParaRPr lang="en-US"/>
        </a:p>
      </dgm:t>
    </dgm:pt>
    <dgm:pt modelId="{93165936-B1C2-4EFF-9533-28C9D0212432}">
      <dgm:prSet/>
      <dgm:spPr/>
      <dgm:t>
        <a:bodyPr/>
        <a:lstStyle/>
        <a:p>
          <a:r>
            <a:rPr lang="en-US"/>
            <a:t>IA 1986, s213-214</a:t>
          </a:r>
        </a:p>
      </dgm:t>
    </dgm:pt>
    <dgm:pt modelId="{7C620404-03D3-4F14-84D2-BC1C9B890B3D}" type="parTrans" cxnId="{378ABC7C-9BAC-4709-AC07-E11E02843A10}">
      <dgm:prSet/>
      <dgm:spPr/>
      <dgm:t>
        <a:bodyPr/>
        <a:lstStyle/>
        <a:p>
          <a:endParaRPr lang="en-US"/>
        </a:p>
      </dgm:t>
    </dgm:pt>
    <dgm:pt modelId="{0BFDAF59-0C52-4663-BBC6-DAC5E7DC5757}" type="sibTrans" cxnId="{378ABC7C-9BAC-4709-AC07-E11E02843A10}">
      <dgm:prSet/>
      <dgm:spPr/>
      <dgm:t>
        <a:bodyPr/>
        <a:lstStyle/>
        <a:p>
          <a:endParaRPr lang="en-US"/>
        </a:p>
      </dgm:t>
    </dgm:pt>
    <dgm:pt modelId="{006EAE0F-C79E-466F-B4CA-CF08F96A70B2}">
      <dgm:prSet/>
      <dgm:spPr/>
      <dgm:t>
        <a:bodyPr/>
        <a:lstStyle/>
        <a:p>
          <a:r>
            <a:rPr lang="en-US" b="1" dirty="0"/>
            <a:t>5- Suspension of individual enforcement</a:t>
          </a:r>
        </a:p>
      </dgm:t>
    </dgm:pt>
    <dgm:pt modelId="{FF08F838-D508-420E-9CFB-8081AAA9B607}" type="parTrans" cxnId="{E9A6EA45-C011-479E-BB23-4CDBE012FF4E}">
      <dgm:prSet/>
      <dgm:spPr/>
      <dgm:t>
        <a:bodyPr/>
        <a:lstStyle/>
        <a:p>
          <a:endParaRPr lang="en-US"/>
        </a:p>
      </dgm:t>
    </dgm:pt>
    <dgm:pt modelId="{F276DB3B-7D9A-41CF-8906-4B4EE01E427C}" type="sibTrans" cxnId="{E9A6EA45-C011-479E-BB23-4CDBE012FF4E}">
      <dgm:prSet/>
      <dgm:spPr/>
      <dgm:t>
        <a:bodyPr/>
        <a:lstStyle/>
        <a:p>
          <a:endParaRPr lang="en-US"/>
        </a:p>
      </dgm:t>
    </dgm:pt>
    <dgm:pt modelId="{2B8B6A02-B6DE-495B-8BD0-F10BD88C5D02}">
      <dgm:prSet/>
      <dgm:spPr/>
      <dgm:t>
        <a:bodyPr/>
        <a:lstStyle/>
        <a:p>
          <a:r>
            <a:rPr lang="en-US"/>
            <a:t>Re Atlantic Computer Systems plc</a:t>
          </a:r>
        </a:p>
      </dgm:t>
    </dgm:pt>
    <dgm:pt modelId="{987E6FC6-51D1-4E56-802D-0B7B47DFF15E}" type="parTrans" cxnId="{7F06ABB5-AFB5-460F-AA8A-F956C5A3579E}">
      <dgm:prSet/>
      <dgm:spPr/>
      <dgm:t>
        <a:bodyPr/>
        <a:lstStyle/>
        <a:p>
          <a:endParaRPr lang="en-US"/>
        </a:p>
      </dgm:t>
    </dgm:pt>
    <dgm:pt modelId="{54D74CCD-3C92-4D84-8B82-330F94D12639}" type="sibTrans" cxnId="{7F06ABB5-AFB5-460F-AA8A-F956C5A3579E}">
      <dgm:prSet/>
      <dgm:spPr/>
      <dgm:t>
        <a:bodyPr/>
        <a:lstStyle/>
        <a:p>
          <a:endParaRPr lang="en-US"/>
        </a:p>
      </dgm:t>
    </dgm:pt>
    <dgm:pt modelId="{272E09B4-354E-1A4C-B7C3-E97D29A17D3D}" type="pres">
      <dgm:prSet presAssocID="{2BFFD039-38A4-41A4-81D4-4B1755385579}" presName="vert0" presStyleCnt="0">
        <dgm:presLayoutVars>
          <dgm:dir/>
          <dgm:animOne val="branch"/>
          <dgm:animLvl val="lvl"/>
        </dgm:presLayoutVars>
      </dgm:prSet>
      <dgm:spPr/>
    </dgm:pt>
    <dgm:pt modelId="{E14C8795-007B-5D46-9D67-B5E808FE6822}" type="pres">
      <dgm:prSet presAssocID="{04BBBFC0-5EF4-4062-AB9B-A40D962FD0C3}" presName="thickLine" presStyleLbl="alignNode1" presStyleIdx="0" presStyleCnt="12"/>
      <dgm:spPr/>
    </dgm:pt>
    <dgm:pt modelId="{A4C087BD-FAC8-CA46-A5A5-1B14EDD70AA1}" type="pres">
      <dgm:prSet presAssocID="{04BBBFC0-5EF4-4062-AB9B-A40D962FD0C3}" presName="horz1" presStyleCnt="0"/>
      <dgm:spPr/>
    </dgm:pt>
    <dgm:pt modelId="{E5F89E73-9318-2043-8E00-8B812FF4A962}" type="pres">
      <dgm:prSet presAssocID="{04BBBFC0-5EF4-4062-AB9B-A40D962FD0C3}" presName="tx1" presStyleLbl="revTx" presStyleIdx="0" presStyleCnt="12"/>
      <dgm:spPr/>
    </dgm:pt>
    <dgm:pt modelId="{EB07E7F0-B564-9342-983B-3A0AABB51B33}" type="pres">
      <dgm:prSet presAssocID="{04BBBFC0-5EF4-4062-AB9B-A40D962FD0C3}" presName="vert1" presStyleCnt="0"/>
      <dgm:spPr/>
    </dgm:pt>
    <dgm:pt modelId="{FA2CCE7A-9E07-3D44-AD40-616626671868}" type="pres">
      <dgm:prSet presAssocID="{811FA8AB-B16A-4721-8D60-498FA4E8F997}" presName="thickLine" presStyleLbl="alignNode1" presStyleIdx="1" presStyleCnt="12"/>
      <dgm:spPr/>
    </dgm:pt>
    <dgm:pt modelId="{9227552F-7CC3-7545-B474-D86ABF5C320E}" type="pres">
      <dgm:prSet presAssocID="{811FA8AB-B16A-4721-8D60-498FA4E8F997}" presName="horz1" presStyleCnt="0"/>
      <dgm:spPr/>
    </dgm:pt>
    <dgm:pt modelId="{16CF2319-8458-E941-8323-CF3D7F5B7C07}" type="pres">
      <dgm:prSet presAssocID="{811FA8AB-B16A-4721-8D60-498FA4E8F997}" presName="tx1" presStyleLbl="revTx" presStyleIdx="1" presStyleCnt="12"/>
      <dgm:spPr/>
    </dgm:pt>
    <dgm:pt modelId="{ACDE8F9B-47E8-2B46-9D64-4903FEC7CC0A}" type="pres">
      <dgm:prSet presAssocID="{811FA8AB-B16A-4721-8D60-498FA4E8F997}" presName="vert1" presStyleCnt="0"/>
      <dgm:spPr/>
    </dgm:pt>
    <dgm:pt modelId="{5D7190CB-2878-5441-BFC9-7536A2E9B8E4}" type="pres">
      <dgm:prSet presAssocID="{C15A0921-5520-4081-B3AC-97F210320702}" presName="thickLine" presStyleLbl="alignNode1" presStyleIdx="2" presStyleCnt="12"/>
      <dgm:spPr/>
    </dgm:pt>
    <dgm:pt modelId="{BD84B6FE-FFD2-804A-8F7A-72D469F27770}" type="pres">
      <dgm:prSet presAssocID="{C15A0921-5520-4081-B3AC-97F210320702}" presName="horz1" presStyleCnt="0"/>
      <dgm:spPr/>
    </dgm:pt>
    <dgm:pt modelId="{35BD6105-3A63-6940-B979-CD3744163782}" type="pres">
      <dgm:prSet presAssocID="{C15A0921-5520-4081-B3AC-97F210320702}" presName="tx1" presStyleLbl="revTx" presStyleIdx="2" presStyleCnt="12"/>
      <dgm:spPr/>
    </dgm:pt>
    <dgm:pt modelId="{59A6639D-4624-E84B-8973-296169D40A9A}" type="pres">
      <dgm:prSet presAssocID="{C15A0921-5520-4081-B3AC-97F210320702}" presName="vert1" presStyleCnt="0"/>
      <dgm:spPr/>
    </dgm:pt>
    <dgm:pt modelId="{539F8AD2-D5B6-F444-BB66-E85C6155A047}" type="pres">
      <dgm:prSet presAssocID="{A8DABA7B-C429-45F0-A565-F3A7F3FFB45B}" presName="thickLine" presStyleLbl="alignNode1" presStyleIdx="3" presStyleCnt="12"/>
      <dgm:spPr/>
    </dgm:pt>
    <dgm:pt modelId="{A3CCF4BC-5C99-E04B-AA82-3E29D4DAF50E}" type="pres">
      <dgm:prSet presAssocID="{A8DABA7B-C429-45F0-A565-F3A7F3FFB45B}" presName="horz1" presStyleCnt="0"/>
      <dgm:spPr/>
    </dgm:pt>
    <dgm:pt modelId="{F69DACC7-4EFF-B54C-95A6-81FA9D3905B4}" type="pres">
      <dgm:prSet presAssocID="{A8DABA7B-C429-45F0-A565-F3A7F3FFB45B}" presName="tx1" presStyleLbl="revTx" presStyleIdx="3" presStyleCnt="12"/>
      <dgm:spPr/>
    </dgm:pt>
    <dgm:pt modelId="{4F7A0F51-C137-104D-A0A2-9D2DB890FEAB}" type="pres">
      <dgm:prSet presAssocID="{A8DABA7B-C429-45F0-A565-F3A7F3FFB45B}" presName="vert1" presStyleCnt="0"/>
      <dgm:spPr/>
    </dgm:pt>
    <dgm:pt modelId="{632DA3D5-980F-5D43-A179-F6F8A2D000F6}" type="pres">
      <dgm:prSet presAssocID="{D9F03CD8-7C80-4927-AD34-6461244CAD52}" presName="thickLine" presStyleLbl="alignNode1" presStyleIdx="4" presStyleCnt="12"/>
      <dgm:spPr/>
    </dgm:pt>
    <dgm:pt modelId="{6FB0407B-1A31-9940-A27D-57B4658760FD}" type="pres">
      <dgm:prSet presAssocID="{D9F03CD8-7C80-4927-AD34-6461244CAD52}" presName="horz1" presStyleCnt="0"/>
      <dgm:spPr/>
    </dgm:pt>
    <dgm:pt modelId="{F2FBCF10-05F0-4345-B202-AABB71DC7957}" type="pres">
      <dgm:prSet presAssocID="{D9F03CD8-7C80-4927-AD34-6461244CAD52}" presName="tx1" presStyleLbl="revTx" presStyleIdx="4" presStyleCnt="12"/>
      <dgm:spPr/>
    </dgm:pt>
    <dgm:pt modelId="{D14EB6C7-1D95-094A-8BBC-491DDC47D675}" type="pres">
      <dgm:prSet presAssocID="{D9F03CD8-7C80-4927-AD34-6461244CAD52}" presName="vert1" presStyleCnt="0"/>
      <dgm:spPr/>
    </dgm:pt>
    <dgm:pt modelId="{429C69C7-5C47-7740-9497-44096FD4ED9D}" type="pres">
      <dgm:prSet presAssocID="{B7C9348B-6BB5-45ED-9EA4-57E05E649318}" presName="thickLine" presStyleLbl="alignNode1" presStyleIdx="5" presStyleCnt="12"/>
      <dgm:spPr/>
    </dgm:pt>
    <dgm:pt modelId="{4B393AFE-635D-574F-B002-113B857B23C2}" type="pres">
      <dgm:prSet presAssocID="{B7C9348B-6BB5-45ED-9EA4-57E05E649318}" presName="horz1" presStyleCnt="0"/>
      <dgm:spPr/>
    </dgm:pt>
    <dgm:pt modelId="{995B6150-0E34-8C42-B8B2-F6AB32726400}" type="pres">
      <dgm:prSet presAssocID="{B7C9348B-6BB5-45ED-9EA4-57E05E649318}" presName="tx1" presStyleLbl="revTx" presStyleIdx="5" presStyleCnt="12"/>
      <dgm:spPr/>
    </dgm:pt>
    <dgm:pt modelId="{3A1FF5C0-7DDD-A549-A065-FC55AA2AF4F6}" type="pres">
      <dgm:prSet presAssocID="{B7C9348B-6BB5-45ED-9EA4-57E05E649318}" presName="vert1" presStyleCnt="0"/>
      <dgm:spPr/>
    </dgm:pt>
    <dgm:pt modelId="{0785087F-C69F-0D45-984E-C9232F9E05B8}" type="pres">
      <dgm:prSet presAssocID="{A224C91A-67CF-4527-90C3-1A2EB6B6B96A}" presName="thickLine" presStyleLbl="alignNode1" presStyleIdx="6" presStyleCnt="12"/>
      <dgm:spPr/>
    </dgm:pt>
    <dgm:pt modelId="{36557682-FF61-E84C-A4E5-437994689A8F}" type="pres">
      <dgm:prSet presAssocID="{A224C91A-67CF-4527-90C3-1A2EB6B6B96A}" presName="horz1" presStyleCnt="0"/>
      <dgm:spPr/>
    </dgm:pt>
    <dgm:pt modelId="{E9EBA3FA-C64B-9A40-A88A-DB31230B3AAA}" type="pres">
      <dgm:prSet presAssocID="{A224C91A-67CF-4527-90C3-1A2EB6B6B96A}" presName="tx1" presStyleLbl="revTx" presStyleIdx="6" presStyleCnt="12"/>
      <dgm:spPr/>
    </dgm:pt>
    <dgm:pt modelId="{0FE26DC6-C987-614A-ACA4-5646970AC91D}" type="pres">
      <dgm:prSet presAssocID="{A224C91A-67CF-4527-90C3-1A2EB6B6B96A}" presName="vert1" presStyleCnt="0"/>
      <dgm:spPr/>
    </dgm:pt>
    <dgm:pt modelId="{310CF735-D0D4-8447-9EE8-1855D97B9457}" type="pres">
      <dgm:prSet presAssocID="{214F21BA-D5E4-4DB0-80FC-65E46D8B22E5}" presName="thickLine" presStyleLbl="alignNode1" presStyleIdx="7" presStyleCnt="12"/>
      <dgm:spPr/>
    </dgm:pt>
    <dgm:pt modelId="{A00F1C3F-4895-234C-B136-96B4F77E5E9F}" type="pres">
      <dgm:prSet presAssocID="{214F21BA-D5E4-4DB0-80FC-65E46D8B22E5}" presName="horz1" presStyleCnt="0"/>
      <dgm:spPr/>
    </dgm:pt>
    <dgm:pt modelId="{2777C5EE-C703-5C49-AC38-5EA92532615A}" type="pres">
      <dgm:prSet presAssocID="{214F21BA-D5E4-4DB0-80FC-65E46D8B22E5}" presName="tx1" presStyleLbl="revTx" presStyleIdx="7" presStyleCnt="12"/>
      <dgm:spPr/>
    </dgm:pt>
    <dgm:pt modelId="{2FD5490E-FB3C-4948-8925-A5248B016AEC}" type="pres">
      <dgm:prSet presAssocID="{214F21BA-D5E4-4DB0-80FC-65E46D8B22E5}" presName="vert1" presStyleCnt="0"/>
      <dgm:spPr/>
    </dgm:pt>
    <dgm:pt modelId="{9D95E32A-292D-8F44-9E9D-67F0AC9C2803}" type="pres">
      <dgm:prSet presAssocID="{2A27AA21-3221-4649-8299-F8C2452CD6D9}" presName="thickLine" presStyleLbl="alignNode1" presStyleIdx="8" presStyleCnt="12"/>
      <dgm:spPr/>
    </dgm:pt>
    <dgm:pt modelId="{D5E27298-7612-8A43-A994-6CFA0D04C799}" type="pres">
      <dgm:prSet presAssocID="{2A27AA21-3221-4649-8299-F8C2452CD6D9}" presName="horz1" presStyleCnt="0"/>
      <dgm:spPr/>
    </dgm:pt>
    <dgm:pt modelId="{7497932E-74CE-F64D-B85E-C312229EBFE9}" type="pres">
      <dgm:prSet presAssocID="{2A27AA21-3221-4649-8299-F8C2452CD6D9}" presName="tx1" presStyleLbl="revTx" presStyleIdx="8" presStyleCnt="12"/>
      <dgm:spPr/>
    </dgm:pt>
    <dgm:pt modelId="{DC7E1C2A-6A8D-DF43-9AE1-799C28BDDF9F}" type="pres">
      <dgm:prSet presAssocID="{2A27AA21-3221-4649-8299-F8C2452CD6D9}" presName="vert1" presStyleCnt="0"/>
      <dgm:spPr/>
    </dgm:pt>
    <dgm:pt modelId="{712B63DA-359A-7941-9EB3-B6B839205C6A}" type="pres">
      <dgm:prSet presAssocID="{93165936-B1C2-4EFF-9533-28C9D0212432}" presName="thickLine" presStyleLbl="alignNode1" presStyleIdx="9" presStyleCnt="12"/>
      <dgm:spPr/>
    </dgm:pt>
    <dgm:pt modelId="{448D0AB8-BFF3-A14A-9F66-4EF8710458D1}" type="pres">
      <dgm:prSet presAssocID="{93165936-B1C2-4EFF-9533-28C9D0212432}" presName="horz1" presStyleCnt="0"/>
      <dgm:spPr/>
    </dgm:pt>
    <dgm:pt modelId="{D9C9A4E5-3EF9-F043-B6D3-C98E94082B13}" type="pres">
      <dgm:prSet presAssocID="{93165936-B1C2-4EFF-9533-28C9D0212432}" presName="tx1" presStyleLbl="revTx" presStyleIdx="9" presStyleCnt="12"/>
      <dgm:spPr/>
    </dgm:pt>
    <dgm:pt modelId="{AAA2E3CC-9932-254E-BC03-2121C5E68E0D}" type="pres">
      <dgm:prSet presAssocID="{93165936-B1C2-4EFF-9533-28C9D0212432}" presName="vert1" presStyleCnt="0"/>
      <dgm:spPr/>
    </dgm:pt>
    <dgm:pt modelId="{29478F81-712E-EF44-B7F5-DCE9F314A298}" type="pres">
      <dgm:prSet presAssocID="{006EAE0F-C79E-466F-B4CA-CF08F96A70B2}" presName="thickLine" presStyleLbl="alignNode1" presStyleIdx="10" presStyleCnt="12"/>
      <dgm:spPr/>
    </dgm:pt>
    <dgm:pt modelId="{23302CC1-7B08-5448-9155-596903818BA8}" type="pres">
      <dgm:prSet presAssocID="{006EAE0F-C79E-466F-B4CA-CF08F96A70B2}" presName="horz1" presStyleCnt="0"/>
      <dgm:spPr/>
    </dgm:pt>
    <dgm:pt modelId="{A3B49091-0379-CA4A-907A-1B06313818D5}" type="pres">
      <dgm:prSet presAssocID="{006EAE0F-C79E-466F-B4CA-CF08F96A70B2}" presName="tx1" presStyleLbl="revTx" presStyleIdx="10" presStyleCnt="12"/>
      <dgm:spPr/>
    </dgm:pt>
    <dgm:pt modelId="{ADEFEFA1-53A5-BE47-8374-C7AF48F2DA34}" type="pres">
      <dgm:prSet presAssocID="{006EAE0F-C79E-466F-B4CA-CF08F96A70B2}" presName="vert1" presStyleCnt="0"/>
      <dgm:spPr/>
    </dgm:pt>
    <dgm:pt modelId="{9A162F16-B8B3-5B42-91EA-600D4DF56E10}" type="pres">
      <dgm:prSet presAssocID="{2B8B6A02-B6DE-495B-8BD0-F10BD88C5D02}" presName="thickLine" presStyleLbl="alignNode1" presStyleIdx="11" presStyleCnt="12"/>
      <dgm:spPr/>
    </dgm:pt>
    <dgm:pt modelId="{D61A8D25-1114-9640-9639-64EC37C752B3}" type="pres">
      <dgm:prSet presAssocID="{2B8B6A02-B6DE-495B-8BD0-F10BD88C5D02}" presName="horz1" presStyleCnt="0"/>
      <dgm:spPr/>
    </dgm:pt>
    <dgm:pt modelId="{CFCE693F-4278-4A49-8FDE-514AE1245C58}" type="pres">
      <dgm:prSet presAssocID="{2B8B6A02-B6DE-495B-8BD0-F10BD88C5D02}" presName="tx1" presStyleLbl="revTx" presStyleIdx="11" presStyleCnt="12"/>
      <dgm:spPr/>
    </dgm:pt>
    <dgm:pt modelId="{A6CEF912-EE9A-6E44-A32C-FF775749B2AE}" type="pres">
      <dgm:prSet presAssocID="{2B8B6A02-B6DE-495B-8BD0-F10BD88C5D02}" presName="vert1" presStyleCnt="0"/>
      <dgm:spPr/>
    </dgm:pt>
  </dgm:ptLst>
  <dgm:cxnLst>
    <dgm:cxn modelId="{6DD3B302-F6E2-4256-AB16-70C305A3C816}" srcId="{2BFFD039-38A4-41A4-81D4-4B1755385579}" destId="{A8DABA7B-C429-45F0-A565-F3A7F3FFB45B}" srcOrd="3" destOrd="0" parTransId="{A545FC1E-3EB3-4460-A021-85E22D845DA6}" sibTransId="{39470D2C-4ABF-4508-878F-760CC27C0ABA}"/>
    <dgm:cxn modelId="{0D2A2B0D-3A0C-4D7C-BA58-82AD7710447C}" srcId="{2BFFD039-38A4-41A4-81D4-4B1755385579}" destId="{2A27AA21-3221-4649-8299-F8C2452CD6D9}" srcOrd="8" destOrd="0" parTransId="{C65CDE0B-440B-42A5-B144-72622081E730}" sibTransId="{A3A00A02-3B66-4B39-838C-34E4202DFF86}"/>
    <dgm:cxn modelId="{DA2B0629-7BE3-6540-9C8C-11D52624EFE6}" type="presOf" srcId="{006EAE0F-C79E-466F-B4CA-CF08F96A70B2}" destId="{A3B49091-0379-CA4A-907A-1B06313818D5}" srcOrd="0" destOrd="0" presId="urn:microsoft.com/office/officeart/2008/layout/LinedList"/>
    <dgm:cxn modelId="{56AC0137-8638-7B4D-A78A-09DF41A32E81}" type="presOf" srcId="{2B8B6A02-B6DE-495B-8BD0-F10BD88C5D02}" destId="{CFCE693F-4278-4A49-8FDE-514AE1245C58}" srcOrd="0" destOrd="0" presId="urn:microsoft.com/office/officeart/2008/layout/LinedList"/>
    <dgm:cxn modelId="{C538C337-C468-4311-80A5-63F9FEFAE580}" srcId="{2BFFD039-38A4-41A4-81D4-4B1755385579}" destId="{A224C91A-67CF-4527-90C3-1A2EB6B6B96A}" srcOrd="6" destOrd="0" parTransId="{3B94F02D-0FA2-4403-B12D-00D55DDE58CA}" sibTransId="{BEA12723-32D8-4E38-A8C7-26A08DE9E9D8}"/>
    <dgm:cxn modelId="{2CC90844-8A16-A045-BA54-E936A5AADE50}" type="presOf" srcId="{93165936-B1C2-4EFF-9533-28C9D0212432}" destId="{D9C9A4E5-3EF9-F043-B6D3-C98E94082B13}" srcOrd="0" destOrd="0" presId="urn:microsoft.com/office/officeart/2008/layout/LinedList"/>
    <dgm:cxn modelId="{E9A6EA45-C011-479E-BB23-4CDBE012FF4E}" srcId="{2BFFD039-38A4-41A4-81D4-4B1755385579}" destId="{006EAE0F-C79E-466F-B4CA-CF08F96A70B2}" srcOrd="10" destOrd="0" parTransId="{FF08F838-D508-420E-9CFB-8081AAA9B607}" sibTransId="{F276DB3B-7D9A-41CF-8906-4B4EE01E427C}"/>
    <dgm:cxn modelId="{0D31D54D-C91D-4564-9962-0DAB6541BC09}" srcId="{2BFFD039-38A4-41A4-81D4-4B1755385579}" destId="{214F21BA-D5E4-4DB0-80FC-65E46D8B22E5}" srcOrd="7" destOrd="0" parTransId="{3412A7DB-E622-4CD5-9681-E094926F4993}" sibTransId="{D3AFBDDA-74FF-4D43-B783-1FBE6C3C1848}"/>
    <dgm:cxn modelId="{8F94EC52-EB3E-44B8-9A84-73EA73919170}" srcId="{2BFFD039-38A4-41A4-81D4-4B1755385579}" destId="{811FA8AB-B16A-4721-8D60-498FA4E8F997}" srcOrd="1" destOrd="0" parTransId="{2D016DE6-AFF2-4E99-BD2E-CA29B70E3508}" sibTransId="{747FE44F-0948-4633-91A5-7B28603E291A}"/>
    <dgm:cxn modelId="{531D9A53-6851-B647-BF56-D8A457737391}" type="presOf" srcId="{A224C91A-67CF-4527-90C3-1A2EB6B6B96A}" destId="{E9EBA3FA-C64B-9A40-A88A-DB31230B3AAA}" srcOrd="0" destOrd="0" presId="urn:microsoft.com/office/officeart/2008/layout/LinedList"/>
    <dgm:cxn modelId="{76F6AE55-4C67-B743-86A8-645D1CC1AAE2}" type="presOf" srcId="{2BFFD039-38A4-41A4-81D4-4B1755385579}" destId="{272E09B4-354E-1A4C-B7C3-E97D29A17D3D}" srcOrd="0" destOrd="0" presId="urn:microsoft.com/office/officeart/2008/layout/LinedList"/>
    <dgm:cxn modelId="{2C71585F-4489-A046-9E85-F6F9C62F1141}" type="presOf" srcId="{D9F03CD8-7C80-4927-AD34-6461244CAD52}" destId="{F2FBCF10-05F0-4345-B202-AABB71DC7957}" srcOrd="0" destOrd="0" presId="urn:microsoft.com/office/officeart/2008/layout/LinedList"/>
    <dgm:cxn modelId="{B8C3AB5F-78FC-6B4E-9344-EF094936BDFA}" type="presOf" srcId="{2A27AA21-3221-4649-8299-F8C2452CD6D9}" destId="{7497932E-74CE-F64D-B85E-C312229EBFE9}" srcOrd="0" destOrd="0" presId="urn:microsoft.com/office/officeart/2008/layout/LinedList"/>
    <dgm:cxn modelId="{378ABC7C-9BAC-4709-AC07-E11E02843A10}" srcId="{2BFFD039-38A4-41A4-81D4-4B1755385579}" destId="{93165936-B1C2-4EFF-9533-28C9D0212432}" srcOrd="9" destOrd="0" parTransId="{7C620404-03D3-4F14-84D2-BC1C9B890B3D}" sibTransId="{0BFDAF59-0C52-4663-BBC6-DAC5E7DC5757}"/>
    <dgm:cxn modelId="{13035B85-44E9-B445-8E9F-E385F5B157F3}" type="presOf" srcId="{B7C9348B-6BB5-45ED-9EA4-57E05E649318}" destId="{995B6150-0E34-8C42-B8B2-F6AB32726400}" srcOrd="0" destOrd="0" presId="urn:microsoft.com/office/officeart/2008/layout/LinedList"/>
    <dgm:cxn modelId="{E4FDED92-AE0C-4C4D-8699-6B9929FD117E}" type="presOf" srcId="{214F21BA-D5E4-4DB0-80FC-65E46D8B22E5}" destId="{2777C5EE-C703-5C49-AC38-5EA92532615A}" srcOrd="0" destOrd="0" presId="urn:microsoft.com/office/officeart/2008/layout/LinedList"/>
    <dgm:cxn modelId="{91FDB4A6-A4DC-2048-89F5-C6EFA9C337FD}" type="presOf" srcId="{C15A0921-5520-4081-B3AC-97F210320702}" destId="{35BD6105-3A63-6940-B979-CD3744163782}" srcOrd="0" destOrd="0" presId="urn:microsoft.com/office/officeart/2008/layout/LinedList"/>
    <dgm:cxn modelId="{B6B0AEB4-7867-4AEB-BD36-AF3728ED9F6E}" srcId="{2BFFD039-38A4-41A4-81D4-4B1755385579}" destId="{04BBBFC0-5EF4-4062-AB9B-A40D962FD0C3}" srcOrd="0" destOrd="0" parTransId="{2E1A94EA-AFF4-446F-A488-804AF9FDDDD5}" sibTransId="{D9463047-2162-40BF-B32F-5CDF110D5B26}"/>
    <dgm:cxn modelId="{7F06ABB5-AFB5-460F-AA8A-F956C5A3579E}" srcId="{2BFFD039-38A4-41A4-81D4-4B1755385579}" destId="{2B8B6A02-B6DE-495B-8BD0-F10BD88C5D02}" srcOrd="11" destOrd="0" parTransId="{987E6FC6-51D1-4E56-802D-0B7B47DFF15E}" sibTransId="{54D74CCD-3C92-4D84-8B82-330F94D12639}"/>
    <dgm:cxn modelId="{7BFE00B8-B67F-074E-B3D3-8851A222F5D1}" type="presOf" srcId="{811FA8AB-B16A-4721-8D60-498FA4E8F997}" destId="{16CF2319-8458-E941-8323-CF3D7F5B7C07}" srcOrd="0" destOrd="0" presId="urn:microsoft.com/office/officeart/2008/layout/LinedList"/>
    <dgm:cxn modelId="{E314C7C3-8A24-427F-8DAD-2F84FAB4BCA6}" srcId="{2BFFD039-38A4-41A4-81D4-4B1755385579}" destId="{C15A0921-5520-4081-B3AC-97F210320702}" srcOrd="2" destOrd="0" parTransId="{6A6497F4-D148-49B1-89EC-BEEDDA34D515}" sibTransId="{BD14B833-5B4C-44F4-B918-89E3DA00B61D}"/>
    <dgm:cxn modelId="{FF1EE1D3-49D1-4AA0-A19C-CE518132C511}" srcId="{2BFFD039-38A4-41A4-81D4-4B1755385579}" destId="{B7C9348B-6BB5-45ED-9EA4-57E05E649318}" srcOrd="5" destOrd="0" parTransId="{8A015BBA-5F7F-4CD2-BFD5-CBDA8436A31C}" sibTransId="{233F6D95-6CA1-4C6D-A096-D44FA634AF39}"/>
    <dgm:cxn modelId="{0341B0E5-993E-544D-9A0D-5FBF354FAEAC}" type="presOf" srcId="{04BBBFC0-5EF4-4062-AB9B-A40D962FD0C3}" destId="{E5F89E73-9318-2043-8E00-8B812FF4A962}" srcOrd="0" destOrd="0" presId="urn:microsoft.com/office/officeart/2008/layout/LinedList"/>
    <dgm:cxn modelId="{1DC073EE-F49F-9F42-9333-34871F28F9D5}" type="presOf" srcId="{A8DABA7B-C429-45F0-A565-F3A7F3FFB45B}" destId="{F69DACC7-4EFF-B54C-95A6-81FA9D3905B4}" srcOrd="0" destOrd="0" presId="urn:microsoft.com/office/officeart/2008/layout/LinedList"/>
    <dgm:cxn modelId="{F7E003EF-A005-49E5-B0AB-CE5CA4C45DE5}" srcId="{2BFFD039-38A4-41A4-81D4-4B1755385579}" destId="{D9F03CD8-7C80-4927-AD34-6461244CAD52}" srcOrd="4" destOrd="0" parTransId="{4513AB8A-CCCE-4C8F-A8C0-1B953B7A4915}" sibTransId="{4D961F2A-F5D3-4AFF-8287-99109E2CDFFB}"/>
    <dgm:cxn modelId="{62722B40-7DF4-1C4A-BED6-36E193A63969}" type="presParOf" srcId="{272E09B4-354E-1A4C-B7C3-E97D29A17D3D}" destId="{E14C8795-007B-5D46-9D67-B5E808FE6822}" srcOrd="0" destOrd="0" presId="urn:microsoft.com/office/officeart/2008/layout/LinedList"/>
    <dgm:cxn modelId="{65D5C7A7-DE09-CF47-9E42-B9C7746A1810}" type="presParOf" srcId="{272E09B4-354E-1A4C-B7C3-E97D29A17D3D}" destId="{A4C087BD-FAC8-CA46-A5A5-1B14EDD70AA1}" srcOrd="1" destOrd="0" presId="urn:microsoft.com/office/officeart/2008/layout/LinedList"/>
    <dgm:cxn modelId="{56E48C10-5DB5-404C-82F0-293E5C0EA8C3}" type="presParOf" srcId="{A4C087BD-FAC8-CA46-A5A5-1B14EDD70AA1}" destId="{E5F89E73-9318-2043-8E00-8B812FF4A962}" srcOrd="0" destOrd="0" presId="urn:microsoft.com/office/officeart/2008/layout/LinedList"/>
    <dgm:cxn modelId="{9C0DAF8A-20E4-AA46-8401-1D98A6566CE2}" type="presParOf" srcId="{A4C087BD-FAC8-CA46-A5A5-1B14EDD70AA1}" destId="{EB07E7F0-B564-9342-983B-3A0AABB51B33}" srcOrd="1" destOrd="0" presId="urn:microsoft.com/office/officeart/2008/layout/LinedList"/>
    <dgm:cxn modelId="{9B14B9D1-D98B-8143-874A-19BF02E635F8}" type="presParOf" srcId="{272E09B4-354E-1A4C-B7C3-E97D29A17D3D}" destId="{FA2CCE7A-9E07-3D44-AD40-616626671868}" srcOrd="2" destOrd="0" presId="urn:microsoft.com/office/officeart/2008/layout/LinedList"/>
    <dgm:cxn modelId="{EF756822-AE61-0849-97BE-78EDBD0FB041}" type="presParOf" srcId="{272E09B4-354E-1A4C-B7C3-E97D29A17D3D}" destId="{9227552F-7CC3-7545-B474-D86ABF5C320E}" srcOrd="3" destOrd="0" presId="urn:microsoft.com/office/officeart/2008/layout/LinedList"/>
    <dgm:cxn modelId="{95336DEB-E0D4-4544-973A-1F7A4344F4EC}" type="presParOf" srcId="{9227552F-7CC3-7545-B474-D86ABF5C320E}" destId="{16CF2319-8458-E941-8323-CF3D7F5B7C07}" srcOrd="0" destOrd="0" presId="urn:microsoft.com/office/officeart/2008/layout/LinedList"/>
    <dgm:cxn modelId="{11E0B5D0-B77B-CC4B-B519-64D1AF01CFC4}" type="presParOf" srcId="{9227552F-7CC3-7545-B474-D86ABF5C320E}" destId="{ACDE8F9B-47E8-2B46-9D64-4903FEC7CC0A}" srcOrd="1" destOrd="0" presId="urn:microsoft.com/office/officeart/2008/layout/LinedList"/>
    <dgm:cxn modelId="{D9C26570-DEC7-EA49-8EFB-7ED7CFB47887}" type="presParOf" srcId="{272E09B4-354E-1A4C-B7C3-E97D29A17D3D}" destId="{5D7190CB-2878-5441-BFC9-7536A2E9B8E4}" srcOrd="4" destOrd="0" presId="urn:microsoft.com/office/officeart/2008/layout/LinedList"/>
    <dgm:cxn modelId="{5A071C13-6618-EE4F-B2C1-0D75402A8151}" type="presParOf" srcId="{272E09B4-354E-1A4C-B7C3-E97D29A17D3D}" destId="{BD84B6FE-FFD2-804A-8F7A-72D469F27770}" srcOrd="5" destOrd="0" presId="urn:microsoft.com/office/officeart/2008/layout/LinedList"/>
    <dgm:cxn modelId="{2CA9393A-9EF0-A14D-B5FB-3EBF641F4EDC}" type="presParOf" srcId="{BD84B6FE-FFD2-804A-8F7A-72D469F27770}" destId="{35BD6105-3A63-6940-B979-CD3744163782}" srcOrd="0" destOrd="0" presId="urn:microsoft.com/office/officeart/2008/layout/LinedList"/>
    <dgm:cxn modelId="{8BFF3356-A8A4-8947-B56E-414FB39104FE}" type="presParOf" srcId="{BD84B6FE-FFD2-804A-8F7A-72D469F27770}" destId="{59A6639D-4624-E84B-8973-296169D40A9A}" srcOrd="1" destOrd="0" presId="urn:microsoft.com/office/officeart/2008/layout/LinedList"/>
    <dgm:cxn modelId="{6F4A3DE9-5BA5-4242-A005-098CABDFCEA8}" type="presParOf" srcId="{272E09B4-354E-1A4C-B7C3-E97D29A17D3D}" destId="{539F8AD2-D5B6-F444-BB66-E85C6155A047}" srcOrd="6" destOrd="0" presId="urn:microsoft.com/office/officeart/2008/layout/LinedList"/>
    <dgm:cxn modelId="{A203D07A-53E0-1149-ACB2-BFCE4BEF5984}" type="presParOf" srcId="{272E09B4-354E-1A4C-B7C3-E97D29A17D3D}" destId="{A3CCF4BC-5C99-E04B-AA82-3E29D4DAF50E}" srcOrd="7" destOrd="0" presId="urn:microsoft.com/office/officeart/2008/layout/LinedList"/>
    <dgm:cxn modelId="{558057F0-ADCC-FD42-97D0-B9EFDECB5A7D}" type="presParOf" srcId="{A3CCF4BC-5C99-E04B-AA82-3E29D4DAF50E}" destId="{F69DACC7-4EFF-B54C-95A6-81FA9D3905B4}" srcOrd="0" destOrd="0" presId="urn:microsoft.com/office/officeart/2008/layout/LinedList"/>
    <dgm:cxn modelId="{EDE13788-A921-DE41-A80F-C24586FC7CD0}" type="presParOf" srcId="{A3CCF4BC-5C99-E04B-AA82-3E29D4DAF50E}" destId="{4F7A0F51-C137-104D-A0A2-9D2DB890FEAB}" srcOrd="1" destOrd="0" presId="urn:microsoft.com/office/officeart/2008/layout/LinedList"/>
    <dgm:cxn modelId="{C598B9BA-E77A-9944-9CEE-7F92D99F29F0}" type="presParOf" srcId="{272E09B4-354E-1A4C-B7C3-E97D29A17D3D}" destId="{632DA3D5-980F-5D43-A179-F6F8A2D000F6}" srcOrd="8" destOrd="0" presId="urn:microsoft.com/office/officeart/2008/layout/LinedList"/>
    <dgm:cxn modelId="{02B07AE2-1FF3-5F49-82A2-3C19D26B5556}" type="presParOf" srcId="{272E09B4-354E-1A4C-B7C3-E97D29A17D3D}" destId="{6FB0407B-1A31-9940-A27D-57B4658760FD}" srcOrd="9" destOrd="0" presId="urn:microsoft.com/office/officeart/2008/layout/LinedList"/>
    <dgm:cxn modelId="{9300832F-16C8-9248-827D-022914034F44}" type="presParOf" srcId="{6FB0407B-1A31-9940-A27D-57B4658760FD}" destId="{F2FBCF10-05F0-4345-B202-AABB71DC7957}" srcOrd="0" destOrd="0" presId="urn:microsoft.com/office/officeart/2008/layout/LinedList"/>
    <dgm:cxn modelId="{A4010F3B-9DFD-6143-B912-1FBDCD99A6B1}" type="presParOf" srcId="{6FB0407B-1A31-9940-A27D-57B4658760FD}" destId="{D14EB6C7-1D95-094A-8BBC-491DDC47D675}" srcOrd="1" destOrd="0" presId="urn:microsoft.com/office/officeart/2008/layout/LinedList"/>
    <dgm:cxn modelId="{21386A9C-F006-3F47-8D3F-2EBB2E670AF5}" type="presParOf" srcId="{272E09B4-354E-1A4C-B7C3-E97D29A17D3D}" destId="{429C69C7-5C47-7740-9497-44096FD4ED9D}" srcOrd="10" destOrd="0" presId="urn:microsoft.com/office/officeart/2008/layout/LinedList"/>
    <dgm:cxn modelId="{A710F67E-B394-6E41-871C-25AB67A239E9}" type="presParOf" srcId="{272E09B4-354E-1A4C-B7C3-E97D29A17D3D}" destId="{4B393AFE-635D-574F-B002-113B857B23C2}" srcOrd="11" destOrd="0" presId="urn:microsoft.com/office/officeart/2008/layout/LinedList"/>
    <dgm:cxn modelId="{87A02DE0-96D3-9147-BC3F-2BFA95718F5F}" type="presParOf" srcId="{4B393AFE-635D-574F-B002-113B857B23C2}" destId="{995B6150-0E34-8C42-B8B2-F6AB32726400}" srcOrd="0" destOrd="0" presId="urn:microsoft.com/office/officeart/2008/layout/LinedList"/>
    <dgm:cxn modelId="{89CF9D10-D9C8-984B-8823-6809145FDAB5}" type="presParOf" srcId="{4B393AFE-635D-574F-B002-113B857B23C2}" destId="{3A1FF5C0-7DDD-A549-A065-FC55AA2AF4F6}" srcOrd="1" destOrd="0" presId="urn:microsoft.com/office/officeart/2008/layout/LinedList"/>
    <dgm:cxn modelId="{193035B9-B9AA-C54F-8854-4D2EC7B9E340}" type="presParOf" srcId="{272E09B4-354E-1A4C-B7C3-E97D29A17D3D}" destId="{0785087F-C69F-0D45-984E-C9232F9E05B8}" srcOrd="12" destOrd="0" presId="urn:microsoft.com/office/officeart/2008/layout/LinedList"/>
    <dgm:cxn modelId="{09AE7CB9-76EF-884E-B3E1-CC1D6B91081D}" type="presParOf" srcId="{272E09B4-354E-1A4C-B7C3-E97D29A17D3D}" destId="{36557682-FF61-E84C-A4E5-437994689A8F}" srcOrd="13" destOrd="0" presId="urn:microsoft.com/office/officeart/2008/layout/LinedList"/>
    <dgm:cxn modelId="{88976A05-9CCD-A747-AC3D-BF0D01B54B9F}" type="presParOf" srcId="{36557682-FF61-E84C-A4E5-437994689A8F}" destId="{E9EBA3FA-C64B-9A40-A88A-DB31230B3AAA}" srcOrd="0" destOrd="0" presId="urn:microsoft.com/office/officeart/2008/layout/LinedList"/>
    <dgm:cxn modelId="{842AE278-1FF6-2B45-8381-0473E37FEB40}" type="presParOf" srcId="{36557682-FF61-E84C-A4E5-437994689A8F}" destId="{0FE26DC6-C987-614A-ACA4-5646970AC91D}" srcOrd="1" destOrd="0" presId="urn:microsoft.com/office/officeart/2008/layout/LinedList"/>
    <dgm:cxn modelId="{6833C15D-DAFD-DE48-93C1-65675B8F2484}" type="presParOf" srcId="{272E09B4-354E-1A4C-B7C3-E97D29A17D3D}" destId="{310CF735-D0D4-8447-9EE8-1855D97B9457}" srcOrd="14" destOrd="0" presId="urn:microsoft.com/office/officeart/2008/layout/LinedList"/>
    <dgm:cxn modelId="{2DD54CE3-F36E-3049-8892-5C4DCE118CFE}" type="presParOf" srcId="{272E09B4-354E-1A4C-B7C3-E97D29A17D3D}" destId="{A00F1C3F-4895-234C-B136-96B4F77E5E9F}" srcOrd="15" destOrd="0" presId="urn:microsoft.com/office/officeart/2008/layout/LinedList"/>
    <dgm:cxn modelId="{2B2CAEB4-A918-DD44-A625-A82AE40E8433}" type="presParOf" srcId="{A00F1C3F-4895-234C-B136-96B4F77E5E9F}" destId="{2777C5EE-C703-5C49-AC38-5EA92532615A}" srcOrd="0" destOrd="0" presId="urn:microsoft.com/office/officeart/2008/layout/LinedList"/>
    <dgm:cxn modelId="{D9D3910A-8124-2640-A03B-C1C8BD3CBA2D}" type="presParOf" srcId="{A00F1C3F-4895-234C-B136-96B4F77E5E9F}" destId="{2FD5490E-FB3C-4948-8925-A5248B016AEC}" srcOrd="1" destOrd="0" presId="urn:microsoft.com/office/officeart/2008/layout/LinedList"/>
    <dgm:cxn modelId="{A0C86B05-C27A-664B-AA41-7FA32C8CC0A3}" type="presParOf" srcId="{272E09B4-354E-1A4C-B7C3-E97D29A17D3D}" destId="{9D95E32A-292D-8F44-9E9D-67F0AC9C2803}" srcOrd="16" destOrd="0" presId="urn:microsoft.com/office/officeart/2008/layout/LinedList"/>
    <dgm:cxn modelId="{D33D1AE6-9817-CC4C-A70D-AF2D016CC35E}" type="presParOf" srcId="{272E09B4-354E-1A4C-B7C3-E97D29A17D3D}" destId="{D5E27298-7612-8A43-A994-6CFA0D04C799}" srcOrd="17" destOrd="0" presId="urn:microsoft.com/office/officeart/2008/layout/LinedList"/>
    <dgm:cxn modelId="{3109AC04-05AB-964F-8B4A-76FFBF378362}" type="presParOf" srcId="{D5E27298-7612-8A43-A994-6CFA0D04C799}" destId="{7497932E-74CE-F64D-B85E-C312229EBFE9}" srcOrd="0" destOrd="0" presId="urn:microsoft.com/office/officeart/2008/layout/LinedList"/>
    <dgm:cxn modelId="{A1802918-8F15-7C4E-BA91-8E6DF9753BAA}" type="presParOf" srcId="{D5E27298-7612-8A43-A994-6CFA0D04C799}" destId="{DC7E1C2A-6A8D-DF43-9AE1-799C28BDDF9F}" srcOrd="1" destOrd="0" presId="urn:microsoft.com/office/officeart/2008/layout/LinedList"/>
    <dgm:cxn modelId="{F1FD87B7-78BF-4649-9878-34922DC96446}" type="presParOf" srcId="{272E09B4-354E-1A4C-B7C3-E97D29A17D3D}" destId="{712B63DA-359A-7941-9EB3-B6B839205C6A}" srcOrd="18" destOrd="0" presId="urn:microsoft.com/office/officeart/2008/layout/LinedList"/>
    <dgm:cxn modelId="{213B537B-77B6-D54E-AAC9-37A6E7AFA30F}" type="presParOf" srcId="{272E09B4-354E-1A4C-B7C3-E97D29A17D3D}" destId="{448D0AB8-BFF3-A14A-9F66-4EF8710458D1}" srcOrd="19" destOrd="0" presId="urn:microsoft.com/office/officeart/2008/layout/LinedList"/>
    <dgm:cxn modelId="{029FD0F7-E43A-0346-9682-8E3581E863AA}" type="presParOf" srcId="{448D0AB8-BFF3-A14A-9F66-4EF8710458D1}" destId="{D9C9A4E5-3EF9-F043-B6D3-C98E94082B13}" srcOrd="0" destOrd="0" presId="urn:microsoft.com/office/officeart/2008/layout/LinedList"/>
    <dgm:cxn modelId="{EC5171BE-9DA6-7849-9F64-E4BE78E8DA42}" type="presParOf" srcId="{448D0AB8-BFF3-A14A-9F66-4EF8710458D1}" destId="{AAA2E3CC-9932-254E-BC03-2121C5E68E0D}" srcOrd="1" destOrd="0" presId="urn:microsoft.com/office/officeart/2008/layout/LinedList"/>
    <dgm:cxn modelId="{D7FC88FD-604B-0B4F-9E0C-8299FC405623}" type="presParOf" srcId="{272E09B4-354E-1A4C-B7C3-E97D29A17D3D}" destId="{29478F81-712E-EF44-B7F5-DCE9F314A298}" srcOrd="20" destOrd="0" presId="urn:microsoft.com/office/officeart/2008/layout/LinedList"/>
    <dgm:cxn modelId="{BCEF457E-6E70-3446-9F8A-4E84690895DA}" type="presParOf" srcId="{272E09B4-354E-1A4C-B7C3-E97D29A17D3D}" destId="{23302CC1-7B08-5448-9155-596903818BA8}" srcOrd="21" destOrd="0" presId="urn:microsoft.com/office/officeart/2008/layout/LinedList"/>
    <dgm:cxn modelId="{2CE04FFA-F33B-DB46-A463-4C1E4C7A1027}" type="presParOf" srcId="{23302CC1-7B08-5448-9155-596903818BA8}" destId="{A3B49091-0379-CA4A-907A-1B06313818D5}" srcOrd="0" destOrd="0" presId="urn:microsoft.com/office/officeart/2008/layout/LinedList"/>
    <dgm:cxn modelId="{325CB502-8742-AA4D-AC29-3A68CCAF4835}" type="presParOf" srcId="{23302CC1-7B08-5448-9155-596903818BA8}" destId="{ADEFEFA1-53A5-BE47-8374-C7AF48F2DA34}" srcOrd="1" destOrd="0" presId="urn:microsoft.com/office/officeart/2008/layout/LinedList"/>
    <dgm:cxn modelId="{045F0D24-EBE3-1E41-A8E4-06E3BE10EA16}" type="presParOf" srcId="{272E09B4-354E-1A4C-B7C3-E97D29A17D3D}" destId="{9A162F16-B8B3-5B42-91EA-600D4DF56E10}" srcOrd="22" destOrd="0" presId="urn:microsoft.com/office/officeart/2008/layout/LinedList"/>
    <dgm:cxn modelId="{06960FED-1A86-AE4A-896E-E9C35B6625F1}" type="presParOf" srcId="{272E09B4-354E-1A4C-B7C3-E97D29A17D3D}" destId="{D61A8D25-1114-9640-9639-64EC37C752B3}" srcOrd="23" destOrd="0" presId="urn:microsoft.com/office/officeart/2008/layout/LinedList"/>
    <dgm:cxn modelId="{5DC03C8F-D92D-374D-91BB-082346F99498}" type="presParOf" srcId="{D61A8D25-1114-9640-9639-64EC37C752B3}" destId="{CFCE693F-4278-4A49-8FDE-514AE1245C58}" srcOrd="0" destOrd="0" presId="urn:microsoft.com/office/officeart/2008/layout/LinedList"/>
    <dgm:cxn modelId="{CE263125-A208-CE44-89CA-38958962B540}" type="presParOf" srcId="{D61A8D25-1114-9640-9639-64EC37C752B3}" destId="{A6CEF912-EE9A-6E44-A32C-FF775749B2A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F0EDF0-0A53-4317-B8D0-DBDA15D4A3A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DA910FB-B9CF-47E4-8004-89EDA98EE726}">
      <dgm:prSet/>
      <dgm:spPr/>
      <dgm:t>
        <a:bodyPr/>
        <a:lstStyle/>
        <a:p>
          <a:pPr>
            <a:defRPr cap="all"/>
          </a:pPr>
          <a:r>
            <a:rPr lang="en-US"/>
            <a:t>Understand the core principles of the insolvency law</a:t>
          </a:r>
        </a:p>
      </dgm:t>
    </dgm:pt>
    <dgm:pt modelId="{A539FE7C-1A6A-465E-A565-1F8C62BF917F}" type="parTrans" cxnId="{6DE5922B-59D6-419C-B356-38C187B6D6BF}">
      <dgm:prSet/>
      <dgm:spPr/>
      <dgm:t>
        <a:bodyPr/>
        <a:lstStyle/>
        <a:p>
          <a:endParaRPr lang="en-US"/>
        </a:p>
      </dgm:t>
    </dgm:pt>
    <dgm:pt modelId="{264FD67D-216F-4520-860B-F08B7952C2CE}" type="sibTrans" cxnId="{6DE5922B-59D6-419C-B356-38C187B6D6BF}">
      <dgm:prSet/>
      <dgm:spPr/>
      <dgm:t>
        <a:bodyPr/>
        <a:lstStyle/>
        <a:p>
          <a:endParaRPr lang="en-US"/>
        </a:p>
      </dgm:t>
    </dgm:pt>
    <dgm:pt modelId="{B06B87F3-0A0F-4B4B-AE12-B585A0618C17}">
      <dgm:prSet/>
      <dgm:spPr/>
      <dgm:t>
        <a:bodyPr/>
        <a:lstStyle/>
        <a:p>
          <a:pPr>
            <a:defRPr cap="all"/>
          </a:pPr>
          <a:r>
            <a:rPr lang="en-US"/>
            <a:t>Understand its historical context</a:t>
          </a:r>
        </a:p>
      </dgm:t>
    </dgm:pt>
    <dgm:pt modelId="{64877F5B-F19D-4BC1-A45A-10E244A57895}" type="parTrans" cxnId="{8DEF519B-0F10-4D1B-8B2F-E53C10F16A90}">
      <dgm:prSet/>
      <dgm:spPr/>
      <dgm:t>
        <a:bodyPr/>
        <a:lstStyle/>
        <a:p>
          <a:endParaRPr lang="en-US"/>
        </a:p>
      </dgm:t>
    </dgm:pt>
    <dgm:pt modelId="{D244B422-96F2-4C04-912A-5FEA1D40ABAD}" type="sibTrans" cxnId="{8DEF519B-0F10-4D1B-8B2F-E53C10F16A90}">
      <dgm:prSet/>
      <dgm:spPr/>
      <dgm:t>
        <a:bodyPr/>
        <a:lstStyle/>
        <a:p>
          <a:endParaRPr lang="en-US"/>
        </a:p>
      </dgm:t>
    </dgm:pt>
    <dgm:pt modelId="{25D60B30-0D3B-47A3-9C2F-967A036C1A1A}">
      <dgm:prSet/>
      <dgm:spPr/>
      <dgm:t>
        <a:bodyPr/>
        <a:lstStyle/>
        <a:p>
          <a:pPr>
            <a:defRPr cap="all"/>
          </a:pPr>
          <a:r>
            <a:rPr lang="en-US"/>
            <a:t>Think about its place today</a:t>
          </a:r>
        </a:p>
      </dgm:t>
    </dgm:pt>
    <dgm:pt modelId="{94B240D0-240B-43F7-91EE-A8948CBB421A}" type="parTrans" cxnId="{DEC7177A-93BA-4D37-B965-912710FC5475}">
      <dgm:prSet/>
      <dgm:spPr/>
      <dgm:t>
        <a:bodyPr/>
        <a:lstStyle/>
        <a:p>
          <a:endParaRPr lang="en-US"/>
        </a:p>
      </dgm:t>
    </dgm:pt>
    <dgm:pt modelId="{50819792-D95D-4BEB-AFB0-2F505B4783AD}" type="sibTrans" cxnId="{DEC7177A-93BA-4D37-B965-912710FC5475}">
      <dgm:prSet/>
      <dgm:spPr/>
      <dgm:t>
        <a:bodyPr/>
        <a:lstStyle/>
        <a:p>
          <a:endParaRPr lang="en-US"/>
        </a:p>
      </dgm:t>
    </dgm:pt>
    <dgm:pt modelId="{92F4F807-9C72-4BBB-865D-C0E6584FBF2F}" type="pres">
      <dgm:prSet presAssocID="{9FF0EDF0-0A53-4317-B8D0-DBDA15D4A3AE}" presName="root" presStyleCnt="0">
        <dgm:presLayoutVars>
          <dgm:dir/>
          <dgm:resizeHandles val="exact"/>
        </dgm:presLayoutVars>
      </dgm:prSet>
      <dgm:spPr/>
    </dgm:pt>
    <dgm:pt modelId="{0B190782-B1FD-4095-80E0-CB00EB4F7CD2}" type="pres">
      <dgm:prSet presAssocID="{ADA910FB-B9CF-47E4-8004-89EDA98EE726}" presName="compNode" presStyleCnt="0"/>
      <dgm:spPr/>
    </dgm:pt>
    <dgm:pt modelId="{BFEDAC3F-7F94-4727-A840-3E8E55A44FEA}" type="pres">
      <dgm:prSet presAssocID="{ADA910FB-B9CF-47E4-8004-89EDA98EE726}" presName="iconBgRect" presStyleLbl="bgShp" presStyleIdx="0" presStyleCnt="3"/>
      <dgm:spPr/>
    </dgm:pt>
    <dgm:pt modelId="{40268182-18DD-4196-BF16-72A89A118B6C}" type="pres">
      <dgm:prSet presAssocID="{ADA910FB-B9CF-47E4-8004-89EDA98EE72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20BF217D-C299-4E67-9ECA-DD3DB1F14BAD}" type="pres">
      <dgm:prSet presAssocID="{ADA910FB-B9CF-47E4-8004-89EDA98EE726}" presName="spaceRect" presStyleCnt="0"/>
      <dgm:spPr/>
    </dgm:pt>
    <dgm:pt modelId="{6798CD36-93A5-4F5B-8D4C-983F704EE023}" type="pres">
      <dgm:prSet presAssocID="{ADA910FB-B9CF-47E4-8004-89EDA98EE726}" presName="textRect" presStyleLbl="revTx" presStyleIdx="0" presStyleCnt="3">
        <dgm:presLayoutVars>
          <dgm:chMax val="1"/>
          <dgm:chPref val="1"/>
        </dgm:presLayoutVars>
      </dgm:prSet>
      <dgm:spPr/>
    </dgm:pt>
    <dgm:pt modelId="{89613E88-363C-4F64-B9E7-9B4F6B66C73A}" type="pres">
      <dgm:prSet presAssocID="{264FD67D-216F-4520-860B-F08B7952C2CE}" presName="sibTrans" presStyleCnt="0"/>
      <dgm:spPr/>
    </dgm:pt>
    <dgm:pt modelId="{35D244B8-D08D-475C-B837-407EAFEE56C0}" type="pres">
      <dgm:prSet presAssocID="{B06B87F3-0A0F-4B4B-AE12-B585A0618C17}" presName="compNode" presStyleCnt="0"/>
      <dgm:spPr/>
    </dgm:pt>
    <dgm:pt modelId="{B91510E8-D6CE-4BC0-995B-A5407CA367FE}" type="pres">
      <dgm:prSet presAssocID="{B06B87F3-0A0F-4B4B-AE12-B585A0618C17}" presName="iconBgRect" presStyleLbl="bgShp" presStyleIdx="1" presStyleCnt="3"/>
      <dgm:spPr/>
    </dgm:pt>
    <dgm:pt modelId="{35092EBC-B8E7-40DE-9A1F-B89DA0459482}" type="pres">
      <dgm:prSet presAssocID="{B06B87F3-0A0F-4B4B-AE12-B585A0618C1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3F6D6DA2-73C0-4D88-96AE-0078AD8D2F87}" type="pres">
      <dgm:prSet presAssocID="{B06B87F3-0A0F-4B4B-AE12-B585A0618C17}" presName="spaceRect" presStyleCnt="0"/>
      <dgm:spPr/>
    </dgm:pt>
    <dgm:pt modelId="{00F13D0C-6C50-42D8-9509-8900E755F788}" type="pres">
      <dgm:prSet presAssocID="{B06B87F3-0A0F-4B4B-AE12-B585A0618C17}" presName="textRect" presStyleLbl="revTx" presStyleIdx="1" presStyleCnt="3">
        <dgm:presLayoutVars>
          <dgm:chMax val="1"/>
          <dgm:chPref val="1"/>
        </dgm:presLayoutVars>
      </dgm:prSet>
      <dgm:spPr/>
    </dgm:pt>
    <dgm:pt modelId="{F7A19BD8-1C4A-4A9B-A0E2-8AE6A34CC6DF}" type="pres">
      <dgm:prSet presAssocID="{D244B422-96F2-4C04-912A-5FEA1D40ABAD}" presName="sibTrans" presStyleCnt="0"/>
      <dgm:spPr/>
    </dgm:pt>
    <dgm:pt modelId="{43B9E63D-4E28-4D8D-8AF4-AEA4DCBA68B4}" type="pres">
      <dgm:prSet presAssocID="{25D60B30-0D3B-47A3-9C2F-967A036C1A1A}" presName="compNode" presStyleCnt="0"/>
      <dgm:spPr/>
    </dgm:pt>
    <dgm:pt modelId="{B41B45DB-558A-4CB7-A29C-8B3DD27253C1}" type="pres">
      <dgm:prSet presAssocID="{25D60B30-0D3B-47A3-9C2F-967A036C1A1A}" presName="iconBgRect" presStyleLbl="bgShp" presStyleIdx="2" presStyleCnt="3"/>
      <dgm:spPr/>
    </dgm:pt>
    <dgm:pt modelId="{B550FDC9-63FE-4584-B7C3-79BA1AA67E8D}" type="pres">
      <dgm:prSet presAssocID="{25D60B30-0D3B-47A3-9C2F-967A036C1A1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C9AA968B-8235-4A35-A7A5-F66226EBCBBF}" type="pres">
      <dgm:prSet presAssocID="{25D60B30-0D3B-47A3-9C2F-967A036C1A1A}" presName="spaceRect" presStyleCnt="0"/>
      <dgm:spPr/>
    </dgm:pt>
    <dgm:pt modelId="{73D8EE42-CA2D-4D17-A866-B46F7075FEC3}" type="pres">
      <dgm:prSet presAssocID="{25D60B30-0D3B-47A3-9C2F-967A036C1A1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DE5922B-59D6-419C-B356-38C187B6D6BF}" srcId="{9FF0EDF0-0A53-4317-B8D0-DBDA15D4A3AE}" destId="{ADA910FB-B9CF-47E4-8004-89EDA98EE726}" srcOrd="0" destOrd="0" parTransId="{A539FE7C-1A6A-465E-A565-1F8C62BF917F}" sibTransId="{264FD67D-216F-4520-860B-F08B7952C2CE}"/>
    <dgm:cxn modelId="{5E06CE59-B397-401B-AA78-A0651BC07689}" type="presOf" srcId="{25D60B30-0D3B-47A3-9C2F-967A036C1A1A}" destId="{73D8EE42-CA2D-4D17-A866-B46F7075FEC3}" srcOrd="0" destOrd="0" presId="urn:microsoft.com/office/officeart/2018/5/layout/IconCircleLabelList"/>
    <dgm:cxn modelId="{07FAD85B-D488-4F28-A0A7-CC02514DFEB8}" type="presOf" srcId="{ADA910FB-B9CF-47E4-8004-89EDA98EE726}" destId="{6798CD36-93A5-4F5B-8D4C-983F704EE023}" srcOrd="0" destOrd="0" presId="urn:microsoft.com/office/officeart/2018/5/layout/IconCircleLabelList"/>
    <dgm:cxn modelId="{D65E2773-227B-4E97-A2C1-A78676F33754}" type="presOf" srcId="{9FF0EDF0-0A53-4317-B8D0-DBDA15D4A3AE}" destId="{92F4F807-9C72-4BBB-865D-C0E6584FBF2F}" srcOrd="0" destOrd="0" presId="urn:microsoft.com/office/officeart/2018/5/layout/IconCircleLabelList"/>
    <dgm:cxn modelId="{DEC7177A-93BA-4D37-B965-912710FC5475}" srcId="{9FF0EDF0-0A53-4317-B8D0-DBDA15D4A3AE}" destId="{25D60B30-0D3B-47A3-9C2F-967A036C1A1A}" srcOrd="2" destOrd="0" parTransId="{94B240D0-240B-43F7-91EE-A8948CBB421A}" sibTransId="{50819792-D95D-4BEB-AFB0-2F505B4783AD}"/>
    <dgm:cxn modelId="{BA39CF97-01F0-45CC-A976-1E19F73292E2}" type="presOf" srcId="{B06B87F3-0A0F-4B4B-AE12-B585A0618C17}" destId="{00F13D0C-6C50-42D8-9509-8900E755F788}" srcOrd="0" destOrd="0" presId="urn:microsoft.com/office/officeart/2018/5/layout/IconCircleLabelList"/>
    <dgm:cxn modelId="{8DEF519B-0F10-4D1B-8B2F-E53C10F16A90}" srcId="{9FF0EDF0-0A53-4317-B8D0-DBDA15D4A3AE}" destId="{B06B87F3-0A0F-4B4B-AE12-B585A0618C17}" srcOrd="1" destOrd="0" parTransId="{64877F5B-F19D-4BC1-A45A-10E244A57895}" sibTransId="{D244B422-96F2-4C04-912A-5FEA1D40ABAD}"/>
    <dgm:cxn modelId="{21848B9E-0C28-447C-8599-2F7DDEE35702}" type="presParOf" srcId="{92F4F807-9C72-4BBB-865D-C0E6584FBF2F}" destId="{0B190782-B1FD-4095-80E0-CB00EB4F7CD2}" srcOrd="0" destOrd="0" presId="urn:microsoft.com/office/officeart/2018/5/layout/IconCircleLabelList"/>
    <dgm:cxn modelId="{A85B8D2A-41B5-4F5A-B496-604E98869CC5}" type="presParOf" srcId="{0B190782-B1FD-4095-80E0-CB00EB4F7CD2}" destId="{BFEDAC3F-7F94-4727-A840-3E8E55A44FEA}" srcOrd="0" destOrd="0" presId="urn:microsoft.com/office/officeart/2018/5/layout/IconCircleLabelList"/>
    <dgm:cxn modelId="{279E6228-8D1A-4A44-BB3D-E2B0E68517E5}" type="presParOf" srcId="{0B190782-B1FD-4095-80E0-CB00EB4F7CD2}" destId="{40268182-18DD-4196-BF16-72A89A118B6C}" srcOrd="1" destOrd="0" presId="urn:microsoft.com/office/officeart/2018/5/layout/IconCircleLabelList"/>
    <dgm:cxn modelId="{333DCCDC-E19A-4934-93AD-587D98BFA91A}" type="presParOf" srcId="{0B190782-B1FD-4095-80E0-CB00EB4F7CD2}" destId="{20BF217D-C299-4E67-9ECA-DD3DB1F14BAD}" srcOrd="2" destOrd="0" presId="urn:microsoft.com/office/officeart/2018/5/layout/IconCircleLabelList"/>
    <dgm:cxn modelId="{75099832-B791-4191-AA72-7C195A36A2FE}" type="presParOf" srcId="{0B190782-B1FD-4095-80E0-CB00EB4F7CD2}" destId="{6798CD36-93A5-4F5B-8D4C-983F704EE023}" srcOrd="3" destOrd="0" presId="urn:microsoft.com/office/officeart/2018/5/layout/IconCircleLabelList"/>
    <dgm:cxn modelId="{D5BF4A27-7B41-4F6D-8669-58BAE642767A}" type="presParOf" srcId="{92F4F807-9C72-4BBB-865D-C0E6584FBF2F}" destId="{89613E88-363C-4F64-B9E7-9B4F6B66C73A}" srcOrd="1" destOrd="0" presId="urn:microsoft.com/office/officeart/2018/5/layout/IconCircleLabelList"/>
    <dgm:cxn modelId="{F4C23DAD-03C9-4737-8EF2-3F949950DC74}" type="presParOf" srcId="{92F4F807-9C72-4BBB-865D-C0E6584FBF2F}" destId="{35D244B8-D08D-475C-B837-407EAFEE56C0}" srcOrd="2" destOrd="0" presId="urn:microsoft.com/office/officeart/2018/5/layout/IconCircleLabelList"/>
    <dgm:cxn modelId="{D2F8474E-FF7F-438A-9FC0-4EFE468C2FD6}" type="presParOf" srcId="{35D244B8-D08D-475C-B837-407EAFEE56C0}" destId="{B91510E8-D6CE-4BC0-995B-A5407CA367FE}" srcOrd="0" destOrd="0" presId="urn:microsoft.com/office/officeart/2018/5/layout/IconCircleLabelList"/>
    <dgm:cxn modelId="{633DCD63-0384-4691-A19D-CC67A9B97B82}" type="presParOf" srcId="{35D244B8-D08D-475C-B837-407EAFEE56C0}" destId="{35092EBC-B8E7-40DE-9A1F-B89DA0459482}" srcOrd="1" destOrd="0" presId="urn:microsoft.com/office/officeart/2018/5/layout/IconCircleLabelList"/>
    <dgm:cxn modelId="{C700F4EF-454B-4D8C-876F-6CCEE6660276}" type="presParOf" srcId="{35D244B8-D08D-475C-B837-407EAFEE56C0}" destId="{3F6D6DA2-73C0-4D88-96AE-0078AD8D2F87}" srcOrd="2" destOrd="0" presId="urn:microsoft.com/office/officeart/2018/5/layout/IconCircleLabelList"/>
    <dgm:cxn modelId="{AE8E3417-CBE6-4781-89AE-0F6E0C8F8F36}" type="presParOf" srcId="{35D244B8-D08D-475C-B837-407EAFEE56C0}" destId="{00F13D0C-6C50-42D8-9509-8900E755F788}" srcOrd="3" destOrd="0" presId="urn:microsoft.com/office/officeart/2018/5/layout/IconCircleLabelList"/>
    <dgm:cxn modelId="{2D8D313F-4321-41E3-906E-850F138072B5}" type="presParOf" srcId="{92F4F807-9C72-4BBB-865D-C0E6584FBF2F}" destId="{F7A19BD8-1C4A-4A9B-A0E2-8AE6A34CC6DF}" srcOrd="3" destOrd="0" presId="urn:microsoft.com/office/officeart/2018/5/layout/IconCircleLabelList"/>
    <dgm:cxn modelId="{26A18B15-AF4E-4DBC-B750-8B2882081BFA}" type="presParOf" srcId="{92F4F807-9C72-4BBB-865D-C0E6584FBF2F}" destId="{43B9E63D-4E28-4D8D-8AF4-AEA4DCBA68B4}" srcOrd="4" destOrd="0" presId="urn:microsoft.com/office/officeart/2018/5/layout/IconCircleLabelList"/>
    <dgm:cxn modelId="{2396595C-462F-44FB-BD95-1CA5906E9CF4}" type="presParOf" srcId="{43B9E63D-4E28-4D8D-8AF4-AEA4DCBA68B4}" destId="{B41B45DB-558A-4CB7-A29C-8B3DD27253C1}" srcOrd="0" destOrd="0" presId="urn:microsoft.com/office/officeart/2018/5/layout/IconCircleLabelList"/>
    <dgm:cxn modelId="{8781849B-3F0C-4137-92BA-2C817F5B8873}" type="presParOf" srcId="{43B9E63D-4E28-4D8D-8AF4-AEA4DCBA68B4}" destId="{B550FDC9-63FE-4584-B7C3-79BA1AA67E8D}" srcOrd="1" destOrd="0" presId="urn:microsoft.com/office/officeart/2018/5/layout/IconCircleLabelList"/>
    <dgm:cxn modelId="{3244ABCA-35AD-4AAF-8251-75F97EA02F53}" type="presParOf" srcId="{43B9E63D-4E28-4D8D-8AF4-AEA4DCBA68B4}" destId="{C9AA968B-8235-4A35-A7A5-F66226EBCBBF}" srcOrd="2" destOrd="0" presId="urn:microsoft.com/office/officeart/2018/5/layout/IconCircleLabelList"/>
    <dgm:cxn modelId="{2FEB97A2-98B2-4819-94E8-62480CCD7658}" type="presParOf" srcId="{43B9E63D-4E28-4D8D-8AF4-AEA4DCBA68B4}" destId="{73D8EE42-CA2D-4D17-A866-B46F7075FE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CB80D0-D6AD-9E47-B4C2-BC38DA943FA3}">
      <dsp:nvSpPr>
        <dsp:cNvPr id="0" name=""/>
        <dsp:cNvSpPr/>
      </dsp:nvSpPr>
      <dsp:spPr>
        <a:xfrm>
          <a:off x="0" y="0"/>
          <a:ext cx="2560320" cy="61959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Explain the core principles of corporate insolvency</a:t>
          </a:r>
        </a:p>
      </dsp:txBody>
      <dsp:txXfrm>
        <a:off x="18147" y="18147"/>
        <a:ext cx="1839370" cy="583303"/>
      </dsp:txXfrm>
    </dsp:sp>
    <dsp:sp modelId="{C489D1C2-E862-E74C-BD6B-264ABD1FB3DE}">
      <dsp:nvSpPr>
        <dsp:cNvPr id="0" name=""/>
        <dsp:cNvSpPr/>
      </dsp:nvSpPr>
      <dsp:spPr>
        <a:xfrm>
          <a:off x="214426" y="732251"/>
          <a:ext cx="2560320" cy="61959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Consider its historical evolution </a:t>
          </a:r>
        </a:p>
      </dsp:txBody>
      <dsp:txXfrm>
        <a:off x="232573" y="750398"/>
        <a:ext cx="1906860" cy="583303"/>
      </dsp:txXfrm>
    </dsp:sp>
    <dsp:sp modelId="{17C4991B-5090-C143-AC8C-A4A88689F8FD}">
      <dsp:nvSpPr>
        <dsp:cNvPr id="0" name=""/>
        <dsp:cNvSpPr/>
      </dsp:nvSpPr>
      <dsp:spPr>
        <a:xfrm>
          <a:off x="425653" y="1464503"/>
          <a:ext cx="2560320" cy="6195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Analyse</a:t>
          </a:r>
          <a:r>
            <a:rPr lang="en-US" sz="1100" kern="1200" dirty="0"/>
            <a:t> the shift from individual enforcement to collective distribution</a:t>
          </a:r>
        </a:p>
      </dsp:txBody>
      <dsp:txXfrm>
        <a:off x="443800" y="1482650"/>
        <a:ext cx="1910061" cy="583303"/>
      </dsp:txXfrm>
    </dsp:sp>
    <dsp:sp modelId="{E5BBD68D-E0F1-2B46-B240-BC741F7B4B03}">
      <dsp:nvSpPr>
        <dsp:cNvPr id="0" name=""/>
        <dsp:cNvSpPr/>
      </dsp:nvSpPr>
      <dsp:spPr>
        <a:xfrm>
          <a:off x="640080" y="2196754"/>
          <a:ext cx="2560320" cy="61959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Contemporary </a:t>
          </a:r>
          <a:r>
            <a:rPr lang="en-US" sz="1100" kern="1200" dirty="0" err="1"/>
            <a:t>challanges</a:t>
          </a:r>
          <a:endParaRPr lang="en-US" sz="1100" kern="1200" dirty="0"/>
        </a:p>
      </dsp:txBody>
      <dsp:txXfrm>
        <a:off x="658227" y="2214901"/>
        <a:ext cx="1906860" cy="583303"/>
      </dsp:txXfrm>
    </dsp:sp>
    <dsp:sp modelId="{C69EEB66-223F-4646-838B-6D0748E12AEF}">
      <dsp:nvSpPr>
        <dsp:cNvPr id="0" name=""/>
        <dsp:cNvSpPr/>
      </dsp:nvSpPr>
      <dsp:spPr>
        <a:xfrm>
          <a:off x="2157581" y="474555"/>
          <a:ext cx="402738" cy="402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248197" y="474555"/>
        <a:ext cx="221506" cy="303060"/>
      </dsp:txXfrm>
    </dsp:sp>
    <dsp:sp modelId="{B655961C-45F9-C24D-AF76-1C619A1B221A}">
      <dsp:nvSpPr>
        <dsp:cNvPr id="0" name=""/>
        <dsp:cNvSpPr/>
      </dsp:nvSpPr>
      <dsp:spPr>
        <a:xfrm>
          <a:off x="2372008" y="1206806"/>
          <a:ext cx="402738" cy="402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462624" y="1206806"/>
        <a:ext cx="221506" cy="303060"/>
      </dsp:txXfrm>
    </dsp:sp>
    <dsp:sp modelId="{662E3079-1E4E-BD4E-96F6-CDE97892494B}">
      <dsp:nvSpPr>
        <dsp:cNvPr id="0" name=""/>
        <dsp:cNvSpPr/>
      </dsp:nvSpPr>
      <dsp:spPr>
        <a:xfrm>
          <a:off x="2583234" y="1939058"/>
          <a:ext cx="402738" cy="402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673850" y="1939058"/>
        <a:ext cx="221506" cy="3030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4C8795-007B-5D46-9D67-B5E808FE6822}">
      <dsp:nvSpPr>
        <dsp:cNvPr id="0" name=""/>
        <dsp:cNvSpPr/>
      </dsp:nvSpPr>
      <dsp:spPr>
        <a:xfrm>
          <a:off x="0" y="2620"/>
          <a:ext cx="61298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89E73-9318-2043-8E00-8B812FF4A962}">
      <dsp:nvSpPr>
        <dsp:cNvPr id="0" name=""/>
        <dsp:cNvSpPr/>
      </dsp:nvSpPr>
      <dsp:spPr>
        <a:xfrm>
          <a:off x="0" y="2620"/>
          <a:ext cx="6129821" cy="446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1- </a:t>
          </a:r>
          <a:r>
            <a:rPr lang="en-US" sz="2000" b="1" kern="1200" dirty="0" err="1"/>
            <a:t>Maximising</a:t>
          </a:r>
          <a:r>
            <a:rPr lang="en-US" sz="2000" b="1" kern="1200" dirty="0"/>
            <a:t> returns to creditors</a:t>
          </a:r>
        </a:p>
      </dsp:txBody>
      <dsp:txXfrm>
        <a:off x="0" y="2620"/>
        <a:ext cx="6129821" cy="446857"/>
      </dsp:txXfrm>
    </dsp:sp>
    <dsp:sp modelId="{FA2CCE7A-9E07-3D44-AD40-616626671868}">
      <dsp:nvSpPr>
        <dsp:cNvPr id="0" name=""/>
        <dsp:cNvSpPr/>
      </dsp:nvSpPr>
      <dsp:spPr>
        <a:xfrm>
          <a:off x="0" y="449478"/>
          <a:ext cx="61298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F2319-8458-E941-8323-CF3D7F5B7C07}">
      <dsp:nvSpPr>
        <dsp:cNvPr id="0" name=""/>
        <dsp:cNvSpPr/>
      </dsp:nvSpPr>
      <dsp:spPr>
        <a:xfrm>
          <a:off x="0" y="449478"/>
          <a:ext cx="6129821" cy="446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West Mercia Safetywear Ltd v Dodd </a:t>
          </a:r>
        </a:p>
      </dsp:txBody>
      <dsp:txXfrm>
        <a:off x="0" y="449478"/>
        <a:ext cx="6129821" cy="446857"/>
      </dsp:txXfrm>
    </dsp:sp>
    <dsp:sp modelId="{5D7190CB-2878-5441-BFC9-7536A2E9B8E4}">
      <dsp:nvSpPr>
        <dsp:cNvPr id="0" name=""/>
        <dsp:cNvSpPr/>
      </dsp:nvSpPr>
      <dsp:spPr>
        <a:xfrm>
          <a:off x="0" y="896335"/>
          <a:ext cx="61298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BD6105-3A63-6940-B979-CD3744163782}">
      <dsp:nvSpPr>
        <dsp:cNvPr id="0" name=""/>
        <dsp:cNvSpPr/>
      </dsp:nvSpPr>
      <dsp:spPr>
        <a:xfrm>
          <a:off x="0" y="896335"/>
          <a:ext cx="6129821" cy="446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BTI 2014 LLC v Sequana SA</a:t>
          </a:r>
        </a:p>
      </dsp:txBody>
      <dsp:txXfrm>
        <a:off x="0" y="896335"/>
        <a:ext cx="6129821" cy="446857"/>
      </dsp:txXfrm>
    </dsp:sp>
    <dsp:sp modelId="{539F8AD2-D5B6-F444-BB66-E85C6155A047}">
      <dsp:nvSpPr>
        <dsp:cNvPr id="0" name=""/>
        <dsp:cNvSpPr/>
      </dsp:nvSpPr>
      <dsp:spPr>
        <a:xfrm>
          <a:off x="0" y="1343192"/>
          <a:ext cx="61298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DACC7-4EFF-B54C-95A6-81FA9D3905B4}">
      <dsp:nvSpPr>
        <dsp:cNvPr id="0" name=""/>
        <dsp:cNvSpPr/>
      </dsp:nvSpPr>
      <dsp:spPr>
        <a:xfrm>
          <a:off x="0" y="1343192"/>
          <a:ext cx="6129821" cy="446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2- Fair ranking of claims</a:t>
          </a:r>
        </a:p>
      </dsp:txBody>
      <dsp:txXfrm>
        <a:off x="0" y="1343192"/>
        <a:ext cx="6129821" cy="446857"/>
      </dsp:txXfrm>
    </dsp:sp>
    <dsp:sp modelId="{632DA3D5-980F-5D43-A179-F6F8A2D000F6}">
      <dsp:nvSpPr>
        <dsp:cNvPr id="0" name=""/>
        <dsp:cNvSpPr/>
      </dsp:nvSpPr>
      <dsp:spPr>
        <a:xfrm>
          <a:off x="0" y="1790049"/>
          <a:ext cx="61298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FBCF10-05F0-4345-B202-AABB71DC7957}">
      <dsp:nvSpPr>
        <dsp:cNvPr id="0" name=""/>
        <dsp:cNvSpPr/>
      </dsp:nvSpPr>
      <dsp:spPr>
        <a:xfrm>
          <a:off x="0" y="1790049"/>
          <a:ext cx="6129821" cy="446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Insolvency Act 1986, s175 &amp; schedule 6</a:t>
          </a:r>
        </a:p>
      </dsp:txBody>
      <dsp:txXfrm>
        <a:off x="0" y="1790049"/>
        <a:ext cx="6129821" cy="446857"/>
      </dsp:txXfrm>
    </dsp:sp>
    <dsp:sp modelId="{429C69C7-5C47-7740-9497-44096FD4ED9D}">
      <dsp:nvSpPr>
        <dsp:cNvPr id="0" name=""/>
        <dsp:cNvSpPr/>
      </dsp:nvSpPr>
      <dsp:spPr>
        <a:xfrm>
          <a:off x="0" y="2236906"/>
          <a:ext cx="61298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B6150-0E34-8C42-B8B2-F6AB32726400}">
      <dsp:nvSpPr>
        <dsp:cNvPr id="0" name=""/>
        <dsp:cNvSpPr/>
      </dsp:nvSpPr>
      <dsp:spPr>
        <a:xfrm>
          <a:off x="0" y="2236906"/>
          <a:ext cx="6129821" cy="446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3- Facilitating rescue </a:t>
          </a:r>
        </a:p>
      </dsp:txBody>
      <dsp:txXfrm>
        <a:off x="0" y="2236906"/>
        <a:ext cx="6129821" cy="446857"/>
      </dsp:txXfrm>
    </dsp:sp>
    <dsp:sp modelId="{0785087F-C69F-0D45-984E-C9232F9E05B8}">
      <dsp:nvSpPr>
        <dsp:cNvPr id="0" name=""/>
        <dsp:cNvSpPr/>
      </dsp:nvSpPr>
      <dsp:spPr>
        <a:xfrm>
          <a:off x="0" y="2683763"/>
          <a:ext cx="61298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EBA3FA-C64B-9A40-A88A-DB31230B3AAA}">
      <dsp:nvSpPr>
        <dsp:cNvPr id="0" name=""/>
        <dsp:cNvSpPr/>
      </dsp:nvSpPr>
      <dsp:spPr>
        <a:xfrm>
          <a:off x="0" y="2683764"/>
          <a:ext cx="6129821" cy="446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IA 1986, Schedule B1 para 3 </a:t>
          </a:r>
        </a:p>
      </dsp:txBody>
      <dsp:txXfrm>
        <a:off x="0" y="2683764"/>
        <a:ext cx="6129821" cy="446857"/>
      </dsp:txXfrm>
    </dsp:sp>
    <dsp:sp modelId="{310CF735-D0D4-8447-9EE8-1855D97B9457}">
      <dsp:nvSpPr>
        <dsp:cNvPr id="0" name=""/>
        <dsp:cNvSpPr/>
      </dsp:nvSpPr>
      <dsp:spPr>
        <a:xfrm>
          <a:off x="0" y="3130621"/>
          <a:ext cx="61298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77C5EE-C703-5C49-AC38-5EA92532615A}">
      <dsp:nvSpPr>
        <dsp:cNvPr id="0" name=""/>
        <dsp:cNvSpPr/>
      </dsp:nvSpPr>
      <dsp:spPr>
        <a:xfrm>
          <a:off x="0" y="3130621"/>
          <a:ext cx="6129821" cy="446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Corporate Insolvency and Governance Act 2020</a:t>
          </a:r>
        </a:p>
      </dsp:txBody>
      <dsp:txXfrm>
        <a:off x="0" y="3130621"/>
        <a:ext cx="6129821" cy="446857"/>
      </dsp:txXfrm>
    </dsp:sp>
    <dsp:sp modelId="{9D95E32A-292D-8F44-9E9D-67F0AC9C2803}">
      <dsp:nvSpPr>
        <dsp:cNvPr id="0" name=""/>
        <dsp:cNvSpPr/>
      </dsp:nvSpPr>
      <dsp:spPr>
        <a:xfrm>
          <a:off x="0" y="3577478"/>
          <a:ext cx="61298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97932E-74CE-F64D-B85E-C312229EBFE9}">
      <dsp:nvSpPr>
        <dsp:cNvPr id="0" name=""/>
        <dsp:cNvSpPr/>
      </dsp:nvSpPr>
      <dsp:spPr>
        <a:xfrm>
          <a:off x="0" y="3577478"/>
          <a:ext cx="6129821" cy="446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4- Policing mismanagement </a:t>
          </a:r>
        </a:p>
      </dsp:txBody>
      <dsp:txXfrm>
        <a:off x="0" y="3577478"/>
        <a:ext cx="6129821" cy="446857"/>
      </dsp:txXfrm>
    </dsp:sp>
    <dsp:sp modelId="{712B63DA-359A-7941-9EB3-B6B839205C6A}">
      <dsp:nvSpPr>
        <dsp:cNvPr id="0" name=""/>
        <dsp:cNvSpPr/>
      </dsp:nvSpPr>
      <dsp:spPr>
        <a:xfrm>
          <a:off x="0" y="4024335"/>
          <a:ext cx="61298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C9A4E5-3EF9-F043-B6D3-C98E94082B13}">
      <dsp:nvSpPr>
        <dsp:cNvPr id="0" name=""/>
        <dsp:cNvSpPr/>
      </dsp:nvSpPr>
      <dsp:spPr>
        <a:xfrm>
          <a:off x="0" y="4024335"/>
          <a:ext cx="6129821" cy="446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IA 1986, s213-214</a:t>
          </a:r>
        </a:p>
      </dsp:txBody>
      <dsp:txXfrm>
        <a:off x="0" y="4024335"/>
        <a:ext cx="6129821" cy="446857"/>
      </dsp:txXfrm>
    </dsp:sp>
    <dsp:sp modelId="{29478F81-712E-EF44-B7F5-DCE9F314A298}">
      <dsp:nvSpPr>
        <dsp:cNvPr id="0" name=""/>
        <dsp:cNvSpPr/>
      </dsp:nvSpPr>
      <dsp:spPr>
        <a:xfrm>
          <a:off x="0" y="4471192"/>
          <a:ext cx="61298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B49091-0379-CA4A-907A-1B06313818D5}">
      <dsp:nvSpPr>
        <dsp:cNvPr id="0" name=""/>
        <dsp:cNvSpPr/>
      </dsp:nvSpPr>
      <dsp:spPr>
        <a:xfrm>
          <a:off x="0" y="4471192"/>
          <a:ext cx="6129821" cy="446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5- Suspension of individual enforcement</a:t>
          </a:r>
        </a:p>
      </dsp:txBody>
      <dsp:txXfrm>
        <a:off x="0" y="4471192"/>
        <a:ext cx="6129821" cy="446857"/>
      </dsp:txXfrm>
    </dsp:sp>
    <dsp:sp modelId="{9A162F16-B8B3-5B42-91EA-600D4DF56E10}">
      <dsp:nvSpPr>
        <dsp:cNvPr id="0" name=""/>
        <dsp:cNvSpPr/>
      </dsp:nvSpPr>
      <dsp:spPr>
        <a:xfrm>
          <a:off x="0" y="4918049"/>
          <a:ext cx="61298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CE693F-4278-4A49-8FDE-514AE1245C58}">
      <dsp:nvSpPr>
        <dsp:cNvPr id="0" name=""/>
        <dsp:cNvSpPr/>
      </dsp:nvSpPr>
      <dsp:spPr>
        <a:xfrm>
          <a:off x="0" y="4918049"/>
          <a:ext cx="6129821" cy="446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 Atlantic Computer Systems plc</a:t>
          </a:r>
        </a:p>
      </dsp:txBody>
      <dsp:txXfrm>
        <a:off x="0" y="4918049"/>
        <a:ext cx="6129821" cy="4468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EDAC3F-7F94-4727-A840-3E8E55A44FEA}">
      <dsp:nvSpPr>
        <dsp:cNvPr id="0" name=""/>
        <dsp:cNvSpPr/>
      </dsp:nvSpPr>
      <dsp:spPr>
        <a:xfrm>
          <a:off x="666724" y="196068"/>
          <a:ext cx="2024437" cy="2024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268182-18DD-4196-BF16-72A89A118B6C}">
      <dsp:nvSpPr>
        <dsp:cNvPr id="0" name=""/>
        <dsp:cNvSpPr/>
      </dsp:nvSpPr>
      <dsp:spPr>
        <a:xfrm>
          <a:off x="1098162" y="627506"/>
          <a:ext cx="1161562" cy="1161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98CD36-93A5-4F5B-8D4C-983F704EE023}">
      <dsp:nvSpPr>
        <dsp:cNvPr id="0" name=""/>
        <dsp:cNvSpPr/>
      </dsp:nvSpPr>
      <dsp:spPr>
        <a:xfrm>
          <a:off x="19568" y="2851069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Understand the core principles of the insolvency law</a:t>
          </a:r>
        </a:p>
      </dsp:txBody>
      <dsp:txXfrm>
        <a:off x="19568" y="2851069"/>
        <a:ext cx="3318750" cy="720000"/>
      </dsp:txXfrm>
    </dsp:sp>
    <dsp:sp modelId="{B91510E8-D6CE-4BC0-995B-A5407CA367FE}">
      <dsp:nvSpPr>
        <dsp:cNvPr id="0" name=""/>
        <dsp:cNvSpPr/>
      </dsp:nvSpPr>
      <dsp:spPr>
        <a:xfrm>
          <a:off x="4566256" y="196068"/>
          <a:ext cx="2024437" cy="2024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092EBC-B8E7-40DE-9A1F-B89DA0459482}">
      <dsp:nvSpPr>
        <dsp:cNvPr id="0" name=""/>
        <dsp:cNvSpPr/>
      </dsp:nvSpPr>
      <dsp:spPr>
        <a:xfrm>
          <a:off x="4997693" y="627506"/>
          <a:ext cx="1161562" cy="1161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F13D0C-6C50-42D8-9509-8900E755F788}">
      <dsp:nvSpPr>
        <dsp:cNvPr id="0" name=""/>
        <dsp:cNvSpPr/>
      </dsp:nvSpPr>
      <dsp:spPr>
        <a:xfrm>
          <a:off x="3919100" y="2851069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Understand its historical context</a:t>
          </a:r>
        </a:p>
      </dsp:txBody>
      <dsp:txXfrm>
        <a:off x="3919100" y="2851069"/>
        <a:ext cx="3318750" cy="720000"/>
      </dsp:txXfrm>
    </dsp:sp>
    <dsp:sp modelId="{B41B45DB-558A-4CB7-A29C-8B3DD27253C1}">
      <dsp:nvSpPr>
        <dsp:cNvPr id="0" name=""/>
        <dsp:cNvSpPr/>
      </dsp:nvSpPr>
      <dsp:spPr>
        <a:xfrm>
          <a:off x="8465787" y="196068"/>
          <a:ext cx="2024437" cy="2024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50FDC9-63FE-4584-B7C3-79BA1AA67E8D}">
      <dsp:nvSpPr>
        <dsp:cNvPr id="0" name=""/>
        <dsp:cNvSpPr/>
      </dsp:nvSpPr>
      <dsp:spPr>
        <a:xfrm>
          <a:off x="8897225" y="627506"/>
          <a:ext cx="1161562" cy="1161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8EE42-CA2D-4D17-A866-B46F7075FEC3}">
      <dsp:nvSpPr>
        <dsp:cNvPr id="0" name=""/>
        <dsp:cNvSpPr/>
      </dsp:nvSpPr>
      <dsp:spPr>
        <a:xfrm>
          <a:off x="7818631" y="2851069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Think about its place today</a:t>
          </a:r>
        </a:p>
      </dsp:txBody>
      <dsp:txXfrm>
        <a:off x="7818631" y="2851069"/>
        <a:ext cx="33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3FCDD-C8AD-8347-92F9-A5C5757A50DE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A3192-A880-A047-804F-BC3ABD37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1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3A3192-A880-A047-804F-BC3ABD376E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995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86772-94DE-41DD-845F-738AE05EE90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646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86772-94DE-41DD-845F-738AE05EE90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406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3A3192-A880-A047-804F-BC3ABD376EC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881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47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9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06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550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58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73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47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03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66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70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369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5036E8E-72DC-4FB2-BC8F-CA1AD2F3B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0" y="0"/>
            <a:ext cx="609599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5E96FC-B47B-4DA1-9369-B765A705FA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2287" y="2068863"/>
            <a:ext cx="4594823" cy="557552"/>
          </a:xfrm>
          <a:prstGeom prst="rect">
            <a:avLst/>
          </a:prstGeom>
        </p:spPr>
        <p:txBody>
          <a:bodyPr/>
          <a:lstStyle>
            <a:lvl1pPr>
              <a:defRPr sz="32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8800B990-833E-4C0D-A433-B21CF9A79B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2287" y="2626414"/>
            <a:ext cx="4259684" cy="2859991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25000"/>
              </a:lnSpc>
              <a:buNone/>
              <a:defRPr sz="16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7627E8A-9EB4-41E2-8847-B5BDD7FC7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3862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62D8A98-3508-4B88-A239-BBFF76D51F4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6C103218-0175-45B7-900A-DF77A2CC6BE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9" y="3429000"/>
            <a:ext cx="6096000" cy="3429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F1478D8-A909-4307-9777-531032CF2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8" y="6356350"/>
            <a:ext cx="3249170" cy="501649"/>
          </a:xfrm>
          <a:solidFill>
            <a:schemeClr val="accent1">
              <a:lumMod val="50000"/>
              <a:alpha val="9000"/>
            </a:schemeClr>
          </a:solidFill>
        </p:spPr>
        <p:txBody>
          <a:bodyPr lIns="365760" bIns="182880" anchor="b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33DDC16-EF3C-4507-A82A-86B1B82C86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45167" y="6356350"/>
            <a:ext cx="2846831" cy="501650"/>
          </a:xfrm>
          <a:solidFill>
            <a:schemeClr val="accent1">
              <a:lumMod val="50000"/>
              <a:alpha val="9000"/>
            </a:schemeClr>
          </a:solidFill>
        </p:spPr>
        <p:txBody>
          <a:bodyPr rIns="594360" bIns="18288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6E6D6D67-F6E8-4BA2-AFB6-B183DC2FA58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00" b="82632"/>
          <a:stretch/>
        </p:blipFill>
        <p:spPr bwMode="auto">
          <a:xfrm>
            <a:off x="9497037" y="0"/>
            <a:ext cx="2694269" cy="1191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42777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01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  <p:sldLayoutId id="2147483674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www.rawpixel.com/search/running%20woman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hyperlink" Target="https://betterbalancelife.com/" TargetMode="External"/><Relationship Id="rId7" Type="http://schemas.openxmlformats.org/officeDocument/2006/relationships/diagramColors" Target="../diagrams/colors2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torage.googleapis.com/dklbucguhtepne/collective-planning-and-development-solutions.html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flickr.com/photos/ervins_strauhmanis/14550466174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nolacouncil.org/canola-encyclopedia/insects/beneficial-insects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ffers.hubspot.es/plantilla-control-interno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vecteezy.com/vector-art/24709342-changing-career-path-due-to-no-further-career-advancement-resignation-from-lack-of-growth-opportunity-quitting-job-concept-businessman-stepping-down-stair-from-graph-that-stop-growin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tock.adobe.com/uk/search?k=behind%20closed%20doors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ribbledata.io/blog/large-language-models-history-evolutions-and-future/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mancommunication-0914.blogspot.com/2014/10/perception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free-vector/reduce-stress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fity.club/lists/suggestions/globalization-advantages-class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good-bye-farewell-sad-frog-funny-988319/" TargetMode="Externa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green and blue light swirl&#10;&#10;AI-generated content may be incorrect.">
            <a:extLst>
              <a:ext uri="{FF2B5EF4-FFF2-40B4-BE49-F238E27FC236}">
                <a16:creationId xmlns:a16="http://schemas.microsoft.com/office/drawing/2014/main" id="{BFDDED1B-43AE-23EA-F15E-960CFE1C3D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98" r="-1" b="861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BB182-353A-BCF2-E9C1-D1DFA1C82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30951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Commercial Law 237 -Topic 9 </a:t>
            </a:r>
            <a:br>
              <a:rPr lang="en-GB" sz="3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3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Insolvency- Lecture 2 </a:t>
            </a:r>
            <a:br>
              <a:rPr lang="en-GB" sz="3800">
                <a:solidFill>
                  <a:srgbClr val="FFFFFF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800">
              <a:solidFill>
                <a:srgbClr val="FFFFFF"/>
              </a:solidFill>
              <a:highlight>
                <a:srgbClr val="C0C0C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2C1C8-2549-5C3D-777B-001C5ECAD5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Zora Kizilyurek Jones</a:t>
            </a:r>
          </a:p>
          <a:p>
            <a:r>
              <a:rPr lang="en-US">
                <a:solidFill>
                  <a:srgbClr val="FFFFFF"/>
                </a:solidFill>
              </a:rPr>
              <a:t>z.Kizilyurek@Lancaster.ac.uk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D14BC9C-3991-D6B3-8A00-10B1E08DF57F}"/>
              </a:ext>
            </a:extLst>
          </p:cNvPr>
          <p:cNvSpPr txBox="1">
            <a:spLocks/>
          </p:cNvSpPr>
          <p:nvPr/>
        </p:nvSpPr>
        <p:spPr>
          <a:xfrm>
            <a:off x="20" y="6172201"/>
            <a:ext cx="12188932" cy="685799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00">
                <a:solidFill>
                  <a:srgbClr val="FFFFFF"/>
                </a:solidFill>
                <a:highlight>
                  <a:srgbClr val="C0C0C0"/>
                </a:highlight>
              </a:rPr>
              <a:t>This material is adapted from the University’s teaching material</a:t>
            </a:r>
          </a:p>
        </p:txBody>
      </p:sp>
    </p:spTree>
    <p:extLst>
      <p:ext uri="{BB962C8B-B14F-4D97-AF65-F5344CB8AC3E}">
        <p14:creationId xmlns:p14="http://schemas.microsoft.com/office/powerpoint/2010/main" val="2901052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7AB5F5-4ADB-E9D8-2CC8-825F7E197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en-US" sz="4000"/>
              <a:t>Learning Outcomes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6" name="Picture 5" descr="A group of people running on a road&#10;&#10;AI-generated content may be incorrect.">
            <a:extLst>
              <a:ext uri="{FF2B5EF4-FFF2-40B4-BE49-F238E27FC236}">
                <a16:creationId xmlns:a16="http://schemas.microsoft.com/office/drawing/2014/main" id="{BAEB8975-129C-FC14-1E27-12B88586E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6437" r="-2" b="-2"/>
          <a:stretch>
            <a:fillRect/>
          </a:stretch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4CD476-B412-8F84-F14F-F1819CCC70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2097225"/>
              </p:ext>
            </p:extLst>
          </p:nvPr>
        </p:nvGraphicFramePr>
        <p:xfrm>
          <a:off x="521208" y="3538728"/>
          <a:ext cx="3200400" cy="2816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40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C310EA-C02C-7B19-8A98-6E24E914D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166420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Core Functions of Corporate Insolvency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367C65-B72C-202E-98A7-9B20F8F2F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7" y="508090"/>
            <a:ext cx="502005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558C32-DE71-E6B3-A032-D3EA9CB0F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6463" y="611650"/>
            <a:ext cx="5504688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 close-up of a balance&#10;&#10;AI-generated content may be incorrect.">
            <a:extLst>
              <a:ext uri="{FF2B5EF4-FFF2-40B4-BE49-F238E27FC236}">
                <a16:creationId xmlns:a16="http://schemas.microsoft.com/office/drawing/2014/main" id="{7F2622FA-FC06-EE78-A0FE-78C0290F5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760" r="2809" b="1"/>
          <a:stretch>
            <a:fillRect/>
          </a:stretch>
        </p:blipFill>
        <p:spPr>
          <a:xfrm>
            <a:off x="517867" y="2497311"/>
            <a:ext cx="4835605" cy="3382281"/>
          </a:xfrm>
          <a:prstGeom prst="rect">
            <a:avLst/>
          </a:prstGeom>
        </p:spPr>
      </p:pic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F4EE58A7-BB4A-71B0-092A-DF83AE970C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7279992"/>
              </p:ext>
            </p:extLst>
          </p:nvPr>
        </p:nvGraphicFramePr>
        <p:xfrm>
          <a:off x="5537923" y="978408"/>
          <a:ext cx="6129821" cy="5367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1485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7614FA-F94F-E09D-C0DD-79ECC84C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en-US" sz="4000"/>
              <a:t>The Shift to Collective Action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F6BF1-FEFF-5B6F-A784-C45422C05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500"/>
              <a:t>Insolvency replaces private enforcement with collective administration </a:t>
            </a:r>
          </a:p>
          <a:p>
            <a:pPr>
              <a:lnSpc>
                <a:spcPct val="100000"/>
              </a:lnSpc>
            </a:pPr>
            <a:endParaRPr lang="en-US" sz="1500"/>
          </a:p>
          <a:p>
            <a:pPr>
              <a:lnSpc>
                <a:spcPct val="100000"/>
              </a:lnSpc>
            </a:pPr>
            <a:r>
              <a:rPr lang="en-US" sz="1500"/>
              <a:t>Consequences:</a:t>
            </a:r>
          </a:p>
          <a:p>
            <a:pPr>
              <a:lnSpc>
                <a:spcPct val="100000"/>
              </a:lnSpc>
            </a:pPr>
            <a:r>
              <a:rPr lang="en-US" sz="1500"/>
              <a:t>Individual claims are stayed</a:t>
            </a:r>
          </a:p>
          <a:p>
            <a:pPr>
              <a:lnSpc>
                <a:spcPct val="100000"/>
              </a:lnSpc>
            </a:pPr>
            <a:r>
              <a:rPr lang="en-US" sz="1500"/>
              <a:t>Assets are gathered centrally</a:t>
            </a:r>
          </a:p>
          <a:p>
            <a:pPr>
              <a:lnSpc>
                <a:spcPct val="100000"/>
              </a:lnSpc>
            </a:pPr>
            <a:r>
              <a:rPr lang="en-US" sz="1500"/>
              <a:t>Distribution follows statutory ranking </a:t>
            </a:r>
          </a:p>
        </p:txBody>
      </p:sp>
      <p:pic>
        <p:nvPicPr>
          <p:cNvPr id="5" name="Picture 4" descr="Several hands reaching out to each other&#10;&#10;AI-generated content may be incorrect.">
            <a:extLst>
              <a:ext uri="{FF2B5EF4-FFF2-40B4-BE49-F238E27FC236}">
                <a16:creationId xmlns:a16="http://schemas.microsoft.com/office/drawing/2014/main" id="{8576DB7F-8588-7EE5-869D-5F597ECEB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2393" b="-1"/>
          <a:stretch>
            <a:fillRect/>
          </a:stretch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447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E8C94-936A-05B6-1921-FA0C0D691B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2756" y="1192697"/>
            <a:ext cx="5624705" cy="5334364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Ayerst (Inspector of Taxes) v C &amp; K (Construction) Ltd [1976]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cs typeface="Times New Roman" panose="02020603050405020304" pitchFamily="18" charset="0"/>
              </a:rPr>
              <a:t>On insolvency, company assets are impressed with a statutory trust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cs typeface="Times New Roman" panose="02020603050405020304" pitchFamily="18" charset="0"/>
              </a:rPr>
              <a:t>Assets must be applied in accordance with insolvency legislation.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cs typeface="Times New Roman" panose="02020603050405020304" pitchFamily="18" charset="0"/>
              </a:rPr>
              <a:t>It means:</a:t>
            </a:r>
            <a:br>
              <a:rPr lang="en-GB" sz="2400" dirty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en-GB" sz="2400" dirty="0">
                <a:solidFill>
                  <a:schemeClr val="tx1"/>
                </a:solidFill>
                <a:cs typeface="Times New Roman" panose="02020603050405020304" pitchFamily="18" charset="0"/>
              </a:rPr>
              <a:t>- assets are no longer freely disposable</a:t>
            </a:r>
            <a:br>
              <a:rPr lang="en-GB" sz="2400" dirty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en-GB" sz="2400" dirty="0">
                <a:solidFill>
                  <a:schemeClr val="tx1"/>
                </a:solidFill>
                <a:cs typeface="Times New Roman" panose="02020603050405020304" pitchFamily="18" charset="0"/>
              </a:rPr>
              <a:t>- they must be used only for statutory purposes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cs typeface="Times New Roman" panose="02020603050405020304" pitchFamily="18" charset="0"/>
              </a:rPr>
              <a:t>It aims to:</a:t>
            </a:r>
            <a:br>
              <a:rPr lang="en-GB" sz="2400" dirty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en-GB" sz="2400" dirty="0">
                <a:solidFill>
                  <a:schemeClr val="tx1"/>
                </a:solidFill>
                <a:cs typeface="Times New Roman" panose="02020603050405020304" pitchFamily="18" charset="0"/>
              </a:rPr>
              <a:t>- prevent directors or creditors from bypassing insolvency rules</a:t>
            </a:r>
            <a:br>
              <a:rPr lang="en-GB" sz="2400" dirty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en-GB" sz="2400" dirty="0">
                <a:solidFill>
                  <a:schemeClr val="tx1"/>
                </a:solidFill>
                <a:cs typeface="Times New Roman" panose="02020603050405020304" pitchFamily="18" charset="0"/>
              </a:rPr>
              <a:t>- reinforces the collective nature of insolvency proceedings</a:t>
            </a:r>
            <a:endParaRPr lang="en-US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27545-E73F-4A0F-EF15-DF59FFF46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80BB-C0DF-4F1B-8821-E3FD53412E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70B90A6-2C6E-8E46-F0D0-80A74AA32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7B030C3-FA73-F2D5-311C-1C4FFDE6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13499F-8904-9106-A435-86ACA2E5AA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6106219" y="2125005"/>
            <a:ext cx="5089609" cy="33930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AC98EC-67A1-07C8-FBAD-47274C41B879}"/>
              </a:ext>
            </a:extLst>
          </p:cNvPr>
          <p:cNvSpPr txBox="1"/>
          <p:nvPr/>
        </p:nvSpPr>
        <p:spPr>
          <a:xfrm>
            <a:off x="6106219" y="5518077"/>
            <a:ext cx="50896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flickr.com/photos/ervins_strauhmanis/14550466174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/3.0/"/>
              </a:rPr>
              <a:t>CC BY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83569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6FB2FE-4018-9C3D-0354-D2111ABD5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672584" cy="178308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100"/>
              <a:t>The Statutory Trust (Ayerst Principle)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7258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9AF1ED-B4DF-4FC4-0966-1A758E6CA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35582" y="611650"/>
            <a:ext cx="583387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 descr="A close-up of a bee on a yellow flower&#10;&#10;AI-generated content may be incorrect.">
            <a:extLst>
              <a:ext uri="{FF2B5EF4-FFF2-40B4-BE49-F238E27FC236}">
                <a16:creationId xmlns:a16="http://schemas.microsoft.com/office/drawing/2014/main" id="{A13B8B21-8B01-50C9-232F-D0432132A1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17867" y="3152503"/>
            <a:ext cx="4188198" cy="319350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D4420-F1A8-0FDF-7FCA-77406A7F8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016" y="1033272"/>
            <a:ext cx="5833872" cy="531266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/>
              <a:t>Ayerst (Inspector of Taxes) v C &amp; K (Construction) Ltd</a:t>
            </a:r>
          </a:p>
          <a:p>
            <a:pPr>
              <a:lnSpc>
                <a:spcPct val="100000"/>
              </a:lnSpc>
            </a:pPr>
            <a:endParaRPr lang="en-US" sz="1700"/>
          </a:p>
          <a:p>
            <a:pPr>
              <a:lnSpc>
                <a:spcPct val="100000"/>
              </a:lnSpc>
            </a:pPr>
            <a:r>
              <a:rPr lang="en-US" sz="1700"/>
              <a:t>Effect of insolvency:</a:t>
            </a:r>
          </a:p>
          <a:p>
            <a:pPr>
              <a:lnSpc>
                <a:spcPct val="100000"/>
              </a:lnSpc>
            </a:pPr>
            <a:r>
              <a:rPr lang="en-US" sz="1700"/>
              <a:t>Company retains legal title over its assets</a:t>
            </a:r>
          </a:p>
          <a:p>
            <a:pPr>
              <a:lnSpc>
                <a:spcPct val="100000"/>
              </a:lnSpc>
            </a:pPr>
            <a:r>
              <a:rPr lang="en-US" sz="1700"/>
              <a:t>Beneficial interest shifts for creditor benefit </a:t>
            </a:r>
          </a:p>
          <a:p>
            <a:pPr>
              <a:lnSpc>
                <a:spcPct val="100000"/>
              </a:lnSpc>
            </a:pPr>
            <a:endParaRPr lang="en-US" sz="1700"/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Assets available only if: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Company has beneficial ownership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700"/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Excluded assets: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Retention of title goods (</a:t>
            </a:r>
            <a:r>
              <a:rPr lang="en-US" sz="1700" err="1"/>
              <a:t>Aluminium</a:t>
            </a:r>
            <a:r>
              <a:rPr lang="en-US" sz="1700"/>
              <a:t> Industrie Vaassen BV v </a:t>
            </a:r>
            <a:r>
              <a:rPr lang="en-US" sz="1700" err="1"/>
              <a:t>Romalpha</a:t>
            </a:r>
            <a:r>
              <a:rPr lang="en-US" sz="1700"/>
              <a:t> </a:t>
            </a:r>
            <a:r>
              <a:rPr lang="en-US" sz="1700" err="1"/>
              <a:t>Aluminium</a:t>
            </a:r>
            <a:r>
              <a:rPr lang="en-US" sz="1700"/>
              <a:t> Ltd)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Trust property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Valid security </a:t>
            </a:r>
            <a:r>
              <a:rPr lang="en-US" sz="1700" err="1"/>
              <a:t>intersts</a:t>
            </a:r>
            <a:r>
              <a:rPr lang="en-US" sz="17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0609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E6A5E-E3A6-092A-349E-0E3B9C455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>
            <a:normAutofit/>
          </a:bodyPr>
          <a:lstStyle/>
          <a:p>
            <a:r>
              <a:rPr lang="en-US" dirty="0"/>
              <a:t>The Role of the Office Holder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32591-E111-FC75-7190-0BBCA21A5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672584" cy="3767328"/>
          </a:xfrm>
        </p:spPr>
        <p:txBody>
          <a:bodyPr>
            <a:normAutofit/>
          </a:bodyPr>
          <a:lstStyle/>
          <a:p>
            <a:r>
              <a:rPr lang="en-US" dirty="0"/>
              <a:t>Upon Insolvency:</a:t>
            </a:r>
          </a:p>
          <a:p>
            <a:r>
              <a:rPr lang="en-US" dirty="0"/>
              <a:t>Director’s powers cease and an office holder assumes control</a:t>
            </a:r>
          </a:p>
          <a:p>
            <a:endParaRPr lang="en-US" dirty="0"/>
          </a:p>
          <a:p>
            <a:r>
              <a:rPr lang="en-US" dirty="0"/>
              <a:t>Duties: </a:t>
            </a:r>
          </a:p>
          <a:p>
            <a:r>
              <a:rPr lang="en-US" dirty="0"/>
              <a:t>Act in creditor’s interests</a:t>
            </a:r>
          </a:p>
          <a:p>
            <a:r>
              <a:rPr lang="en-US" dirty="0"/>
              <a:t>Respect existing propriety rights</a:t>
            </a:r>
          </a:p>
          <a:p>
            <a:r>
              <a:rPr lang="en-US" dirty="0"/>
              <a:t>Take assets ‘as found’.</a:t>
            </a:r>
          </a:p>
        </p:txBody>
      </p:sp>
      <p:pic>
        <p:nvPicPr>
          <p:cNvPr id="5" name="Picture 4" descr="A house with various objects&#10;&#10;AI-generated content may be incorrect.">
            <a:extLst>
              <a:ext uri="{FF2B5EF4-FFF2-40B4-BE49-F238E27FC236}">
                <a16:creationId xmlns:a16="http://schemas.microsoft.com/office/drawing/2014/main" id="{30030060-8AAB-3B88-ABD2-D30178AB1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2344" b="-3"/>
          <a:stretch>
            <a:fillRect/>
          </a:stretch>
        </p:blipFill>
        <p:spPr>
          <a:xfrm>
            <a:off x="5958018" y="508090"/>
            <a:ext cx="5709726" cy="58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60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6C07A-A018-3549-0D06-9CD283B4C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147" y="605823"/>
            <a:ext cx="9374805" cy="557552"/>
          </a:xfrm>
        </p:spPr>
        <p:txBody>
          <a:bodyPr>
            <a:normAutofit fontScale="90000"/>
          </a:bodyPr>
          <a:lstStyle/>
          <a:p>
            <a:r>
              <a:rPr lang="en-US" altLang="en-US" cap="none" dirty="0">
                <a:solidFill>
                  <a:srgbClr val="000000"/>
                </a:solidFill>
                <a:cs typeface="Times New Roman" panose="02020603050405020304" pitchFamily="18" charset="0"/>
              </a:rPr>
              <a:t>Office-Holder ‘takes as found’ </a:t>
            </a:r>
            <a:endParaRPr 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F355F-5D45-170F-52DF-7F1892E0A9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9382" y="1999004"/>
            <a:ext cx="5846616" cy="3803280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cs typeface="Times New Roman" panose="02020603050405020304" pitchFamily="18" charset="0"/>
              </a:rPr>
              <a:t>On insolvency, an office-holder takes the company’s assets as they exist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cs typeface="Times New Roman" panose="02020603050405020304" pitchFamily="18" charset="0"/>
              </a:rPr>
              <a:t>Insolvency does not improve the company’s property rights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cs typeface="Times New Roman" panose="02020603050405020304" pitchFamily="18" charset="0"/>
              </a:rPr>
              <a:t>The office-holder cannot acquire greater rights than the company has.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cs typeface="Times New Roman" panose="02020603050405020304" pitchFamily="18" charset="0"/>
              </a:rPr>
              <a:t>Assets taken are subject to all existing rights and limitations.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cs typeface="Times New Roman" panose="02020603050405020304" pitchFamily="18" charset="0"/>
              </a:rPr>
              <a:t>E.g., If an asset is subject to a valid security interest, it remains that way.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3F656-62B6-FE06-A8D9-8EBD6B0AA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80BB-C0DF-4F1B-8821-E3FD53412EF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769D51EC-5D31-C036-243B-77E01E49F34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2624" b="2624"/>
          <a:stretch/>
        </p:blipFill>
        <p:spPr>
          <a:xfrm>
            <a:off x="6174082" y="1853465"/>
            <a:ext cx="5921105" cy="3588329"/>
          </a:xfr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2F1914-0C92-A4F0-683F-1D7C51F70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CDBEB7F-0807-6F94-34DF-C615C0207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444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C32CD27-7027-AB2B-38F1-71C08EB84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FF7699-2DFA-4837-EF91-B0CEFFB1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1536" y="978408"/>
            <a:ext cx="6236208" cy="1463040"/>
          </a:xfrm>
        </p:spPr>
        <p:txBody>
          <a:bodyPr>
            <a:normAutofit/>
          </a:bodyPr>
          <a:lstStyle/>
          <a:p>
            <a:r>
              <a:rPr lang="en-US" dirty="0"/>
              <a:t>Mandatory Nature of Insolvency Law</a:t>
            </a:r>
          </a:p>
        </p:txBody>
      </p:sp>
      <p:pic>
        <p:nvPicPr>
          <p:cNvPr id="5" name="Picture 4" descr="A wooden door with light coming out of it&#10;&#10;AI-generated content may be incorrect.">
            <a:extLst>
              <a:ext uri="{FF2B5EF4-FFF2-40B4-BE49-F238E27FC236}">
                <a16:creationId xmlns:a16="http://schemas.microsoft.com/office/drawing/2014/main" id="{3FAE07E3-FAA9-BB1C-C618-75301EF95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6726" r="25002" b="1"/>
          <a:stretch>
            <a:fillRect/>
          </a:stretch>
        </p:blipFill>
        <p:spPr>
          <a:xfrm>
            <a:off x="517869" y="508091"/>
            <a:ext cx="4221911" cy="5837918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6DD38CD-CFFE-4ABA-3DC8-01ED90559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4611" y="508090"/>
            <a:ext cx="6186474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3C2A0-0B6C-0923-E012-D96D29044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1536" y="2578608"/>
            <a:ext cx="6236208" cy="3767328"/>
          </a:xfrm>
        </p:spPr>
        <p:txBody>
          <a:bodyPr>
            <a:normAutofit/>
          </a:bodyPr>
          <a:lstStyle/>
          <a:p>
            <a:r>
              <a:rPr lang="en-US" dirty="0"/>
              <a:t>No contracting out. </a:t>
            </a:r>
          </a:p>
          <a:p>
            <a:r>
              <a:rPr lang="en-US" dirty="0"/>
              <a:t>Statutory provisions override private agreements</a:t>
            </a:r>
          </a:p>
          <a:p>
            <a:endParaRPr lang="en-US" dirty="0"/>
          </a:p>
          <a:p>
            <a:r>
              <a:rPr lang="en-US" dirty="0"/>
              <a:t>Statutory ranking governs distribution</a:t>
            </a:r>
          </a:p>
          <a:p>
            <a:endParaRPr lang="en-US" dirty="0"/>
          </a:p>
          <a:p>
            <a:r>
              <a:rPr lang="en-US" dirty="0"/>
              <a:t>Court supervision:</a:t>
            </a:r>
          </a:p>
          <a:p>
            <a:r>
              <a:rPr lang="en-US" dirty="0"/>
              <a:t>Frequent litigation over asset recovery, priority disputes and office-holder decisions</a:t>
            </a:r>
          </a:p>
        </p:txBody>
      </p:sp>
    </p:spTree>
    <p:extLst>
      <p:ext uri="{BB962C8B-B14F-4D97-AF65-F5344CB8AC3E}">
        <p14:creationId xmlns:p14="http://schemas.microsoft.com/office/powerpoint/2010/main" val="830793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7E3A-C451-4BD1-6EDF-B200C26A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B8357-F8C5-13F1-6DE1-36825C7FC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877420"/>
            <a:ext cx="11155680" cy="4701800"/>
          </a:xfrm>
        </p:spPr>
        <p:txBody>
          <a:bodyPr numCol="2">
            <a:normAutofit/>
          </a:bodyPr>
          <a:lstStyle/>
          <a:p>
            <a:r>
              <a:rPr lang="en-US" sz="2000" dirty="0"/>
              <a:t>Punitive Origins</a:t>
            </a:r>
            <a:br>
              <a:rPr lang="en-US" sz="2000" dirty="0"/>
            </a:br>
            <a:r>
              <a:rPr lang="en-US" sz="2000" dirty="0"/>
              <a:t>- Roman and Greek practices</a:t>
            </a:r>
            <a:br>
              <a:rPr lang="en-US" sz="2000" dirty="0"/>
            </a:br>
            <a:r>
              <a:rPr lang="en-US" sz="2000" dirty="0"/>
              <a:t>- Medieval Lex </a:t>
            </a:r>
            <a:r>
              <a:rPr lang="en-US" sz="2000" dirty="0" err="1"/>
              <a:t>Mercatoria</a:t>
            </a:r>
            <a:br>
              <a:rPr lang="en-US" sz="2000" dirty="0"/>
            </a:br>
            <a:r>
              <a:rPr lang="en-US" sz="2000" dirty="0"/>
              <a:t>-1542 Statute of Bankrupts</a:t>
            </a:r>
          </a:p>
          <a:p>
            <a:r>
              <a:rPr lang="en-US" sz="2000" dirty="0"/>
              <a:t>Early focus:</a:t>
            </a:r>
            <a:br>
              <a:rPr lang="en-US" sz="2000" dirty="0"/>
            </a:br>
            <a:r>
              <a:rPr lang="en-US" sz="2000" dirty="0"/>
              <a:t>- Individual wrongdoing</a:t>
            </a:r>
            <a:br>
              <a:rPr lang="en-US" sz="2000" dirty="0"/>
            </a:br>
            <a:r>
              <a:rPr lang="en-US" sz="2000" dirty="0"/>
              <a:t>- Severe punishment</a:t>
            </a:r>
            <a:br>
              <a:rPr lang="en-US" sz="2000" dirty="0"/>
            </a:br>
            <a:r>
              <a:rPr lang="en-US" sz="2000" dirty="0"/>
              <a:t>- No collective structure </a:t>
            </a:r>
          </a:p>
          <a:p>
            <a:r>
              <a:rPr lang="en-US" sz="2000" dirty="0"/>
              <a:t>17</a:t>
            </a:r>
            <a:r>
              <a:rPr lang="en-US" sz="2000" baseline="30000" dirty="0"/>
              <a:t>th</a:t>
            </a:r>
            <a:r>
              <a:rPr lang="en-US" sz="2000" dirty="0"/>
              <a:t> to 19</a:t>
            </a:r>
            <a:r>
              <a:rPr lang="en-US" sz="2000" baseline="30000" dirty="0"/>
              <a:t>th</a:t>
            </a:r>
            <a:r>
              <a:rPr lang="en-US" sz="2000" dirty="0"/>
              <a:t> centuries:</a:t>
            </a:r>
            <a:br>
              <a:rPr lang="en-US" sz="2000" dirty="0"/>
            </a:br>
            <a:r>
              <a:rPr lang="en-US" sz="2000" dirty="0"/>
              <a:t>- Bankruptcy courts established</a:t>
            </a:r>
            <a:br>
              <a:rPr lang="en-US" sz="2000" dirty="0"/>
            </a:br>
            <a:r>
              <a:rPr lang="en-US" sz="2000" dirty="0"/>
              <a:t>- Formal procedures emerge</a:t>
            </a:r>
            <a:br>
              <a:rPr lang="en-US" sz="2000" dirty="0"/>
            </a:br>
            <a:r>
              <a:rPr lang="en-US" sz="2000" dirty="0"/>
              <a:t>- Introduction of receivership </a:t>
            </a:r>
            <a:br>
              <a:rPr lang="en-US" sz="2000" dirty="0"/>
            </a:br>
            <a:r>
              <a:rPr lang="en-US" sz="2000" dirty="0"/>
              <a:t>- Gradual move toward regulation </a:t>
            </a:r>
          </a:p>
          <a:p>
            <a:r>
              <a:rPr lang="en-US" sz="2000" dirty="0" err="1"/>
              <a:t>Modernisation</a:t>
            </a:r>
            <a:r>
              <a:rPr lang="en-US" sz="2000" dirty="0"/>
              <a:t> and rescue culture:</a:t>
            </a:r>
            <a:br>
              <a:rPr lang="en-US" sz="2000" dirty="0"/>
            </a:br>
            <a:r>
              <a:rPr lang="en-US" sz="2000" dirty="0"/>
              <a:t>- Insolvency Act 1986</a:t>
            </a:r>
            <a:br>
              <a:rPr lang="en-US" sz="2000" dirty="0"/>
            </a:br>
            <a:r>
              <a:rPr lang="en-US" sz="2000" dirty="0"/>
              <a:t>- Enterprise Act 2002</a:t>
            </a:r>
            <a:br>
              <a:rPr lang="en-US" sz="2000" dirty="0"/>
            </a:br>
            <a:r>
              <a:rPr lang="en-US" sz="2000" dirty="0"/>
              <a:t>- Corporate Insolvency and Governance Act 2020</a:t>
            </a:r>
          </a:p>
          <a:p>
            <a:r>
              <a:rPr lang="en-US" sz="2000" dirty="0"/>
              <a:t>Influenced by Cork Report (1982)</a:t>
            </a:r>
          </a:p>
        </p:txBody>
      </p:sp>
      <p:pic>
        <p:nvPicPr>
          <p:cNvPr id="5" name="Picture 4" descr="A tree with different symbols&#10;&#10;AI-generated content may be incorrect.">
            <a:extLst>
              <a:ext uri="{FF2B5EF4-FFF2-40B4-BE49-F238E27FC236}">
                <a16:creationId xmlns:a16="http://schemas.microsoft.com/office/drawing/2014/main" id="{0DDB04EE-9404-98C6-500C-C660A1D9F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639339" y="4416553"/>
            <a:ext cx="3975652" cy="22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881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FE10FA-45B6-AB05-30DC-56EAE184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The Enterprise Act 2002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collage of different images of animals&#10;&#10;AI-generated content may be incorrect.">
            <a:extLst>
              <a:ext uri="{FF2B5EF4-FFF2-40B4-BE49-F238E27FC236}">
                <a16:creationId xmlns:a16="http://schemas.microsoft.com/office/drawing/2014/main" id="{5DB8E5F1-38DA-FB29-3CDE-9233FACC30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22184" y="2299390"/>
            <a:ext cx="5430458" cy="407284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66554-A3EE-1BF0-4D8A-474DE2DD4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7104" y="2304288"/>
            <a:ext cx="5129784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Pre-2002 position:</a:t>
            </a:r>
            <a:br>
              <a:rPr lang="en-US" dirty="0"/>
            </a:br>
            <a:r>
              <a:rPr lang="en-US" dirty="0"/>
              <a:t>- Insolvency carried reputational stigma</a:t>
            </a:r>
          </a:p>
          <a:p>
            <a:pPr>
              <a:buFontTx/>
              <a:buChar char="-"/>
            </a:pPr>
            <a:r>
              <a:rPr lang="en-US" dirty="0"/>
              <a:t>Entry into procedure </a:t>
            </a:r>
            <a:r>
              <a:rPr lang="en-US" dirty="0" err="1"/>
              <a:t>signalled</a:t>
            </a:r>
            <a:r>
              <a:rPr lang="en-US" dirty="0"/>
              <a:t> failure </a:t>
            </a:r>
          </a:p>
          <a:p>
            <a:pPr>
              <a:buFontTx/>
              <a:buChar char="-"/>
            </a:pPr>
            <a:r>
              <a:rPr lang="en-US" dirty="0"/>
              <a:t>Liquidation dominant outcome 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Post-2002 reform:</a:t>
            </a:r>
            <a:br>
              <a:rPr lang="en-US" dirty="0"/>
            </a:br>
            <a:r>
              <a:rPr lang="en-US" dirty="0"/>
              <a:t>- Administration strengthened as a primary procedure</a:t>
            </a:r>
            <a:br>
              <a:rPr lang="en-US" dirty="0"/>
            </a:br>
            <a:r>
              <a:rPr lang="en-US" dirty="0"/>
              <a:t>- Restricted administrative receivership </a:t>
            </a:r>
            <a:br>
              <a:rPr lang="en-US" dirty="0"/>
            </a:br>
            <a:r>
              <a:rPr lang="en-US" dirty="0"/>
              <a:t>- Promoted rescue culture </a:t>
            </a:r>
          </a:p>
        </p:txBody>
      </p:sp>
    </p:spTree>
    <p:extLst>
      <p:ext uri="{BB962C8B-B14F-4D97-AF65-F5344CB8AC3E}">
        <p14:creationId xmlns:p14="http://schemas.microsoft.com/office/powerpoint/2010/main" val="2954925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2980F-235C-B03E-4FD3-EA9E7FD90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Corporate Insolvency and Governance Act 2020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person pushing a stress level&#10;&#10;AI-generated content may be incorrect.">
            <a:extLst>
              <a:ext uri="{FF2B5EF4-FFF2-40B4-BE49-F238E27FC236}">
                <a16:creationId xmlns:a16="http://schemas.microsoft.com/office/drawing/2014/main" id="{EF69C0FE-7C82-CB57-C345-DC3C6E2A2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17868" y="2721622"/>
            <a:ext cx="5639091" cy="32283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2A009-58F3-8675-452E-A7ED7759B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7104" y="2304288"/>
            <a:ext cx="5129784" cy="4050792"/>
          </a:xfrm>
        </p:spPr>
        <p:txBody>
          <a:bodyPr>
            <a:normAutofit/>
          </a:bodyPr>
          <a:lstStyle/>
          <a:p>
            <a:r>
              <a:rPr lang="en-US" dirty="0"/>
              <a:t>Introduced in the context of Covid-19</a:t>
            </a:r>
          </a:p>
          <a:p>
            <a:pPr marL="0" indent="0">
              <a:buNone/>
            </a:pPr>
            <a:r>
              <a:rPr lang="en-US" dirty="0"/>
              <a:t>Key measures: </a:t>
            </a:r>
          </a:p>
          <a:p>
            <a:pPr marL="0" indent="0">
              <a:buNone/>
            </a:pPr>
            <a:r>
              <a:rPr lang="en-US" dirty="0"/>
              <a:t>Temporary suspension of wrongful trading liability</a:t>
            </a:r>
          </a:p>
          <a:p>
            <a:pPr marL="0" indent="0">
              <a:buNone/>
            </a:pPr>
            <a:r>
              <a:rPr lang="en-US" dirty="0"/>
              <a:t>Restrictions on statutory demands &amp; winding-up petitions</a:t>
            </a:r>
          </a:p>
          <a:p>
            <a:pPr marL="0" indent="0">
              <a:buNone/>
            </a:pPr>
            <a:r>
              <a:rPr lang="en-US" dirty="0"/>
              <a:t>Introduction of restructuring plan</a:t>
            </a:r>
          </a:p>
          <a:p>
            <a:pPr marL="0" indent="0">
              <a:buNone/>
            </a:pPr>
            <a:r>
              <a:rPr lang="en-US" dirty="0"/>
              <a:t>New stand alone moratorium</a:t>
            </a:r>
          </a:p>
        </p:txBody>
      </p:sp>
    </p:spTree>
    <p:extLst>
      <p:ext uri="{BB962C8B-B14F-4D97-AF65-F5344CB8AC3E}">
        <p14:creationId xmlns:p14="http://schemas.microsoft.com/office/powerpoint/2010/main" val="694762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C16C65-243E-86BF-084C-29B92A823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sz="4100"/>
              <a:t>Contemporary Pressures on Insolvency Law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planet earth with lights and text&#10;&#10;AI-generated content may be incorrect.">
            <a:extLst>
              <a:ext uri="{FF2B5EF4-FFF2-40B4-BE49-F238E27FC236}">
                <a16:creationId xmlns:a16="http://schemas.microsoft.com/office/drawing/2014/main" id="{6C904361-C11A-B12A-BA45-477713D08B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17868" y="2453766"/>
            <a:ext cx="5127029" cy="342229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653CB-EDFE-1D1E-B7B9-F366B68CC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7104" y="2304288"/>
            <a:ext cx="5129784" cy="4050792"/>
          </a:xfrm>
        </p:spPr>
        <p:txBody>
          <a:bodyPr>
            <a:normAutofit/>
          </a:bodyPr>
          <a:lstStyle/>
          <a:p>
            <a:r>
              <a:rPr lang="en-US" dirty="0"/>
              <a:t>Ongoing policy balance:</a:t>
            </a:r>
            <a:br>
              <a:rPr lang="en-US" dirty="0"/>
            </a:br>
            <a:r>
              <a:rPr lang="en-US" dirty="0"/>
              <a:t>- creditor protection vs business rescue</a:t>
            </a:r>
          </a:p>
          <a:p>
            <a:r>
              <a:rPr lang="en-US" dirty="0"/>
              <a:t>Emerging challenges: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globalisation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- cross-border insolvency</a:t>
            </a:r>
            <a:br>
              <a:rPr lang="en-US" dirty="0"/>
            </a:br>
            <a:r>
              <a:rPr lang="en-US" dirty="0"/>
              <a:t>- digital assets &amp; new payment systems</a:t>
            </a:r>
            <a:br>
              <a:rPr lang="en-US" dirty="0"/>
            </a:br>
            <a:r>
              <a:rPr lang="en-US" dirty="0"/>
              <a:t>- post-Brexit autonomy </a:t>
            </a:r>
          </a:p>
          <a:p>
            <a:r>
              <a:rPr lang="en-US" dirty="0"/>
              <a:t>Strategic concern:</a:t>
            </a:r>
            <a:br>
              <a:rPr lang="en-US" dirty="0"/>
            </a:br>
            <a:r>
              <a:rPr lang="en-US" dirty="0"/>
              <a:t>- maintaining the UK’s attractiveness to investors </a:t>
            </a:r>
          </a:p>
        </p:txBody>
      </p:sp>
    </p:spTree>
    <p:extLst>
      <p:ext uri="{BB962C8B-B14F-4D97-AF65-F5344CB8AC3E}">
        <p14:creationId xmlns:p14="http://schemas.microsoft.com/office/powerpoint/2010/main" val="1771951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2335B-E914-1E12-14FC-CC31226F0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E6756F-F272-DE39-98E4-C2C131BB6A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7790173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4998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 descr="A green frog figurine with its hand up&#10;&#10;AI-generated content may be incorrect.">
            <a:extLst>
              <a:ext uri="{FF2B5EF4-FFF2-40B4-BE49-F238E27FC236}">
                <a16:creationId xmlns:a16="http://schemas.microsoft.com/office/drawing/2014/main" id="{E9C646C0-66E8-67AD-582C-3542F4A06B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4063" r="-1" b="1328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D71E64B-9F70-4956-A351-D707CAB0A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524" y="3205875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A74DD-F172-87A5-2E5C-0F0E29725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3753532"/>
            <a:ext cx="5021182" cy="233377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>
                <a:solidFill>
                  <a:srgbClr val="FFFFFF"/>
                </a:solidFill>
              </a:rPr>
              <a:t>Next Lecture: Insolvency continued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19498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FD1BA4-3BB3-4E55-9216-2F958BB3B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98540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46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701</Words>
  <Application>Microsoft Macintosh PowerPoint</Application>
  <PresentationFormat>Widescreen</PresentationFormat>
  <Paragraphs>109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Bierstadt</vt:lpstr>
      <vt:lpstr>Times New Roman</vt:lpstr>
      <vt:lpstr>GestaltVTI</vt:lpstr>
      <vt:lpstr>Commercial Law 237 -Topic 9   Insolvency- Lecture 2  </vt:lpstr>
      <vt:lpstr>Learning Outcomes</vt:lpstr>
      <vt:lpstr>Core Functions of Corporate Insolvency</vt:lpstr>
      <vt:lpstr>The Shift to Collective Action</vt:lpstr>
      <vt:lpstr>PowerPoint Presentation</vt:lpstr>
      <vt:lpstr>The Statutory Trust (Ayerst Principle)</vt:lpstr>
      <vt:lpstr>The Role of the Office Holder </vt:lpstr>
      <vt:lpstr>Office-Holder ‘takes as found’ </vt:lpstr>
      <vt:lpstr>Mandatory Nature of Insolvency Law</vt:lpstr>
      <vt:lpstr>Historical Evolution</vt:lpstr>
      <vt:lpstr>The Enterprise Act 2002</vt:lpstr>
      <vt:lpstr>Corporate Insolvency and Governance Act 2020</vt:lpstr>
      <vt:lpstr>Contemporary Pressures on Insolvency Law</vt:lpstr>
      <vt:lpstr>Summary</vt:lpstr>
      <vt:lpstr>Next Lecture: Insolvency continued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Kizilyurek Jones, Zora</dc:creator>
  <cp:lastModifiedBy>Kizilyurek Jones, Zora</cp:lastModifiedBy>
  <cp:revision>3</cp:revision>
  <dcterms:created xsi:type="dcterms:W3CDTF">2026-02-25T16:47:41Z</dcterms:created>
  <dcterms:modified xsi:type="dcterms:W3CDTF">2026-02-25T17:42:52Z</dcterms:modified>
</cp:coreProperties>
</file>