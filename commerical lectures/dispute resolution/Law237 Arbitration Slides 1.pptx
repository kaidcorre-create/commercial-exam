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3" r:id="rId3"/>
  </p:sldMasterIdLst>
  <p:notesMasterIdLst>
    <p:notesMasterId r:id="rId13"/>
  </p:notesMasterIdLst>
  <p:sldIdLst>
    <p:sldId id="256" r:id="rId4"/>
    <p:sldId id="257"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p:cViewPr varScale="1">
        <p:scale>
          <a:sx n="121" d="100"/>
          <a:sy n="121" d="100"/>
        </p:scale>
        <p:origin x="1904" y="1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B2E5ED-1DB6-4138-AA36-B0EA7D62E2DB}" type="datetimeFigureOut">
              <a:rPr lang="en-GB" smtClean="0"/>
              <a:t>11/02/2023</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D5F063-A465-4609-8C42-D37460ED93F7}" type="slidenum">
              <a:rPr lang="en-GB" smtClean="0"/>
              <a:t>‹#›</a:t>
            </a:fld>
            <a:endParaRPr lang="en-GB"/>
          </a:p>
        </p:txBody>
      </p:sp>
    </p:spTree>
    <p:extLst>
      <p:ext uri="{BB962C8B-B14F-4D97-AF65-F5344CB8AC3E}">
        <p14:creationId xmlns:p14="http://schemas.microsoft.com/office/powerpoint/2010/main" val="2418299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eaLnBrk="1" hangingPunct="1"/>
            <a:r>
              <a:rPr lang="en-US" sz="1200" b="1" kern="1200" dirty="0">
                <a:solidFill>
                  <a:schemeClr val="tx1"/>
                </a:solidFill>
                <a:latin typeface="Lucida Grande" pitchFamily="80" charset="0"/>
                <a:ea typeface="ＭＳ Ｐゴシック" charset="-128"/>
                <a:cs typeface="+mn-cs"/>
              </a:rPr>
              <a:t>LANCASTER UNIVERSITY POWERPOINT TEMPLATES</a:t>
            </a:r>
          </a:p>
          <a:p>
            <a:pPr eaLnBrk="1" hangingPunct="1"/>
            <a:r>
              <a:rPr lang="en-US" sz="1200" kern="1200" baseline="0" dirty="0">
                <a:solidFill>
                  <a:schemeClr val="tx1"/>
                </a:solidFill>
                <a:latin typeface="Lucida Grande" pitchFamily="80" charset="0"/>
                <a:ea typeface="ＭＳ Ｐゴシック" charset="-128"/>
                <a:cs typeface="+mn-cs"/>
              </a:rPr>
              <a:t>These PowerPoint templates are for use by all Lancaster University staff. Please see below for further information regarding the use of these templates. Should you have any further queries, please contact the marketing team via marketing-services@lancaster.ac.uk</a:t>
            </a: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3: Insert a new slide</a:t>
            </a:r>
          </a:p>
          <a:p>
            <a:pPr eaLnBrk="1" hangingPunct="1"/>
            <a:r>
              <a:rPr lang="en-US" sz="1200" kern="1200" dirty="0">
                <a:solidFill>
                  <a:srgbClr val="731F43"/>
                </a:solidFill>
                <a:latin typeface="Lucida Grande" pitchFamily="80" charset="0"/>
                <a:ea typeface="ＭＳ Ｐゴシック" charset="-128"/>
                <a:cs typeface="+mn-cs"/>
              </a:rPr>
              <a:t>If you need to insert a new slide, from </a:t>
            </a:r>
            <a:r>
              <a:rPr lang="en-US" sz="1200" kern="1200" baseline="0" dirty="0">
                <a:solidFill>
                  <a:srgbClr val="666666"/>
                </a:solidFill>
                <a:latin typeface="Lucida Grande" pitchFamily="80" charset="0"/>
                <a:ea typeface="ＭＳ Ｐゴシック" charset="-128"/>
                <a:cs typeface="+mn-cs"/>
              </a:rPr>
              <a:t>the ‘home’ toolbar, click on ‘new slide’ and select from the templates the style you require from the dropdown box.</a:t>
            </a:r>
            <a:endParaRPr lang="en-US" sz="1200" kern="1200" dirty="0">
              <a:solidFill>
                <a:srgbClr val="731F43"/>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4: </a:t>
            </a:r>
            <a:r>
              <a:rPr lang="en-US" sz="1200" b="1" kern="1200" baseline="0" dirty="0">
                <a:solidFill>
                  <a:schemeClr val="tx1"/>
                </a:solidFill>
                <a:latin typeface="Lucida Grande" pitchFamily="80" charset="0"/>
                <a:ea typeface="ＭＳ Ｐゴシック" charset="-128"/>
                <a:cs typeface="+mn-cs"/>
              </a:rPr>
              <a:t>Typing new text and copying text from another document</a:t>
            </a:r>
          </a:p>
          <a:p>
            <a:pPr eaLnBrk="1" hangingPunct="1"/>
            <a:r>
              <a:rPr lang="en-US" sz="1200" kern="1200" baseline="0" dirty="0">
                <a:solidFill>
                  <a:schemeClr val="tx1"/>
                </a:solidFill>
                <a:latin typeface="Lucida Grande" pitchFamily="80" charset="0"/>
                <a:ea typeface="ＭＳ Ｐゴシック" charset="-128"/>
                <a:cs typeface="+mn-cs"/>
              </a:rPr>
              <a:t>New text</a:t>
            </a:r>
            <a:r>
              <a:rPr lang="en-US" sz="1200" kern="1200" dirty="0">
                <a:solidFill>
                  <a:schemeClr val="tx1"/>
                </a:solidFill>
                <a:latin typeface="Lucida Grande" pitchFamily="80" charset="0"/>
                <a:ea typeface="ＭＳ Ｐゴシック" charset="-128"/>
                <a:cs typeface="+mn-cs"/>
              </a:rPr>
              <a:t> should be typed over the</a:t>
            </a:r>
            <a:r>
              <a:rPr lang="en-US" sz="1200" kern="1200" baseline="0" dirty="0">
                <a:solidFill>
                  <a:schemeClr val="tx1"/>
                </a:solidFill>
                <a:latin typeface="Lucida Grande" pitchFamily="80" charset="0"/>
                <a:ea typeface="ＭＳ Ｐゴシック" charset="-128"/>
                <a:cs typeface="+mn-cs"/>
              </a:rPr>
              <a:t> text </a:t>
            </a:r>
            <a:r>
              <a:rPr lang="en-US" sz="1200" kern="1200" dirty="0">
                <a:solidFill>
                  <a:schemeClr val="tx1"/>
                </a:solidFill>
                <a:latin typeface="Lucida Grande" pitchFamily="80" charset="0"/>
                <a:ea typeface="ＭＳ Ｐゴシック" charset="-128"/>
                <a:cs typeface="+mn-cs"/>
              </a:rPr>
              <a:t>in the appropriate template. Copy and pasting text from another document will result in changing the style of the typography and layout. This is unavoidable as it is part of the Microsoft</a:t>
            </a:r>
            <a:r>
              <a:rPr lang="en-US" sz="1200" kern="1200" baseline="0" dirty="0">
                <a:solidFill>
                  <a:schemeClr val="tx1"/>
                </a:solidFill>
                <a:latin typeface="Lucida Grande" pitchFamily="80" charset="0"/>
                <a:ea typeface="ＭＳ Ｐゴシック" charset="-128"/>
                <a:cs typeface="+mn-cs"/>
              </a:rPr>
              <a:t> software</a:t>
            </a:r>
            <a:r>
              <a:rPr lang="en-US" sz="1200" kern="1200" dirty="0">
                <a:solidFill>
                  <a:schemeClr val="tx1"/>
                </a:solidFill>
                <a:latin typeface="Lucida Grande" pitchFamily="80" charset="0"/>
                <a:ea typeface="ＭＳ Ｐゴシック" charset="-128"/>
                <a:cs typeface="+mn-cs"/>
              </a:rPr>
              <a:t>. We</a:t>
            </a:r>
            <a:r>
              <a:rPr lang="en-US" sz="1200" kern="1200" baseline="0" dirty="0">
                <a:solidFill>
                  <a:schemeClr val="tx1"/>
                </a:solidFill>
                <a:latin typeface="Lucida Grande" pitchFamily="80" charset="0"/>
                <a:ea typeface="ＭＳ Ｐゴシック" charset="-128"/>
                <a:cs typeface="+mn-cs"/>
              </a:rPr>
              <a:t> appreciate that in sometimes you will need to copy text from another document into this template. Once you have pasted the existing text into the template, you will need to change the formatting so that they typefaces, sizes, </a:t>
            </a:r>
            <a:r>
              <a:rPr lang="en-US" sz="1200" kern="1200" baseline="0" dirty="0" err="1">
                <a:solidFill>
                  <a:schemeClr val="tx1"/>
                </a:solidFill>
                <a:latin typeface="Lucida Grande" pitchFamily="80" charset="0"/>
                <a:ea typeface="ＭＳ Ｐゴシック" charset="-128"/>
                <a:cs typeface="+mn-cs"/>
              </a:rPr>
              <a:t>colour</a:t>
            </a:r>
            <a:r>
              <a:rPr lang="en-US" sz="1200" kern="1200" baseline="0" dirty="0">
                <a:solidFill>
                  <a:schemeClr val="tx1"/>
                </a:solidFill>
                <a:latin typeface="Lucida Grande" pitchFamily="80" charset="0"/>
                <a:ea typeface="ＭＳ Ｐゴシック" charset="-128"/>
                <a:cs typeface="+mn-cs"/>
              </a:rPr>
              <a:t>, line spacing and alignment are consistent with the rest of the template.</a:t>
            </a:r>
            <a:endParaRPr lang="en-US" sz="1200" kern="1200" dirty="0">
              <a:solidFill>
                <a:schemeClr val="tx1"/>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5: Inserting images</a:t>
            </a: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baseline="0" dirty="0">
                <a:solidFill>
                  <a:srgbClr val="666666"/>
                </a:solidFill>
                <a:latin typeface="Calibri" pitchFamily="80" charset="0"/>
              </a:rPr>
              <a:t>There are three choices of templates with images already inserted. Please use the template with the relevant image size and positioning. </a:t>
            </a:r>
            <a:r>
              <a:rPr lang="en-US" sz="1200" kern="1200" dirty="0">
                <a:solidFill>
                  <a:srgbClr val="731F43"/>
                </a:solidFill>
                <a:latin typeface="Lucida Grande" pitchFamily="80" charset="0"/>
                <a:ea typeface="ＭＳ Ｐゴシック" charset="-128"/>
                <a:cs typeface="+mn-cs"/>
              </a:rPr>
              <a:t>To</a:t>
            </a:r>
            <a:r>
              <a:rPr lang="en-US" sz="1200" kern="1200" baseline="0" dirty="0">
                <a:solidFill>
                  <a:srgbClr val="731F43"/>
                </a:solidFill>
                <a:latin typeface="Lucida Grande" pitchFamily="80" charset="0"/>
                <a:ea typeface="ＭＳ Ｐゴシック" charset="-128"/>
                <a:cs typeface="+mn-cs"/>
              </a:rPr>
              <a:t> insert an i</a:t>
            </a:r>
            <a:r>
              <a:rPr lang="en-US" sz="1200" kern="1200" dirty="0">
                <a:solidFill>
                  <a:srgbClr val="731F43"/>
                </a:solidFill>
                <a:latin typeface="Lucida Grande" pitchFamily="80" charset="0"/>
                <a:ea typeface="ＭＳ Ｐゴシック" charset="-128"/>
                <a:cs typeface="+mn-cs"/>
              </a:rPr>
              <a:t>mage,</a:t>
            </a:r>
            <a:r>
              <a:rPr lang="en-US" sz="1200" kern="1200" baseline="0" dirty="0">
                <a:solidFill>
                  <a:srgbClr val="731F43"/>
                </a:solidFill>
                <a:latin typeface="Lucida Grande" pitchFamily="80" charset="0"/>
                <a:ea typeface="ＭＳ Ｐゴシック" charset="-128"/>
                <a:cs typeface="+mn-cs"/>
              </a:rPr>
              <a:t> please go to ‘insert’ then ‘picture’ and find your image, highlight it and ‘insert’. Resize the image and position as per the example template.</a:t>
            </a:r>
            <a:endParaRPr lang="en-US" sz="1200" kern="1200" dirty="0">
              <a:solidFill>
                <a:srgbClr val="731F43"/>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6: </a:t>
            </a:r>
            <a:r>
              <a:rPr lang="en-GB" sz="1200" b="1" kern="1200" dirty="0">
                <a:solidFill>
                  <a:schemeClr val="tx1"/>
                </a:solidFill>
                <a:latin typeface="Lucida Grande" pitchFamily="80" charset="0"/>
                <a:ea typeface="ＭＳ Ｐゴシック" charset="-128"/>
                <a:cs typeface="+mn-cs"/>
              </a:rPr>
              <a:t>Text boxes</a:t>
            </a:r>
          </a:p>
          <a:p>
            <a:pPr eaLnBrk="1" hangingPunct="1"/>
            <a:r>
              <a:rPr lang="en-GB" sz="1200" kern="1200" dirty="0">
                <a:solidFill>
                  <a:schemeClr val="tx1"/>
                </a:solidFill>
                <a:latin typeface="Lucida Grande" pitchFamily="80" charset="0"/>
                <a:ea typeface="ＭＳ Ｐゴシック" charset="-128"/>
                <a:cs typeface="+mn-cs"/>
              </a:rPr>
              <a:t>If</a:t>
            </a:r>
            <a:r>
              <a:rPr lang="en-GB" sz="1200" kern="1200" baseline="0" dirty="0">
                <a:solidFill>
                  <a:schemeClr val="tx1"/>
                </a:solidFill>
                <a:latin typeface="Lucida Grande" pitchFamily="80" charset="0"/>
                <a:ea typeface="ＭＳ Ｐゴシック" charset="-128"/>
                <a:cs typeface="+mn-cs"/>
              </a:rPr>
              <a:t> a text box is deleted, either insert a new slide (using the appropriate template) or go to another slide and copy a text box. To select a text box for copying, please click on the outer edge of the text box so that the line goes solid (not dashed). Right click your mouse and select ‘copy’, then go back and ‘paste’ it into the slide where the text box is missing which should paste into the correct position on the slide.</a:t>
            </a: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7: Other information</a:t>
            </a: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GB" sz="1200" b="1" kern="1200" dirty="0">
                <a:solidFill>
                  <a:schemeClr val="tx1"/>
                </a:solidFill>
                <a:latin typeface="Lucida Grande" pitchFamily="80" charset="0"/>
                <a:ea typeface="ＭＳ Ｐゴシック" charset="-128"/>
                <a:cs typeface="+mn-cs"/>
              </a:rPr>
              <a:t>Typefaces, sizes</a:t>
            </a:r>
            <a:r>
              <a:rPr lang="en-GB" sz="1200" b="1" kern="1200" baseline="0" dirty="0">
                <a:solidFill>
                  <a:schemeClr val="tx1"/>
                </a:solidFill>
                <a:latin typeface="Lucida Grande" pitchFamily="80" charset="0"/>
                <a:ea typeface="ＭＳ Ｐゴシック" charset="-128"/>
                <a:cs typeface="+mn-cs"/>
              </a:rPr>
              <a:t> and colours</a:t>
            </a:r>
            <a:br>
              <a:rPr lang="en-GB" sz="1200" kern="1200" dirty="0">
                <a:solidFill>
                  <a:schemeClr val="tx1"/>
                </a:solidFill>
                <a:latin typeface="Lucida Grande" pitchFamily="80" charset="0"/>
                <a:ea typeface="ＭＳ Ｐゴシック" charset="-128"/>
                <a:cs typeface="+mn-cs"/>
              </a:rPr>
            </a:br>
            <a:r>
              <a:rPr lang="en-GB" sz="1200" kern="1200" dirty="0">
                <a:solidFill>
                  <a:schemeClr val="tx1"/>
                </a:solidFill>
                <a:latin typeface="Lucida Grande" pitchFamily="80" charset="0"/>
                <a:ea typeface="ＭＳ Ｐゴシック" charset="-128"/>
                <a:cs typeface="+mn-cs"/>
              </a:rPr>
              <a:t>All copy is Calibri.</a:t>
            </a:r>
          </a:p>
          <a:p>
            <a:pPr eaLnBrk="1" hangingPunct="1"/>
            <a:endParaRPr lang="en-GB" sz="1200" kern="1200" dirty="0">
              <a:solidFill>
                <a:schemeClr val="tx1"/>
              </a:solidFill>
              <a:latin typeface="Lucida Grande" pitchFamily="80" charset="0"/>
              <a:ea typeface="ＭＳ Ｐゴシック" charset="-128"/>
              <a:cs typeface="+mn-cs"/>
            </a:endParaRPr>
          </a:p>
          <a:p>
            <a:pPr eaLnBrk="1" hangingPunct="1"/>
            <a:r>
              <a:rPr lang="en-GB" sz="1200" kern="1200" dirty="0">
                <a:solidFill>
                  <a:schemeClr val="tx1"/>
                </a:solidFill>
                <a:latin typeface="Lucida Grande" pitchFamily="80" charset="0"/>
                <a:ea typeface="ＭＳ Ｐゴシック" charset="-128"/>
                <a:cs typeface="+mn-cs"/>
              </a:rPr>
              <a:t>Slide</a:t>
            </a:r>
            <a:r>
              <a:rPr lang="en-GB" sz="1200" kern="1200" baseline="0" dirty="0">
                <a:solidFill>
                  <a:schemeClr val="tx1"/>
                </a:solidFill>
                <a:latin typeface="Lucida Grande" pitchFamily="80" charset="0"/>
                <a:ea typeface="ＭＳ Ｐゴシック" charset="-128"/>
                <a:cs typeface="+mn-cs"/>
              </a:rPr>
              <a:t> title</a:t>
            </a:r>
            <a:r>
              <a:rPr lang="en-GB" sz="1200" kern="1200" dirty="0">
                <a:solidFill>
                  <a:schemeClr val="tx1"/>
                </a:solidFill>
                <a:latin typeface="Lucida Grande" pitchFamily="80" charset="0"/>
                <a:ea typeface="ＭＳ Ｐゴシック" charset="-128"/>
                <a:cs typeface="+mn-cs"/>
              </a:rPr>
              <a:t> copy throughout:</a:t>
            </a:r>
          </a:p>
          <a:p>
            <a:pPr eaLnBrk="1" hangingPunct="1"/>
            <a:r>
              <a:rPr lang="en-GB" sz="1200" i="1" kern="1200" dirty="0">
                <a:solidFill>
                  <a:schemeClr val="tx1"/>
                </a:solidFill>
                <a:latin typeface="Lucida Grande" pitchFamily="80" charset="0"/>
                <a:ea typeface="ＭＳ Ｐゴシック" charset="-128"/>
                <a:cs typeface="+mn-cs"/>
              </a:rPr>
              <a:t>Size:  </a:t>
            </a:r>
            <a:r>
              <a:rPr lang="en-GB" sz="1200" i="0" kern="1200" dirty="0">
                <a:solidFill>
                  <a:schemeClr val="tx1"/>
                </a:solidFill>
                <a:latin typeface="Lucida Grande" pitchFamily="80" charset="0"/>
                <a:ea typeface="ＭＳ Ｐゴシック" charset="-128"/>
                <a:cs typeface="+mn-cs"/>
              </a:rPr>
              <a:t>36 point</a:t>
            </a:r>
            <a:endParaRPr lang="en-GB" sz="1200" kern="1200" dirty="0">
              <a:solidFill>
                <a:schemeClr val="tx1"/>
              </a:solidFill>
              <a:latin typeface="Lucida Grande" pitchFamily="80" charset="0"/>
              <a:ea typeface="ＭＳ Ｐゴシック" charset="-128"/>
              <a:cs typeface="+mn-cs"/>
            </a:endParaRPr>
          </a:p>
          <a:p>
            <a:pPr eaLnBrk="1" hangingPunct="1"/>
            <a:r>
              <a:rPr lang="en-GB" sz="1200" i="1" kern="1200" dirty="0">
                <a:solidFill>
                  <a:schemeClr val="tx1"/>
                </a:solidFill>
                <a:latin typeface="Lucida Grande" pitchFamily="80" charset="0"/>
                <a:ea typeface="ＭＳ Ｐゴシック" charset="-128"/>
                <a:cs typeface="+mn-cs"/>
              </a:rPr>
              <a:t>Colour Lancaster University red:  </a:t>
            </a:r>
            <a:r>
              <a:rPr lang="en-GB" sz="1200" kern="1200" dirty="0">
                <a:solidFill>
                  <a:schemeClr val="tx1"/>
                </a:solidFill>
                <a:latin typeface="Lucida Grande" pitchFamily="80" charset="0"/>
                <a:ea typeface="ＭＳ Ｐゴシック" charset="-128"/>
                <a:cs typeface="+mn-cs"/>
              </a:rPr>
              <a:t>(RGB) R: 181 G: 18 B: 27 (recent</a:t>
            </a:r>
            <a:r>
              <a:rPr lang="en-GB" sz="1200" kern="1200" baseline="0" dirty="0">
                <a:solidFill>
                  <a:schemeClr val="tx1"/>
                </a:solidFill>
                <a:latin typeface="Lucida Grande" pitchFamily="80" charset="0"/>
                <a:ea typeface="ＭＳ Ｐゴシック" charset="-128"/>
                <a:cs typeface="+mn-cs"/>
              </a:rPr>
              <a:t> colours on PowerPoint)</a:t>
            </a:r>
            <a:br>
              <a:rPr lang="en-GB" sz="1200" kern="1200" dirty="0">
                <a:solidFill>
                  <a:schemeClr val="tx1"/>
                </a:solidFill>
                <a:latin typeface="Lucida Grande" pitchFamily="80" charset="0"/>
                <a:ea typeface="ＭＳ Ｐゴシック" charset="-128"/>
                <a:cs typeface="+mn-cs"/>
              </a:rPr>
            </a:br>
            <a:br>
              <a:rPr lang="en-GB" sz="1200" kern="1200" dirty="0">
                <a:solidFill>
                  <a:schemeClr val="tx1"/>
                </a:solidFill>
                <a:latin typeface="Lucida Grande" pitchFamily="80" charset="0"/>
                <a:ea typeface="ＭＳ Ｐゴシック" charset="-128"/>
                <a:cs typeface="+mn-cs"/>
              </a:rPr>
            </a:br>
            <a:r>
              <a:rPr lang="en-GB" sz="1200" kern="1200" dirty="0">
                <a:solidFill>
                  <a:schemeClr val="tx1"/>
                </a:solidFill>
                <a:latin typeface="Lucida Grande" pitchFamily="80" charset="0"/>
                <a:ea typeface="ＭＳ Ｐゴシック" charset="-128"/>
                <a:cs typeface="+mn-cs"/>
              </a:rPr>
              <a:t>Small copy on first and last slide:</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Size:  </a:t>
            </a:r>
            <a:r>
              <a:rPr lang="en-GB" sz="1200" kern="1200" dirty="0">
                <a:solidFill>
                  <a:schemeClr val="tx1"/>
                </a:solidFill>
                <a:latin typeface="Lucida Grande" pitchFamily="80" charset="0"/>
                <a:ea typeface="ＭＳ Ｐゴシック" charset="-128"/>
                <a:cs typeface="+mn-cs"/>
              </a:rPr>
              <a:t>16 point</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Colour</a:t>
            </a:r>
            <a:r>
              <a:rPr lang="en-GB" sz="1200" i="1" kern="1200" baseline="0" dirty="0">
                <a:solidFill>
                  <a:schemeClr val="tx1"/>
                </a:solidFill>
                <a:latin typeface="Lucida Grande" pitchFamily="80" charset="0"/>
                <a:ea typeface="ＭＳ Ｐゴシック" charset="-128"/>
                <a:cs typeface="+mn-cs"/>
              </a:rPr>
              <a:t> </a:t>
            </a:r>
            <a:r>
              <a:rPr lang="en-GB" sz="1200" i="1" kern="1200" dirty="0">
                <a:solidFill>
                  <a:schemeClr val="tx1"/>
                </a:solidFill>
                <a:latin typeface="Lucida Grande" pitchFamily="80" charset="0"/>
                <a:ea typeface="ＭＳ Ｐゴシック" charset="-128"/>
                <a:cs typeface="+mn-cs"/>
              </a:rPr>
              <a:t>grey:  </a:t>
            </a:r>
            <a:r>
              <a:rPr lang="en-GB" sz="1200" kern="1200" dirty="0">
                <a:solidFill>
                  <a:schemeClr val="tx1"/>
                </a:solidFill>
                <a:latin typeface="Lucida Grande" pitchFamily="80" charset="0"/>
                <a:ea typeface="ＭＳ Ｐゴシック" charset="-128"/>
                <a:cs typeface="+mn-cs"/>
              </a:rPr>
              <a:t>(RGB) R: 102 G: 102 B: 102 (recent</a:t>
            </a:r>
            <a:r>
              <a:rPr lang="en-GB" sz="1200" kern="1200" baseline="0" dirty="0">
                <a:solidFill>
                  <a:schemeClr val="tx1"/>
                </a:solidFill>
                <a:latin typeface="Lucida Grande" pitchFamily="80" charset="0"/>
                <a:ea typeface="ＭＳ Ｐゴシック" charset="-128"/>
                <a:cs typeface="+mn-cs"/>
              </a:rPr>
              <a:t> colours on PowerPoint)</a:t>
            </a:r>
            <a:br>
              <a:rPr lang="en-GB" sz="1200" kern="1200" dirty="0">
                <a:solidFill>
                  <a:schemeClr val="tx1"/>
                </a:solidFill>
                <a:latin typeface="Lucida Grande" pitchFamily="80" charset="0"/>
                <a:ea typeface="ＭＳ Ｐゴシック" charset="-128"/>
                <a:cs typeface="+mn-cs"/>
              </a:rPr>
            </a:br>
            <a:endParaRPr lang="en-GB" sz="1200" kern="1200" dirty="0">
              <a:solidFill>
                <a:schemeClr val="tx1"/>
              </a:solidFill>
              <a:latin typeface="Lucida Grande" pitchFamily="80" charset="0"/>
              <a:ea typeface="ＭＳ Ｐゴシック" charset="-128"/>
              <a:cs typeface="+mn-cs"/>
            </a:endParaRPr>
          </a:p>
          <a:p>
            <a:pPr eaLnBrk="1" hangingPunct="1"/>
            <a:r>
              <a:rPr lang="en-GB" sz="1200" kern="1200" dirty="0">
                <a:solidFill>
                  <a:schemeClr val="tx1"/>
                </a:solidFill>
                <a:latin typeface="Lucida Grande" pitchFamily="80" charset="0"/>
                <a:ea typeface="ＭＳ Ｐゴシック" charset="-128"/>
                <a:cs typeface="+mn-cs"/>
              </a:rPr>
              <a:t>Sub-heading</a:t>
            </a:r>
            <a:r>
              <a:rPr lang="en-GB" sz="1200" kern="1200" baseline="0" dirty="0">
                <a:solidFill>
                  <a:schemeClr val="tx1"/>
                </a:solidFill>
                <a:latin typeface="Lucida Grande" pitchFamily="80" charset="0"/>
                <a:ea typeface="ＭＳ Ｐゴシック" charset="-128"/>
                <a:cs typeface="+mn-cs"/>
              </a:rPr>
              <a:t>s</a:t>
            </a:r>
            <a:r>
              <a:rPr lang="en-GB" sz="1200" kern="1200" dirty="0">
                <a:solidFill>
                  <a:schemeClr val="tx1"/>
                </a:solidFill>
                <a:latin typeface="Lucida Grande" pitchFamily="80" charset="0"/>
                <a:ea typeface="ＭＳ Ｐゴシック" charset="-128"/>
                <a:cs typeface="+mn-cs"/>
              </a:rPr>
              <a:t>:</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Size:  </a:t>
            </a:r>
            <a:r>
              <a:rPr lang="en-GB" sz="1200" i="0" kern="1200" dirty="0">
                <a:solidFill>
                  <a:schemeClr val="tx1"/>
                </a:solidFill>
                <a:latin typeface="Lucida Grande" pitchFamily="80" charset="0"/>
                <a:ea typeface="ＭＳ Ｐゴシック" charset="-128"/>
                <a:cs typeface="+mn-cs"/>
              </a:rPr>
              <a:t>24 point – italics</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Colour</a:t>
            </a:r>
            <a:r>
              <a:rPr lang="en-GB" sz="1200" i="1" kern="1200" baseline="0" dirty="0">
                <a:solidFill>
                  <a:schemeClr val="tx1"/>
                </a:solidFill>
                <a:latin typeface="Lucida Grande" pitchFamily="80" charset="0"/>
                <a:ea typeface="ＭＳ Ｐゴシック" charset="-128"/>
                <a:cs typeface="+mn-cs"/>
              </a:rPr>
              <a:t> </a:t>
            </a:r>
            <a:r>
              <a:rPr lang="en-GB" sz="1200" i="1" kern="1200" dirty="0">
                <a:solidFill>
                  <a:schemeClr val="tx1"/>
                </a:solidFill>
                <a:latin typeface="Lucida Grande" pitchFamily="80" charset="0"/>
                <a:ea typeface="ＭＳ Ｐゴシック" charset="-128"/>
                <a:cs typeface="+mn-cs"/>
              </a:rPr>
              <a:t>grey:  </a:t>
            </a:r>
            <a:r>
              <a:rPr lang="en-GB" sz="1200" kern="1200" dirty="0">
                <a:solidFill>
                  <a:schemeClr val="tx1"/>
                </a:solidFill>
                <a:latin typeface="Lucida Grande" pitchFamily="80" charset="0"/>
                <a:ea typeface="ＭＳ Ｐゴシック" charset="-128"/>
                <a:cs typeface="+mn-cs"/>
              </a:rPr>
              <a:t>(RGB) R: 102 G: 102 B: 102 (recent</a:t>
            </a:r>
            <a:r>
              <a:rPr lang="en-GB" sz="1200" kern="1200" baseline="0" dirty="0">
                <a:solidFill>
                  <a:schemeClr val="tx1"/>
                </a:solidFill>
                <a:latin typeface="Lucida Grande" pitchFamily="80" charset="0"/>
                <a:ea typeface="ＭＳ Ｐゴシック" charset="-128"/>
                <a:cs typeface="+mn-cs"/>
              </a:rPr>
              <a:t> colours on PowerPoint)</a:t>
            </a:r>
            <a:endParaRPr lang="en-GB" sz="1200" kern="1200" dirty="0">
              <a:solidFill>
                <a:schemeClr val="tx1"/>
              </a:solidFill>
              <a:latin typeface="Lucida Grande" pitchFamily="80" charset="0"/>
              <a:ea typeface="ＭＳ Ｐゴシック" charset="-128"/>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br>
              <a:rPr lang="en-GB" sz="1200" kern="1200" dirty="0">
                <a:solidFill>
                  <a:schemeClr val="tx1"/>
                </a:solidFill>
                <a:latin typeface="Lucida Grande" pitchFamily="80" charset="0"/>
                <a:ea typeface="ＭＳ Ｐゴシック" charset="-128"/>
                <a:cs typeface="+mn-cs"/>
              </a:rPr>
            </a:br>
            <a:r>
              <a:rPr lang="en-GB" sz="1200" kern="1200" dirty="0">
                <a:solidFill>
                  <a:schemeClr val="tx1"/>
                </a:solidFill>
                <a:latin typeface="Lucida Grande" pitchFamily="80" charset="0"/>
                <a:ea typeface="ＭＳ Ｐゴシック" charset="-128"/>
                <a:cs typeface="+mn-cs"/>
              </a:rPr>
              <a:t>Bullets copy and body copy:</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Size:</a:t>
            </a:r>
            <a:r>
              <a:rPr lang="en-GB" sz="1200" i="1" kern="1200" baseline="0" dirty="0">
                <a:solidFill>
                  <a:schemeClr val="tx1"/>
                </a:solidFill>
                <a:latin typeface="Lucida Grande" pitchFamily="80" charset="0"/>
                <a:ea typeface="ＭＳ Ｐゴシック" charset="-128"/>
                <a:cs typeface="+mn-cs"/>
              </a:rPr>
              <a:t>  </a:t>
            </a:r>
            <a:r>
              <a:rPr lang="en-GB" sz="1200" kern="1200" dirty="0">
                <a:solidFill>
                  <a:schemeClr val="tx1"/>
                </a:solidFill>
                <a:latin typeface="Lucida Grande" pitchFamily="80" charset="0"/>
                <a:ea typeface="ＭＳ Ｐゴシック" charset="-128"/>
                <a:cs typeface="+mn-cs"/>
              </a:rPr>
              <a:t>24 point</a:t>
            </a:r>
            <a:r>
              <a:rPr lang="en-GB" sz="1200" kern="1200" baseline="0" dirty="0">
                <a:solidFill>
                  <a:schemeClr val="tx1"/>
                </a:solidFill>
                <a:latin typeface="Lucida Grande" pitchFamily="80" charset="0"/>
                <a:ea typeface="ＭＳ Ｐゴシック" charset="-128"/>
                <a:cs typeface="+mn-cs"/>
              </a:rPr>
              <a:t> </a:t>
            </a:r>
            <a:r>
              <a:rPr lang="en-GB" sz="1200" kern="1200" dirty="0">
                <a:solidFill>
                  <a:schemeClr val="tx1"/>
                </a:solidFill>
                <a:latin typeface="Lucida Grande" pitchFamily="80" charset="0"/>
                <a:ea typeface="ＭＳ Ｐゴシック" charset="-128"/>
                <a:cs typeface="+mn-cs"/>
              </a:rPr>
              <a:t>(see below for a further option)</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Colour grey:  </a:t>
            </a:r>
            <a:r>
              <a:rPr lang="en-GB" sz="1200" kern="1200" dirty="0">
                <a:solidFill>
                  <a:schemeClr val="tx1"/>
                </a:solidFill>
                <a:latin typeface="Lucida Grande" pitchFamily="80" charset="0"/>
                <a:ea typeface="ＭＳ Ｐゴシック" charset="-128"/>
                <a:cs typeface="+mn-cs"/>
              </a:rPr>
              <a:t>(RGB) R: 102 G: 102 B: 102 (recent</a:t>
            </a:r>
            <a:r>
              <a:rPr lang="en-GB" sz="1200" kern="1200" baseline="0" dirty="0">
                <a:solidFill>
                  <a:schemeClr val="tx1"/>
                </a:solidFill>
                <a:latin typeface="Lucida Grande" pitchFamily="80" charset="0"/>
                <a:ea typeface="ＭＳ Ｐゴシック" charset="-128"/>
                <a:cs typeface="+mn-cs"/>
              </a:rPr>
              <a:t> colours on PowerPoint)</a:t>
            </a:r>
            <a:endParaRPr lang="en-GB" sz="1200" kern="1200" dirty="0">
              <a:solidFill>
                <a:schemeClr val="tx1"/>
              </a:solidFill>
              <a:latin typeface="Lucida Grande" pitchFamily="80" charset="0"/>
              <a:ea typeface="ＭＳ Ｐゴシック" charset="-128"/>
              <a:cs typeface="+mn-cs"/>
            </a:endParaRPr>
          </a:p>
          <a:p>
            <a:pPr eaLnBrk="1" hangingPunct="1"/>
            <a:r>
              <a:rPr lang="en-GB" sz="1200" kern="1200" dirty="0">
                <a:solidFill>
                  <a:schemeClr val="tx1"/>
                </a:solidFill>
                <a:latin typeface="Lucida Grande" pitchFamily="80" charset="0"/>
                <a:ea typeface="ＭＳ Ｐゴシック" charset="-128"/>
                <a:cs typeface="+mn-cs"/>
              </a:rPr>
              <a:t>It</a:t>
            </a:r>
            <a:r>
              <a:rPr lang="en-GB" sz="1200" kern="1200" baseline="0" dirty="0">
                <a:solidFill>
                  <a:schemeClr val="tx1"/>
                </a:solidFill>
                <a:latin typeface="Lucida Grande" pitchFamily="80" charset="0"/>
                <a:ea typeface="ＭＳ Ｐゴシック" charset="-128"/>
                <a:cs typeface="+mn-cs"/>
              </a:rPr>
              <a:t> isn’t advisable to have too much text on a slide, however on rare occasions it may be necessary, therefore there is a slide using 20 point bullet pointed text.</a:t>
            </a:r>
            <a:endParaRPr lang="en-US" sz="1200" kern="1200" dirty="0">
              <a:solidFill>
                <a:schemeClr val="tx1"/>
              </a:solidFill>
              <a:latin typeface="Lucida Grande" pitchFamily="80" charset="0"/>
              <a:ea typeface="ＭＳ Ｐゴシック" charset="-128"/>
              <a:cs typeface="+mn-cs"/>
            </a:endParaRPr>
          </a:p>
          <a:p>
            <a:pPr eaLnBrk="1" hangingPunct="1"/>
            <a:endParaRPr lang="en-US" sz="1200" kern="1200" dirty="0">
              <a:solidFill>
                <a:schemeClr val="tx1"/>
              </a:solidFill>
              <a:latin typeface="Lucida Grande" pitchFamily="80" charset="0"/>
              <a:ea typeface="ＭＳ Ｐゴシック" charset="-128"/>
              <a:cs typeface="+mn-cs"/>
            </a:endParaRPr>
          </a:p>
          <a:p>
            <a:pPr eaLnBrk="1" hangingPunct="1"/>
            <a:r>
              <a:rPr lang="en-US" sz="1200" b="1" kern="1200" dirty="0">
                <a:solidFill>
                  <a:schemeClr val="tx1"/>
                </a:solidFill>
                <a:latin typeface="Lucida Grande" pitchFamily="80" charset="0"/>
                <a:ea typeface="ＭＳ Ｐゴシック" charset="-128"/>
                <a:cs typeface="+mn-cs"/>
              </a:rPr>
              <a:t>Line</a:t>
            </a:r>
            <a:r>
              <a:rPr lang="en-US" sz="1200" b="1" kern="1200" baseline="0" dirty="0">
                <a:solidFill>
                  <a:schemeClr val="tx1"/>
                </a:solidFill>
                <a:latin typeface="Lucida Grande" pitchFamily="80" charset="0"/>
                <a:ea typeface="ＭＳ Ｐゴシック" charset="-128"/>
                <a:cs typeface="+mn-cs"/>
              </a:rPr>
              <a:t> spacing and alignment</a:t>
            </a:r>
          </a:p>
          <a:p>
            <a:pPr eaLnBrk="1" hangingPunct="1"/>
            <a:r>
              <a:rPr lang="en-US" sz="1200" kern="1200" baseline="0" dirty="0">
                <a:solidFill>
                  <a:schemeClr val="tx1"/>
                </a:solidFill>
                <a:latin typeface="Lucida Grande" pitchFamily="80" charset="0"/>
                <a:ea typeface="ＭＳ Ｐゴシック" charset="-128"/>
                <a:cs typeface="+mn-cs"/>
              </a:rPr>
              <a:t>Single line spacing (apart from the main headings which is ‘exactly 35 point’)</a:t>
            </a:r>
          </a:p>
          <a:p>
            <a:pPr eaLnBrk="1" hangingPunct="1"/>
            <a:r>
              <a:rPr lang="en-US" sz="1200" kern="1200" baseline="0" dirty="0">
                <a:solidFill>
                  <a:schemeClr val="tx1"/>
                </a:solidFill>
                <a:latin typeface="Lucida Grande" pitchFamily="80" charset="0"/>
                <a:ea typeface="ＭＳ Ｐゴシック" charset="-128"/>
                <a:cs typeface="+mn-cs"/>
              </a:rPr>
              <a:t>All text is aligned left</a:t>
            </a:r>
            <a:endParaRPr lang="en-US" sz="1200" kern="1200" dirty="0">
              <a:solidFill>
                <a:schemeClr val="tx1"/>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baseline="0" dirty="0">
                <a:solidFill>
                  <a:srgbClr val="731F43"/>
                </a:solidFill>
                <a:latin typeface="Lucida Grande" pitchFamily="80" charset="0"/>
                <a:ea typeface="ＭＳ Ｐゴシック" charset="-128"/>
                <a:cs typeface="+mn-cs"/>
              </a:rPr>
              <a:t>Slide title options</a:t>
            </a:r>
          </a:p>
          <a:p>
            <a:pPr eaLnBrk="1" hangingPunct="1"/>
            <a:r>
              <a:rPr lang="en-US" sz="1200" kern="1200" baseline="0" dirty="0">
                <a:solidFill>
                  <a:srgbClr val="731F43"/>
                </a:solidFill>
                <a:latin typeface="Lucida Grande" pitchFamily="80" charset="0"/>
                <a:ea typeface="ＭＳ Ｐゴシック" charset="-128"/>
                <a:cs typeface="+mn-cs"/>
              </a:rPr>
              <a:t>There are two options for titles on the slides – one line or two lines for longer titles. Ideally, the one line title should be used, however on rare occasions a two line title maybe needed.</a:t>
            </a:r>
            <a:endParaRPr lang="en-US" sz="1200" kern="1200" dirty="0">
              <a:solidFill>
                <a:srgbClr val="731F43"/>
              </a:solidFill>
              <a:latin typeface="Lucida Grande" pitchFamily="80" charset="0"/>
              <a:ea typeface="ＭＳ Ｐゴシック" charset="-128"/>
              <a:cs typeface="+mn-cs"/>
            </a:endParaRPr>
          </a:p>
        </p:txBody>
      </p:sp>
      <p:sp>
        <p:nvSpPr>
          <p:cNvPr id="4" name="Slide Number Placeholder 3"/>
          <p:cNvSpPr>
            <a:spLocks noGrp="1"/>
          </p:cNvSpPr>
          <p:nvPr>
            <p:ph type="sldNum" sz="quarter" idx="10"/>
          </p:nvPr>
        </p:nvSpPr>
        <p:spPr/>
        <p:txBody>
          <a:bodyPr/>
          <a:lstStyle/>
          <a:p>
            <a:fld id="{0EC8AF62-0413-459D-A055-9BD345497D1F}" type="slidenum">
              <a:rPr lang="en-GB" smtClean="0">
                <a:solidFill>
                  <a:prstClr val="black"/>
                </a:solidFill>
              </a:rPr>
              <a:pPr/>
              <a:t>1</a:t>
            </a:fld>
            <a:endParaRPr lang="en-GB">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0D5F063-A465-4609-8C42-D37460ED93F7}" type="slidenum">
              <a:rPr lang="en-GB" smtClean="0"/>
              <a:t>2</a:t>
            </a:fld>
            <a:endParaRPr lang="en-GB"/>
          </a:p>
        </p:txBody>
      </p:sp>
    </p:spTree>
    <p:extLst>
      <p:ext uri="{BB962C8B-B14F-4D97-AF65-F5344CB8AC3E}">
        <p14:creationId xmlns:p14="http://schemas.microsoft.com/office/powerpoint/2010/main" val="1473373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4F81336-1497-41A8-BEA9-69D403238B1A}" type="datetimeFigureOut">
              <a:rPr lang="en-GB" smtClean="0"/>
              <a:t>11/02/2023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52879BF-1348-4273-AE44-B3FEBBB69289}" type="slidenum">
              <a:rPr lang="en-GB" smtClean="0"/>
              <a:t>‹#›</a:t>
            </a:fld>
            <a:endParaRPr lang="en-GB"/>
          </a:p>
        </p:txBody>
      </p:sp>
    </p:spTree>
    <p:extLst>
      <p:ext uri="{BB962C8B-B14F-4D97-AF65-F5344CB8AC3E}">
        <p14:creationId xmlns:p14="http://schemas.microsoft.com/office/powerpoint/2010/main" val="71496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F81336-1497-41A8-BEA9-69D403238B1A}" type="datetimeFigureOut">
              <a:rPr lang="en-GB" smtClean="0"/>
              <a:t>11/02/2023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52879BF-1348-4273-AE44-B3FEBBB69289}" type="slidenum">
              <a:rPr lang="en-GB" smtClean="0"/>
              <a:t>‹#›</a:t>
            </a:fld>
            <a:endParaRPr lang="en-GB"/>
          </a:p>
        </p:txBody>
      </p:sp>
    </p:spTree>
    <p:extLst>
      <p:ext uri="{BB962C8B-B14F-4D97-AF65-F5344CB8AC3E}">
        <p14:creationId xmlns:p14="http://schemas.microsoft.com/office/powerpoint/2010/main" val="211801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F81336-1497-41A8-BEA9-69D403238B1A}" type="datetimeFigureOut">
              <a:rPr lang="en-GB" smtClean="0"/>
              <a:t>11/02/2023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52879BF-1348-4273-AE44-B3FEBBB69289}" type="slidenum">
              <a:rPr lang="en-GB" smtClean="0"/>
              <a:t>‹#›</a:t>
            </a:fld>
            <a:endParaRPr lang="en-GB"/>
          </a:p>
        </p:txBody>
      </p:sp>
    </p:spTree>
    <p:extLst>
      <p:ext uri="{BB962C8B-B14F-4D97-AF65-F5344CB8AC3E}">
        <p14:creationId xmlns:p14="http://schemas.microsoft.com/office/powerpoint/2010/main" val="2560774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4F81336-1497-41A8-BEA9-69D403238B1A}" type="datetimeFigureOut">
              <a:rPr lang="en-GB" smtClean="0"/>
              <a:t>11/02/2023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52879BF-1348-4273-AE44-B3FEBBB69289}" type="slidenum">
              <a:rPr lang="en-GB" smtClean="0"/>
              <a:t>‹#›</a:t>
            </a:fld>
            <a:endParaRPr lang="en-GB"/>
          </a:p>
        </p:txBody>
      </p:sp>
    </p:spTree>
    <p:extLst>
      <p:ext uri="{BB962C8B-B14F-4D97-AF65-F5344CB8AC3E}">
        <p14:creationId xmlns:p14="http://schemas.microsoft.com/office/powerpoint/2010/main" val="1108864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4F81336-1497-41A8-BEA9-69D403238B1A}" type="datetimeFigureOut">
              <a:rPr lang="en-GB" smtClean="0"/>
              <a:t>11/02/2023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52879BF-1348-4273-AE44-B3FEBBB69289}" type="slidenum">
              <a:rPr lang="en-GB" smtClean="0"/>
              <a:t>‹#›</a:t>
            </a:fld>
            <a:endParaRPr lang="en-GB"/>
          </a:p>
        </p:txBody>
      </p:sp>
    </p:spTree>
    <p:extLst>
      <p:ext uri="{BB962C8B-B14F-4D97-AF65-F5344CB8AC3E}">
        <p14:creationId xmlns:p14="http://schemas.microsoft.com/office/powerpoint/2010/main" val="4118207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4F81336-1497-41A8-BEA9-69D403238B1A}" type="datetimeFigureOut">
              <a:rPr lang="en-GB" smtClean="0"/>
              <a:t>11/02/2023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52879BF-1348-4273-AE44-B3FEBBB69289}" type="slidenum">
              <a:rPr lang="en-GB" smtClean="0"/>
              <a:t>‹#›</a:t>
            </a:fld>
            <a:endParaRPr lang="en-GB"/>
          </a:p>
        </p:txBody>
      </p:sp>
    </p:spTree>
    <p:extLst>
      <p:ext uri="{BB962C8B-B14F-4D97-AF65-F5344CB8AC3E}">
        <p14:creationId xmlns:p14="http://schemas.microsoft.com/office/powerpoint/2010/main" val="1252461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F81336-1497-41A8-BEA9-69D403238B1A}" type="datetimeFigureOut">
              <a:rPr lang="en-GB" smtClean="0"/>
              <a:t>11/02/2023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52879BF-1348-4273-AE44-B3FEBBB69289}" type="slidenum">
              <a:rPr lang="en-GB" smtClean="0"/>
              <a:t>‹#›</a:t>
            </a:fld>
            <a:endParaRPr lang="en-GB"/>
          </a:p>
        </p:txBody>
      </p:sp>
    </p:spTree>
    <p:extLst>
      <p:ext uri="{BB962C8B-B14F-4D97-AF65-F5344CB8AC3E}">
        <p14:creationId xmlns:p14="http://schemas.microsoft.com/office/powerpoint/2010/main" val="3328652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F81336-1497-41A8-BEA9-69D403238B1A}" type="datetimeFigureOut">
              <a:rPr lang="en-GB" smtClean="0"/>
              <a:t>11/02/2023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52879BF-1348-4273-AE44-B3FEBBB69289}" type="slidenum">
              <a:rPr lang="en-GB" smtClean="0"/>
              <a:t>‹#›</a:t>
            </a:fld>
            <a:endParaRPr lang="en-GB"/>
          </a:p>
        </p:txBody>
      </p:sp>
    </p:spTree>
    <p:extLst>
      <p:ext uri="{BB962C8B-B14F-4D97-AF65-F5344CB8AC3E}">
        <p14:creationId xmlns:p14="http://schemas.microsoft.com/office/powerpoint/2010/main" val="1656904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F81336-1497-41A8-BEA9-69D403238B1A}" type="datetimeFigureOut">
              <a:rPr lang="en-GB" smtClean="0"/>
              <a:t>11/02/2023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52879BF-1348-4273-AE44-B3FEBBB69289}" type="slidenum">
              <a:rPr lang="en-GB" smtClean="0"/>
              <a:t>‹#›</a:t>
            </a:fld>
            <a:endParaRPr lang="en-GB"/>
          </a:p>
        </p:txBody>
      </p:sp>
    </p:spTree>
    <p:extLst>
      <p:ext uri="{BB962C8B-B14F-4D97-AF65-F5344CB8AC3E}">
        <p14:creationId xmlns:p14="http://schemas.microsoft.com/office/powerpoint/2010/main" val="365192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F81336-1497-41A8-BEA9-69D403238B1A}" type="datetimeFigureOut">
              <a:rPr lang="en-GB" smtClean="0"/>
              <a:t>11/02/2023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52879BF-1348-4273-AE44-B3FEBBB69289}" type="slidenum">
              <a:rPr lang="en-GB" smtClean="0"/>
              <a:t>‹#›</a:t>
            </a:fld>
            <a:endParaRPr lang="en-GB"/>
          </a:p>
        </p:txBody>
      </p:sp>
    </p:spTree>
    <p:extLst>
      <p:ext uri="{BB962C8B-B14F-4D97-AF65-F5344CB8AC3E}">
        <p14:creationId xmlns:p14="http://schemas.microsoft.com/office/powerpoint/2010/main" val="4071148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F81336-1497-41A8-BEA9-69D403238B1A}" type="datetimeFigureOut">
              <a:rPr lang="en-GB" smtClean="0"/>
              <a:t>11/02/2023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52879BF-1348-4273-AE44-B3FEBBB69289}" type="slidenum">
              <a:rPr lang="en-GB" smtClean="0"/>
              <a:t>‹#›</a:t>
            </a:fld>
            <a:endParaRPr lang="en-GB"/>
          </a:p>
        </p:txBody>
      </p:sp>
    </p:spTree>
    <p:extLst>
      <p:ext uri="{BB962C8B-B14F-4D97-AF65-F5344CB8AC3E}">
        <p14:creationId xmlns:p14="http://schemas.microsoft.com/office/powerpoint/2010/main" val="1808501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ide 1: presentation title">
    <p:spTree>
      <p:nvGrpSpPr>
        <p:cNvPr id="1" name=""/>
        <p:cNvGrpSpPr/>
        <p:nvPr/>
      </p:nvGrpSpPr>
      <p:grpSpPr>
        <a:xfrm>
          <a:off x="0" y="0"/>
          <a:ext cx="0" cy="0"/>
          <a:chOff x="0" y="0"/>
          <a:chExt cx="0" cy="0"/>
        </a:xfrm>
      </p:grpSpPr>
      <p:sp>
        <p:nvSpPr>
          <p:cNvPr id="2" name="Title 1"/>
          <p:cNvSpPr>
            <a:spLocks noGrp="1"/>
          </p:cNvSpPr>
          <p:nvPr>
            <p:ph type="ctrTitle"/>
          </p:nvPr>
        </p:nvSpPr>
        <p:spPr>
          <a:xfrm>
            <a:off x="467544" y="1556792"/>
            <a:ext cx="8208912" cy="1010543"/>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467544" y="2852936"/>
            <a:ext cx="8208912" cy="720080"/>
          </a:xfrm>
          <a:prstGeom prst="rect">
            <a:avLst/>
          </a:prstGeom>
        </p:spPr>
        <p:txBody>
          <a:bodyPr/>
          <a:lstStyle>
            <a:lvl1pPr marL="0" indent="0" algn="l">
              <a:spcBef>
                <a:spcPts val="0"/>
              </a:spcBef>
              <a:buNone/>
              <a:defRPr sz="1600">
                <a:solidFill>
                  <a:srgbClr val="66666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Tree>
    <p:extLst>
      <p:ext uri="{BB962C8B-B14F-4D97-AF65-F5344CB8AC3E}">
        <p14:creationId xmlns:p14="http://schemas.microsoft.com/office/powerpoint/2010/main" val="186853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Slide 9: discussion">
    <p:spTree>
      <p:nvGrpSpPr>
        <p:cNvPr id="1" name=""/>
        <p:cNvGrpSpPr/>
        <p:nvPr/>
      </p:nvGrpSpPr>
      <p:grpSpPr>
        <a:xfrm>
          <a:off x="0" y="0"/>
          <a:ext cx="0" cy="0"/>
          <a:chOff x="0" y="0"/>
          <a:chExt cx="0" cy="0"/>
        </a:xfrm>
      </p:grpSpPr>
      <p:sp>
        <p:nvSpPr>
          <p:cNvPr id="2" name="Title 1"/>
          <p:cNvSpPr>
            <a:spLocks noGrp="1"/>
          </p:cNvSpPr>
          <p:nvPr>
            <p:ph type="ctrTitle"/>
          </p:nvPr>
        </p:nvSpPr>
        <p:spPr>
          <a:xfrm>
            <a:off x="467544" y="1556792"/>
            <a:ext cx="8208912" cy="1010543"/>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467544" y="2852936"/>
            <a:ext cx="8208912" cy="720080"/>
          </a:xfrm>
          <a:prstGeom prst="rect">
            <a:avLst/>
          </a:prstGeom>
        </p:spPr>
        <p:txBody>
          <a:bodyPr/>
          <a:lstStyle>
            <a:lvl1pPr marL="0" indent="0" algn="l">
              <a:spcBef>
                <a:spcPts val="0"/>
              </a:spcBef>
              <a:buNone/>
              <a:defRPr sz="1600">
                <a:solidFill>
                  <a:srgbClr val="66666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Tree>
    <p:extLst>
      <p:ext uri="{BB962C8B-B14F-4D97-AF65-F5344CB8AC3E}">
        <p14:creationId xmlns:p14="http://schemas.microsoft.com/office/powerpoint/2010/main" val="34107111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2: text only">
    <p:spTree>
      <p:nvGrpSpPr>
        <p:cNvPr id="1" name=""/>
        <p:cNvGrpSpPr/>
        <p:nvPr/>
      </p:nvGrpSpPr>
      <p:grpSpPr>
        <a:xfrm>
          <a:off x="0" y="0"/>
          <a:ext cx="0" cy="0"/>
          <a:chOff x="0" y="0"/>
          <a:chExt cx="0" cy="0"/>
        </a:xfrm>
      </p:grpSpPr>
      <p:sp>
        <p:nvSpPr>
          <p:cNvPr id="2"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4" name="Text Placeholder 7"/>
          <p:cNvSpPr>
            <a:spLocks noGrp="1"/>
          </p:cNvSpPr>
          <p:nvPr>
            <p:ph type="body" sz="quarter" idx="14"/>
          </p:nvPr>
        </p:nvSpPr>
        <p:spPr>
          <a:xfrm>
            <a:off x="395288" y="1844675"/>
            <a:ext cx="8425184"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p:txBody>
      </p:sp>
    </p:spTree>
    <p:extLst>
      <p:ext uri="{BB962C8B-B14F-4D97-AF65-F5344CB8AC3E}">
        <p14:creationId xmlns:p14="http://schemas.microsoft.com/office/powerpoint/2010/main" val="1273362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3: text using bullet point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8" y="1844675"/>
            <a:ext cx="8425184"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406017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4: smaller text using bullet point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8" y="1844675"/>
            <a:ext cx="8425184"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50050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lide 5: text with bullet points &amp; 1 image">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9" y="1844675"/>
            <a:ext cx="5400847"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p:txBody>
      </p:sp>
      <p:sp>
        <p:nvSpPr>
          <p:cNvPr id="2" name="TextBox 1"/>
          <p:cNvSpPr txBox="1"/>
          <p:nvPr userDrawn="1"/>
        </p:nvSpPr>
        <p:spPr>
          <a:xfrm>
            <a:off x="3234022" y="3660229"/>
            <a:ext cx="184666" cy="369332"/>
          </a:xfrm>
          <a:prstGeom prst="rect">
            <a:avLst/>
          </a:prstGeom>
          <a:noFill/>
        </p:spPr>
        <p:txBody>
          <a:bodyPr wrap="none" rtlCol="0">
            <a:spAutoFit/>
          </a:bodyPr>
          <a:lstStyle/>
          <a:p>
            <a:endParaRPr lang="en-US" dirty="0">
              <a:solidFill>
                <a:prstClr val="black"/>
              </a:solidFill>
            </a:endParaRPr>
          </a:p>
        </p:txBody>
      </p:sp>
    </p:spTree>
    <p:extLst>
      <p:ext uri="{BB962C8B-B14F-4D97-AF65-F5344CB8AC3E}">
        <p14:creationId xmlns:p14="http://schemas.microsoft.com/office/powerpoint/2010/main" val="1033243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6: text with bullet points &amp; 2 image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8" name="Text Placeholder 7"/>
          <p:cNvSpPr>
            <a:spLocks noGrp="1"/>
          </p:cNvSpPr>
          <p:nvPr>
            <p:ph type="body" sz="quarter" idx="14"/>
          </p:nvPr>
        </p:nvSpPr>
        <p:spPr>
          <a:xfrm>
            <a:off x="395289" y="1844675"/>
            <a:ext cx="5400847"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344376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lide 7: image only">
    <p:spTree>
      <p:nvGrpSpPr>
        <p:cNvPr id="1" name=""/>
        <p:cNvGrpSpPr/>
        <p:nvPr/>
      </p:nvGrpSpPr>
      <p:grpSpPr>
        <a:xfrm>
          <a:off x="0" y="0"/>
          <a:ext cx="0" cy="0"/>
          <a:chOff x="0" y="0"/>
          <a:chExt cx="0" cy="0"/>
        </a:xfrm>
      </p:grpSpPr>
      <p:sp>
        <p:nvSpPr>
          <p:cNvPr id="3"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Tree>
    <p:extLst>
      <p:ext uri="{BB962C8B-B14F-4D97-AF65-F5344CB8AC3E}">
        <p14:creationId xmlns:p14="http://schemas.microsoft.com/office/powerpoint/2010/main" val="2864447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lide 8: blank slide">
    <p:spTree>
      <p:nvGrpSpPr>
        <p:cNvPr id="1" name=""/>
        <p:cNvGrpSpPr/>
        <p:nvPr/>
      </p:nvGrpSpPr>
      <p:grpSpPr>
        <a:xfrm>
          <a:off x="0" y="0"/>
          <a:ext cx="0" cy="0"/>
          <a:chOff x="0" y="0"/>
          <a:chExt cx="0" cy="0"/>
        </a:xfrm>
      </p:grpSpPr>
      <p:sp>
        <p:nvSpPr>
          <p:cNvPr id="3"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Tree>
    <p:extLst>
      <p:ext uri="{BB962C8B-B14F-4D97-AF65-F5344CB8AC3E}">
        <p14:creationId xmlns:p14="http://schemas.microsoft.com/office/powerpoint/2010/main" val="13729252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Slide 9: discussion">
    <p:spTree>
      <p:nvGrpSpPr>
        <p:cNvPr id="1" name=""/>
        <p:cNvGrpSpPr/>
        <p:nvPr/>
      </p:nvGrpSpPr>
      <p:grpSpPr>
        <a:xfrm>
          <a:off x="0" y="0"/>
          <a:ext cx="0" cy="0"/>
          <a:chOff x="0" y="0"/>
          <a:chExt cx="0" cy="0"/>
        </a:xfrm>
      </p:grpSpPr>
      <p:sp>
        <p:nvSpPr>
          <p:cNvPr id="2" name="Title 1"/>
          <p:cNvSpPr>
            <a:spLocks noGrp="1"/>
          </p:cNvSpPr>
          <p:nvPr>
            <p:ph type="ctrTitle"/>
          </p:nvPr>
        </p:nvSpPr>
        <p:spPr>
          <a:xfrm>
            <a:off x="467544" y="1556792"/>
            <a:ext cx="8208912" cy="1010543"/>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467544" y="2852936"/>
            <a:ext cx="8208912" cy="720080"/>
          </a:xfrm>
          <a:prstGeom prst="rect">
            <a:avLst/>
          </a:prstGeom>
        </p:spPr>
        <p:txBody>
          <a:bodyPr/>
          <a:lstStyle>
            <a:lvl1pPr marL="0" indent="0" algn="l">
              <a:spcBef>
                <a:spcPts val="0"/>
              </a:spcBef>
              <a:buNone/>
              <a:defRPr sz="1600">
                <a:solidFill>
                  <a:srgbClr val="66666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Tree>
    <p:extLst>
      <p:ext uri="{BB962C8B-B14F-4D97-AF65-F5344CB8AC3E}">
        <p14:creationId xmlns:p14="http://schemas.microsoft.com/office/powerpoint/2010/main" val="556534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1.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10" Type="http://schemas.openxmlformats.org/officeDocument/2006/relationships/image" Target="../media/image2.jpeg"/><Relationship Id="rId4" Type="http://schemas.openxmlformats.org/officeDocument/2006/relationships/slideLayout" Target="../slideLayouts/slideLayout17.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F81336-1497-41A8-BEA9-69D403238B1A}" type="datetimeFigureOut">
              <a:rPr lang="en-GB" smtClean="0"/>
              <a:t>11/02/2023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2879BF-1348-4273-AE44-B3FEBBB69289}" type="slidenum">
              <a:rPr lang="en-GB" smtClean="0"/>
              <a:t>‹#›</a:t>
            </a:fld>
            <a:endParaRPr lang="en-GB"/>
          </a:p>
        </p:txBody>
      </p:sp>
    </p:spTree>
    <p:extLst>
      <p:ext uri="{BB962C8B-B14F-4D97-AF65-F5344CB8AC3E}">
        <p14:creationId xmlns:p14="http://schemas.microsoft.com/office/powerpoint/2010/main" val="3118432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5"/>
          <p:cNvPicPr>
            <a:picLocks noChangeAspect="1" noChangeArrowheads="1"/>
          </p:cNvPicPr>
          <p:nvPr userDrawn="1"/>
        </p:nvPicPr>
        <p:blipFill>
          <a:blip r:embed="rId4">
            <a:extLst>
              <a:ext uri="{28A0092B-C50C-407E-A947-70E740481C1C}">
                <a14:useLocalDpi xmlns:a14="http://schemas.microsoft.com/office/drawing/2010/main" val="0"/>
              </a:ext>
            </a:extLst>
          </a:blip>
          <a:stretch>
            <a:fillRect/>
          </a:stretch>
        </p:blipFill>
        <p:spPr bwMode="auto">
          <a:xfrm>
            <a:off x="1" y="1101"/>
            <a:ext cx="9143998" cy="6862147"/>
          </a:xfrm>
          <a:prstGeom prst="rect">
            <a:avLst/>
          </a:prstGeom>
          <a:noFill/>
          <a:ln w="9525">
            <a:noFill/>
            <a:miter lim="800000"/>
            <a:headEnd/>
            <a:tailEnd/>
          </a:ln>
        </p:spPr>
      </p:pic>
    </p:spTree>
    <p:extLst>
      <p:ext uri="{BB962C8B-B14F-4D97-AF65-F5344CB8AC3E}">
        <p14:creationId xmlns:p14="http://schemas.microsoft.com/office/powerpoint/2010/main" val="1068700139"/>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8"/>
          <p:cNvPicPr>
            <a:picLocks noChangeAspect="1" noChangeArrowheads="1"/>
          </p:cNvPicPr>
          <p:nvPr userDrawn="1"/>
        </p:nvPicPr>
        <p:blipFill>
          <a:blip r:embed="rId10" cstate="print">
            <a:extLst>
              <a:ext uri="{28A0092B-C50C-407E-A947-70E740481C1C}">
                <a14:useLocalDpi xmlns:a14="http://schemas.microsoft.com/office/drawing/2010/main" val="0"/>
              </a:ext>
            </a:extLst>
          </a:blip>
          <a:stretch>
            <a:fillRect/>
          </a:stretch>
        </p:blipFill>
        <p:spPr bwMode="auto">
          <a:xfrm>
            <a:off x="5522" y="3879"/>
            <a:ext cx="9132955" cy="6862148"/>
          </a:xfrm>
          <a:prstGeom prst="rect">
            <a:avLst/>
          </a:prstGeom>
          <a:noFill/>
          <a:ln w="9525">
            <a:noFill/>
            <a:miter lim="800000"/>
            <a:headEnd/>
            <a:tailEnd/>
          </a:ln>
        </p:spPr>
      </p:pic>
    </p:spTree>
    <p:extLst>
      <p:ext uri="{BB962C8B-B14F-4D97-AF65-F5344CB8AC3E}">
        <p14:creationId xmlns:p14="http://schemas.microsoft.com/office/powerpoint/2010/main" val="3141714057"/>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a:t>Introduction to International Commercial Arbitration</a:t>
            </a:r>
          </a:p>
        </p:txBody>
      </p:sp>
      <p:sp>
        <p:nvSpPr>
          <p:cNvPr id="3" name="Subtitle 2"/>
          <p:cNvSpPr>
            <a:spLocks noGrp="1"/>
          </p:cNvSpPr>
          <p:nvPr>
            <p:ph type="subTitle" idx="1"/>
          </p:nvPr>
        </p:nvSpPr>
        <p:spPr/>
        <p:txBody>
          <a:bodyPr/>
          <a:lstStyle/>
          <a:p>
            <a:pPr>
              <a:spcBef>
                <a:spcPts val="0"/>
              </a:spcBef>
            </a:pPr>
            <a:endParaRPr lang="en-GB" dirty="0"/>
          </a:p>
          <a:p>
            <a:pPr>
              <a:spcBef>
                <a:spcPts val="0"/>
              </a:spcBef>
            </a:pPr>
            <a:r>
              <a:rPr lang="en-GB" dirty="0"/>
              <a:t>Dr Mukarrum Ahmed, PhD (Aberdeen), Barrister (Lincoln’s Inn), Lecturer in Business Law</a:t>
            </a:r>
          </a:p>
        </p:txBody>
      </p:sp>
    </p:spTree>
    <p:extLst>
      <p:ext uri="{BB962C8B-B14F-4D97-AF65-F5344CB8AC3E}">
        <p14:creationId xmlns:p14="http://schemas.microsoft.com/office/powerpoint/2010/main" val="721741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 this Section</a:t>
            </a:r>
          </a:p>
        </p:txBody>
      </p:sp>
      <p:sp>
        <p:nvSpPr>
          <p:cNvPr id="3" name="Subtitle 2"/>
          <p:cNvSpPr>
            <a:spLocks noGrp="1"/>
          </p:cNvSpPr>
          <p:nvPr>
            <p:ph type="body" sz="quarter" idx="14"/>
          </p:nvPr>
        </p:nvSpPr>
        <p:spPr>
          <a:prstGeom prst="rect">
            <a:avLst/>
          </a:prstGeom>
        </p:spPr>
        <p:txBody>
          <a:bodyPr/>
          <a:lstStyle/>
          <a:p>
            <a:r>
              <a:rPr lang="en-GB" dirty="0"/>
              <a:t>What is arbitration? How is arbitration different from litigation? </a:t>
            </a:r>
          </a:p>
          <a:p>
            <a:r>
              <a:rPr lang="en-GB" dirty="0"/>
              <a:t>What are arbitration agreements? </a:t>
            </a:r>
          </a:p>
          <a:p>
            <a:r>
              <a:rPr lang="en-GB" dirty="0"/>
              <a:t>Which types of arbitration exist? How is institutional arbitration different from </a:t>
            </a:r>
            <a:r>
              <a:rPr lang="en-GB" i="1" dirty="0"/>
              <a:t>ad hoc </a:t>
            </a:r>
            <a:r>
              <a:rPr lang="en-GB" dirty="0"/>
              <a:t>arbitration? </a:t>
            </a:r>
          </a:p>
        </p:txBody>
      </p:sp>
    </p:spTree>
    <p:extLst>
      <p:ext uri="{BB962C8B-B14F-4D97-AF65-F5344CB8AC3E}">
        <p14:creationId xmlns:p14="http://schemas.microsoft.com/office/powerpoint/2010/main" val="2014021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What is arbitration?</a:t>
            </a:r>
          </a:p>
        </p:txBody>
      </p:sp>
      <p:sp>
        <p:nvSpPr>
          <p:cNvPr id="3" name="Subtitle 2"/>
          <p:cNvSpPr>
            <a:spLocks noGrp="1"/>
          </p:cNvSpPr>
          <p:nvPr>
            <p:ph type="body" sz="quarter" idx="14"/>
          </p:nvPr>
        </p:nvSpPr>
        <p:spPr>
          <a:prstGeom prst="rect">
            <a:avLst/>
          </a:prstGeom>
        </p:spPr>
        <p:txBody>
          <a:bodyPr/>
          <a:lstStyle/>
          <a:p>
            <a:pPr marL="0" indent="0">
              <a:buNone/>
            </a:pPr>
            <a:r>
              <a:rPr lang="en-GB" dirty="0"/>
              <a:t>“A process by which parties consensually submit a dispute to a non-governmental decision-maker, selected by or for the parties, to render a binding decision resolving a dispute in accordance with neutral, adjudicatory procedures affording each party an opportunity to present its case”. </a:t>
            </a:r>
          </a:p>
        </p:txBody>
      </p:sp>
    </p:spTree>
    <p:extLst>
      <p:ext uri="{BB962C8B-B14F-4D97-AF65-F5344CB8AC3E}">
        <p14:creationId xmlns:p14="http://schemas.microsoft.com/office/powerpoint/2010/main" val="2487447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What is arbitration?</a:t>
            </a:r>
          </a:p>
        </p:txBody>
      </p:sp>
      <p:sp>
        <p:nvSpPr>
          <p:cNvPr id="3" name="Subtitle 2"/>
          <p:cNvSpPr>
            <a:spLocks noGrp="1"/>
          </p:cNvSpPr>
          <p:nvPr>
            <p:ph type="body" sz="quarter" idx="14"/>
          </p:nvPr>
        </p:nvSpPr>
        <p:spPr>
          <a:prstGeom prst="rect">
            <a:avLst/>
          </a:prstGeom>
        </p:spPr>
        <p:txBody>
          <a:bodyPr/>
          <a:lstStyle/>
          <a:p>
            <a:r>
              <a:rPr lang="en-GB" dirty="0">
                <a:solidFill>
                  <a:srgbClr val="7F7F7F"/>
                </a:solidFill>
              </a:rPr>
              <a:t>Arbitration provides an alternative to litigation in state courts.</a:t>
            </a:r>
          </a:p>
          <a:p>
            <a:r>
              <a:rPr lang="en-GB" dirty="0">
                <a:solidFill>
                  <a:srgbClr val="7F7F7F"/>
                </a:solidFill>
              </a:rPr>
              <a:t>Private system of adjudication whereby parties decide to resolve their dispute by stepping outside the judicial system of any state.</a:t>
            </a:r>
          </a:p>
          <a:p>
            <a:r>
              <a:rPr lang="en-GB" dirty="0">
                <a:solidFill>
                  <a:srgbClr val="7F7F7F"/>
                </a:solidFill>
              </a:rPr>
              <a:t>A final and binding decision on the merits of the dispute is rendered by the arbitrator.</a:t>
            </a:r>
          </a:p>
          <a:p>
            <a:r>
              <a:rPr lang="en-GB" dirty="0">
                <a:solidFill>
                  <a:srgbClr val="7F7F7F"/>
                </a:solidFill>
              </a:rPr>
              <a:t>Ad hoc and institutional arbitration</a:t>
            </a:r>
          </a:p>
        </p:txBody>
      </p:sp>
    </p:spTree>
    <p:extLst>
      <p:ext uri="{BB962C8B-B14F-4D97-AF65-F5344CB8AC3E}">
        <p14:creationId xmlns:p14="http://schemas.microsoft.com/office/powerpoint/2010/main" val="3467460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Key Characteristics</a:t>
            </a:r>
          </a:p>
        </p:txBody>
      </p:sp>
      <p:sp>
        <p:nvSpPr>
          <p:cNvPr id="2" name="Subtitle 1"/>
          <p:cNvSpPr>
            <a:spLocks noGrp="1"/>
          </p:cNvSpPr>
          <p:nvPr>
            <p:ph type="body" sz="quarter" idx="14"/>
          </p:nvPr>
        </p:nvSpPr>
        <p:spPr>
          <a:prstGeom prst="rect">
            <a:avLst/>
          </a:prstGeom>
        </p:spPr>
        <p:txBody>
          <a:bodyPr/>
          <a:lstStyle/>
          <a:p>
            <a:r>
              <a:rPr lang="en-GB" b="1" dirty="0"/>
              <a:t>Consent</a:t>
            </a:r>
          </a:p>
          <a:p>
            <a:r>
              <a:rPr lang="en-GB" dirty="0"/>
              <a:t>Arbitration is a matter of contract and a party cannot be required to submit to arbitration any dispute which it has not agreed so to submit. </a:t>
            </a:r>
          </a:p>
          <a:p>
            <a:r>
              <a:rPr lang="en-GB" dirty="0"/>
              <a:t>No arbitration agreement = no arbitration</a:t>
            </a:r>
          </a:p>
          <a:p>
            <a:r>
              <a:rPr lang="en-GB" dirty="0"/>
              <a:t>An arbitration agreement is a necessary and sufficient condition to invoke the jurisdiction of an arbitral tribunal.</a:t>
            </a:r>
          </a:p>
          <a:p>
            <a:r>
              <a:rPr lang="en-GB" dirty="0"/>
              <a:t>The arbitration agreement may be in writing as a clause of the international commercial contract or evidenced in writing.</a:t>
            </a:r>
          </a:p>
          <a:p>
            <a:r>
              <a:rPr lang="en-GB" dirty="0"/>
              <a:t>Submission agreement</a:t>
            </a:r>
          </a:p>
          <a:p>
            <a:endParaRPr lang="en-GB" dirty="0"/>
          </a:p>
        </p:txBody>
      </p:sp>
    </p:spTree>
    <p:extLst>
      <p:ext uri="{BB962C8B-B14F-4D97-AF65-F5344CB8AC3E}">
        <p14:creationId xmlns:p14="http://schemas.microsoft.com/office/powerpoint/2010/main" val="1724108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Key Characteristics</a:t>
            </a:r>
          </a:p>
        </p:txBody>
      </p:sp>
      <p:sp>
        <p:nvSpPr>
          <p:cNvPr id="2" name="Subtitle 1"/>
          <p:cNvSpPr>
            <a:spLocks noGrp="1"/>
          </p:cNvSpPr>
          <p:nvPr>
            <p:ph type="body" sz="quarter" idx="14"/>
          </p:nvPr>
        </p:nvSpPr>
        <p:spPr>
          <a:prstGeom prst="rect">
            <a:avLst/>
          </a:prstGeom>
        </p:spPr>
        <p:txBody>
          <a:bodyPr/>
          <a:lstStyle/>
          <a:p>
            <a:r>
              <a:rPr lang="en-GB" b="1" dirty="0"/>
              <a:t>Non-governmental decision-maker selected by or for the parties </a:t>
            </a:r>
          </a:p>
          <a:p>
            <a:r>
              <a:rPr lang="en-GB" dirty="0"/>
              <a:t>If governmental decision-maker is selected, then we have a choice of court agreement, not an arbitration agreement. </a:t>
            </a:r>
          </a:p>
          <a:p>
            <a:r>
              <a:rPr lang="en-GB" dirty="0"/>
              <a:t>Arbitrators usually selected by the parties or arbitral institutions on their behalf </a:t>
            </a:r>
          </a:p>
          <a:p>
            <a:r>
              <a:rPr lang="en-GB" dirty="0"/>
              <a:t>In arbitration, the emphasis is on the dispute resolution needs of the parties as opposed to public policy or public interest.</a:t>
            </a:r>
          </a:p>
          <a:p>
            <a:r>
              <a:rPr lang="en-GB" dirty="0"/>
              <a:t>Non lawyers can be arbitrators but arbitrators have to be independent and impartial.</a:t>
            </a:r>
          </a:p>
          <a:p>
            <a:endParaRPr lang="en-GB" b="1" dirty="0"/>
          </a:p>
        </p:txBody>
      </p:sp>
    </p:spTree>
    <p:extLst>
      <p:ext uri="{BB962C8B-B14F-4D97-AF65-F5344CB8AC3E}">
        <p14:creationId xmlns:p14="http://schemas.microsoft.com/office/powerpoint/2010/main" val="3970921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Key Characteristics</a:t>
            </a:r>
          </a:p>
        </p:txBody>
      </p:sp>
      <p:sp>
        <p:nvSpPr>
          <p:cNvPr id="2" name="Subtitle 1"/>
          <p:cNvSpPr>
            <a:spLocks noGrp="1"/>
          </p:cNvSpPr>
          <p:nvPr>
            <p:ph type="body" sz="quarter" idx="14"/>
          </p:nvPr>
        </p:nvSpPr>
        <p:spPr>
          <a:prstGeom prst="rect">
            <a:avLst/>
          </a:prstGeom>
        </p:spPr>
        <p:txBody>
          <a:bodyPr/>
          <a:lstStyle/>
          <a:p>
            <a:r>
              <a:rPr lang="en-GB" b="1" dirty="0"/>
              <a:t>A Final and Binding Decision – “Award”</a:t>
            </a:r>
          </a:p>
          <a:p>
            <a:r>
              <a:rPr lang="en-GB" dirty="0"/>
              <a:t>It does not result in a merely advisory recommendation.</a:t>
            </a:r>
          </a:p>
          <a:p>
            <a:r>
              <a:rPr lang="en-GB" dirty="0"/>
              <a:t>Voluntary compliance with the award - Arbitral award can be coercively enforced (New York Convention)  </a:t>
            </a:r>
          </a:p>
          <a:p>
            <a:r>
              <a:rPr lang="en-GB" dirty="0"/>
              <a:t>No general appeal to a higher level court. </a:t>
            </a:r>
            <a:r>
              <a:rPr lang="en-GB" dirty="0" err="1"/>
              <a:t>Cf</a:t>
            </a:r>
            <a:r>
              <a:rPr lang="en-GB" dirty="0"/>
              <a:t> Article 69(1) of the Arbitration Act 1996.</a:t>
            </a:r>
          </a:p>
          <a:p>
            <a:endParaRPr lang="en-GB" dirty="0"/>
          </a:p>
        </p:txBody>
      </p:sp>
    </p:spTree>
    <p:extLst>
      <p:ext uri="{BB962C8B-B14F-4D97-AF65-F5344CB8AC3E}">
        <p14:creationId xmlns:p14="http://schemas.microsoft.com/office/powerpoint/2010/main" val="2221651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Key Characteristics</a:t>
            </a:r>
          </a:p>
        </p:txBody>
      </p:sp>
      <p:sp>
        <p:nvSpPr>
          <p:cNvPr id="2" name="Subtitle 1"/>
          <p:cNvSpPr>
            <a:spLocks noGrp="1"/>
          </p:cNvSpPr>
          <p:nvPr>
            <p:ph type="body" sz="quarter" idx="14"/>
          </p:nvPr>
        </p:nvSpPr>
        <p:spPr>
          <a:prstGeom prst="rect">
            <a:avLst/>
          </a:prstGeom>
        </p:spPr>
        <p:txBody>
          <a:bodyPr/>
          <a:lstStyle/>
          <a:p>
            <a:r>
              <a:rPr lang="en-GB" b="1" dirty="0"/>
              <a:t>Adjudicatory procedure</a:t>
            </a:r>
            <a:r>
              <a:rPr lang="en-GB" dirty="0"/>
              <a:t> </a:t>
            </a:r>
          </a:p>
          <a:p>
            <a:r>
              <a:rPr lang="en-GB" dirty="0"/>
              <a:t>Impartial procedure allowing each party to present its case</a:t>
            </a:r>
          </a:p>
          <a:p>
            <a:r>
              <a:rPr lang="en-GB" dirty="0"/>
              <a:t>The fundamental requirements of due process and natural justice are applicable.</a:t>
            </a:r>
          </a:p>
          <a:p>
            <a:r>
              <a:rPr lang="en-GB" dirty="0"/>
              <a:t>The courts at the seat of the arbitration have supervisory jurisdiction over arbitral tribunal in that jurisdiction.  </a:t>
            </a:r>
          </a:p>
          <a:p>
            <a:endParaRPr lang="en-GB" dirty="0"/>
          </a:p>
        </p:txBody>
      </p:sp>
    </p:spTree>
    <p:extLst>
      <p:ext uri="{BB962C8B-B14F-4D97-AF65-F5344CB8AC3E}">
        <p14:creationId xmlns:p14="http://schemas.microsoft.com/office/powerpoint/2010/main" val="923705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libri" pitchFamily="80" charset="0"/>
              </a:rPr>
              <a:t>Next Up: Intro to International Commercial Arbitration (continued)</a:t>
            </a:r>
            <a:endParaRPr lang="en-GB" dirty="0"/>
          </a:p>
        </p:txBody>
      </p:sp>
    </p:spTree>
    <p:extLst>
      <p:ext uri="{BB962C8B-B14F-4D97-AF65-F5344CB8AC3E}">
        <p14:creationId xmlns:p14="http://schemas.microsoft.com/office/powerpoint/2010/main" val="3310023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1">
      <a:dk1>
        <a:srgbClr val="8C0E1D"/>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lide 2: Text Only">
  <a:themeElements>
    <a:clrScheme name="Custom 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1384</TotalTime>
  <Words>1068</Words>
  <Application>Microsoft Macintosh PowerPoint</Application>
  <PresentationFormat>On-screen Show (4:3)</PresentationFormat>
  <Paragraphs>72</Paragraphs>
  <Slides>9</Slides>
  <Notes>2</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9</vt:i4>
      </vt:variant>
    </vt:vector>
  </HeadingPairs>
  <TitlesOfParts>
    <vt:vector size="15" baseType="lpstr">
      <vt:lpstr>Arial</vt:lpstr>
      <vt:lpstr>Calibri</vt:lpstr>
      <vt:lpstr>Lucida Grande</vt:lpstr>
      <vt:lpstr>Office Theme</vt:lpstr>
      <vt:lpstr>1_Office Theme</vt:lpstr>
      <vt:lpstr>Slide 2: Text Only</vt:lpstr>
      <vt:lpstr>Introduction to International Commercial Arbitration</vt:lpstr>
      <vt:lpstr>In this Section</vt:lpstr>
      <vt:lpstr>What is arbitration?</vt:lpstr>
      <vt:lpstr>What is arbitration?</vt:lpstr>
      <vt:lpstr>Key Characteristics</vt:lpstr>
      <vt:lpstr>Key Characteristics</vt:lpstr>
      <vt:lpstr>Key Characteristics</vt:lpstr>
      <vt:lpstr>Key Characteristics</vt:lpstr>
      <vt:lpstr>Next Up: Intro to International Commercial Arbitration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International Commercial Arbitration</dc:title>
  <dc:creator>Mukarrum Ahmed</dc:creator>
  <cp:lastModifiedBy>Ahmed, Mukarrum</cp:lastModifiedBy>
  <cp:revision>4</cp:revision>
  <dcterms:created xsi:type="dcterms:W3CDTF">2021-01-09T17:50:30Z</dcterms:created>
  <dcterms:modified xsi:type="dcterms:W3CDTF">2023-02-11T23:00:57Z</dcterms:modified>
</cp:coreProperties>
</file>