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handoutMasterIdLst>
    <p:handoutMasterId r:id="rId35"/>
  </p:handoutMasterIdLst>
  <p:sldIdLst>
    <p:sldId id="307" r:id="rId2"/>
    <p:sldId id="308" r:id="rId3"/>
    <p:sldId id="315" r:id="rId4"/>
    <p:sldId id="415" r:id="rId5"/>
    <p:sldId id="314" r:id="rId6"/>
    <p:sldId id="316" r:id="rId7"/>
    <p:sldId id="426" r:id="rId8"/>
    <p:sldId id="417" r:id="rId9"/>
    <p:sldId id="319" r:id="rId10"/>
    <p:sldId id="430" r:id="rId11"/>
    <p:sldId id="431" r:id="rId12"/>
    <p:sldId id="432" r:id="rId13"/>
    <p:sldId id="405" r:id="rId14"/>
    <p:sldId id="317" r:id="rId15"/>
    <p:sldId id="367" r:id="rId16"/>
    <p:sldId id="370" r:id="rId17"/>
    <p:sldId id="368" r:id="rId18"/>
    <p:sldId id="372" r:id="rId19"/>
    <p:sldId id="294" r:id="rId20"/>
    <p:sldId id="434" r:id="rId21"/>
    <p:sldId id="435" r:id="rId22"/>
    <p:sldId id="436" r:id="rId23"/>
    <p:sldId id="437" r:id="rId24"/>
    <p:sldId id="428" r:id="rId25"/>
    <p:sldId id="380" r:id="rId26"/>
    <p:sldId id="389" r:id="rId27"/>
    <p:sldId id="399" r:id="rId28"/>
    <p:sldId id="392" r:id="rId29"/>
    <p:sldId id="393" r:id="rId30"/>
    <p:sldId id="369" r:id="rId31"/>
    <p:sldId id="326" r:id="rId32"/>
    <p:sldId id="433" r:id="rId33"/>
  </p:sldIdLst>
  <p:sldSz cx="9144000" cy="6858000" type="screen4x3"/>
  <p:notesSz cx="6797675" cy="9928225"/>
  <p:defaultTextStyle>
    <a:defPPr>
      <a:defRPr lang="en-GB"/>
    </a:defPPr>
    <a:lvl1pPr algn="l" rtl="0" eaLnBrk="0" fontAlgn="base" hangingPunct="0">
      <a:spcBef>
        <a:spcPct val="0"/>
      </a:spcBef>
      <a:spcAft>
        <a:spcPct val="0"/>
      </a:spcAft>
      <a:defRPr sz="100" b="1" kern="1200">
        <a:solidFill>
          <a:schemeClr val="tx2"/>
        </a:solidFill>
        <a:latin typeface="Calibri" panose="020F0502020204030204" pitchFamily="34" charset="0"/>
        <a:ea typeface="+mn-ea"/>
        <a:cs typeface="+mn-cs"/>
      </a:defRPr>
    </a:lvl1pPr>
    <a:lvl2pPr marL="457200" algn="l" rtl="0" eaLnBrk="0" fontAlgn="base" hangingPunct="0">
      <a:spcBef>
        <a:spcPct val="0"/>
      </a:spcBef>
      <a:spcAft>
        <a:spcPct val="0"/>
      </a:spcAft>
      <a:defRPr sz="100" b="1" kern="1200">
        <a:solidFill>
          <a:schemeClr val="tx2"/>
        </a:solidFill>
        <a:latin typeface="Calibri" panose="020F0502020204030204" pitchFamily="34" charset="0"/>
        <a:ea typeface="+mn-ea"/>
        <a:cs typeface="+mn-cs"/>
      </a:defRPr>
    </a:lvl2pPr>
    <a:lvl3pPr marL="914400" algn="l" rtl="0" eaLnBrk="0" fontAlgn="base" hangingPunct="0">
      <a:spcBef>
        <a:spcPct val="0"/>
      </a:spcBef>
      <a:spcAft>
        <a:spcPct val="0"/>
      </a:spcAft>
      <a:defRPr sz="100" b="1" kern="1200">
        <a:solidFill>
          <a:schemeClr val="tx2"/>
        </a:solidFill>
        <a:latin typeface="Calibri" panose="020F0502020204030204" pitchFamily="34" charset="0"/>
        <a:ea typeface="+mn-ea"/>
        <a:cs typeface="+mn-cs"/>
      </a:defRPr>
    </a:lvl3pPr>
    <a:lvl4pPr marL="1371600" algn="l" rtl="0" eaLnBrk="0" fontAlgn="base" hangingPunct="0">
      <a:spcBef>
        <a:spcPct val="0"/>
      </a:spcBef>
      <a:spcAft>
        <a:spcPct val="0"/>
      </a:spcAft>
      <a:defRPr sz="100" b="1" kern="1200">
        <a:solidFill>
          <a:schemeClr val="tx2"/>
        </a:solidFill>
        <a:latin typeface="Calibri" panose="020F0502020204030204" pitchFamily="34" charset="0"/>
        <a:ea typeface="+mn-ea"/>
        <a:cs typeface="+mn-cs"/>
      </a:defRPr>
    </a:lvl4pPr>
    <a:lvl5pPr marL="1828800" algn="l" rtl="0" eaLnBrk="0" fontAlgn="base" hangingPunct="0">
      <a:spcBef>
        <a:spcPct val="0"/>
      </a:spcBef>
      <a:spcAft>
        <a:spcPct val="0"/>
      </a:spcAft>
      <a:defRPr sz="100" b="1" kern="1200">
        <a:solidFill>
          <a:schemeClr val="tx2"/>
        </a:solidFill>
        <a:latin typeface="Calibri" panose="020F0502020204030204" pitchFamily="34" charset="0"/>
        <a:ea typeface="+mn-ea"/>
        <a:cs typeface="+mn-cs"/>
      </a:defRPr>
    </a:lvl5pPr>
    <a:lvl6pPr marL="2286000" algn="l" defTabSz="914400" rtl="0" eaLnBrk="1" latinLnBrk="0" hangingPunct="1">
      <a:defRPr sz="100" b="1" kern="1200">
        <a:solidFill>
          <a:schemeClr val="tx2"/>
        </a:solidFill>
        <a:latin typeface="Calibri" panose="020F0502020204030204" pitchFamily="34" charset="0"/>
        <a:ea typeface="+mn-ea"/>
        <a:cs typeface="+mn-cs"/>
      </a:defRPr>
    </a:lvl6pPr>
    <a:lvl7pPr marL="2743200" algn="l" defTabSz="914400" rtl="0" eaLnBrk="1" latinLnBrk="0" hangingPunct="1">
      <a:defRPr sz="100" b="1" kern="1200">
        <a:solidFill>
          <a:schemeClr val="tx2"/>
        </a:solidFill>
        <a:latin typeface="Calibri" panose="020F0502020204030204" pitchFamily="34" charset="0"/>
        <a:ea typeface="+mn-ea"/>
        <a:cs typeface="+mn-cs"/>
      </a:defRPr>
    </a:lvl7pPr>
    <a:lvl8pPr marL="3200400" algn="l" defTabSz="914400" rtl="0" eaLnBrk="1" latinLnBrk="0" hangingPunct="1">
      <a:defRPr sz="100" b="1" kern="1200">
        <a:solidFill>
          <a:schemeClr val="tx2"/>
        </a:solidFill>
        <a:latin typeface="Calibri" panose="020F0502020204030204" pitchFamily="34" charset="0"/>
        <a:ea typeface="+mn-ea"/>
        <a:cs typeface="+mn-cs"/>
      </a:defRPr>
    </a:lvl8pPr>
    <a:lvl9pPr marL="3657600" algn="l" defTabSz="914400" rtl="0" eaLnBrk="1" latinLnBrk="0" hangingPunct="1">
      <a:defRPr sz="100" b="1" kern="1200">
        <a:solidFill>
          <a:schemeClr val="tx2"/>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48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281D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58" autoAdjust="0"/>
    <p:restoredTop sz="94674"/>
  </p:normalViewPr>
  <p:slideViewPr>
    <p:cSldViewPr>
      <p:cViewPr varScale="1">
        <p:scale>
          <a:sx n="183" d="100"/>
          <a:sy n="183" d="100"/>
        </p:scale>
        <p:origin x="3360" y="192"/>
      </p:cViewPr>
      <p:guideLst>
        <p:guide orient="horz" pos="482"/>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9D45DCD-2CAA-4588-AAF6-B20772420EFE}"/>
              </a:ext>
            </a:extLst>
          </p:cNvPr>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2153" tIns="46077" rIns="92153" bIns="46077" numCol="1" anchor="t" anchorCtr="0" compatLnSpc="1">
            <a:prstTxWarp prst="textNoShape">
              <a:avLst/>
            </a:prstTxWarp>
          </a:bodyPr>
          <a:lstStyle>
            <a:lvl1pPr defTabSz="920750" eaLnBrk="0" hangingPunct="0">
              <a:lnSpc>
                <a:spcPct val="100000"/>
              </a:lnSpc>
              <a:defRPr sz="1200" b="0">
                <a:solidFill>
                  <a:schemeClr val="tx1"/>
                </a:solidFill>
              </a:defRPr>
            </a:lvl1pPr>
          </a:lstStyle>
          <a:p>
            <a:pPr>
              <a:defRPr/>
            </a:pPr>
            <a:endParaRPr lang="en-GB"/>
          </a:p>
        </p:txBody>
      </p:sp>
      <p:sp>
        <p:nvSpPr>
          <p:cNvPr id="70659" name="Rectangle 3">
            <a:extLst>
              <a:ext uri="{FF2B5EF4-FFF2-40B4-BE49-F238E27FC236}">
                <a16:creationId xmlns:a16="http://schemas.microsoft.com/office/drawing/2014/main" id="{064A8565-CA35-432B-965D-0810BB03ED9F}"/>
              </a:ext>
            </a:extLst>
          </p:cNvPr>
          <p:cNvSpPr>
            <a:spLocks noGrp="1" noChangeArrowheads="1"/>
          </p:cNvSpPr>
          <p:nvPr>
            <p:ph type="dt" sz="quarter" idx="1"/>
          </p:nvPr>
        </p:nvSpPr>
        <p:spPr bwMode="auto">
          <a:xfrm>
            <a:off x="3851275" y="0"/>
            <a:ext cx="2944813" cy="496888"/>
          </a:xfrm>
          <a:prstGeom prst="rect">
            <a:avLst/>
          </a:prstGeom>
          <a:noFill/>
          <a:ln w="9525">
            <a:noFill/>
            <a:miter lim="800000"/>
            <a:headEnd/>
            <a:tailEnd/>
          </a:ln>
          <a:effectLst/>
        </p:spPr>
        <p:txBody>
          <a:bodyPr vert="horz" wrap="square" lIns="92153" tIns="46077" rIns="92153" bIns="46077" numCol="1" anchor="t" anchorCtr="0" compatLnSpc="1">
            <a:prstTxWarp prst="textNoShape">
              <a:avLst/>
            </a:prstTxWarp>
          </a:bodyPr>
          <a:lstStyle>
            <a:lvl1pPr algn="r" defTabSz="920750" eaLnBrk="0" hangingPunct="0">
              <a:lnSpc>
                <a:spcPct val="100000"/>
              </a:lnSpc>
              <a:defRPr sz="1200" b="0">
                <a:solidFill>
                  <a:schemeClr val="tx1"/>
                </a:solidFill>
              </a:defRPr>
            </a:lvl1pPr>
          </a:lstStyle>
          <a:p>
            <a:pPr>
              <a:defRPr/>
            </a:pPr>
            <a:fld id="{D26B4B96-CC09-4E66-9689-A658002C8A9F}" type="datetimeFigureOut">
              <a:rPr lang="en-GB"/>
              <a:pPr>
                <a:defRPr/>
              </a:pPr>
              <a:t>19/01/2026</a:t>
            </a:fld>
            <a:endParaRPr lang="en-GB"/>
          </a:p>
        </p:txBody>
      </p:sp>
      <p:sp>
        <p:nvSpPr>
          <p:cNvPr id="70660" name="Rectangle 4">
            <a:extLst>
              <a:ext uri="{FF2B5EF4-FFF2-40B4-BE49-F238E27FC236}">
                <a16:creationId xmlns:a16="http://schemas.microsoft.com/office/drawing/2014/main" id="{F8AA88CE-E398-4FCF-B4C1-CD8259AACB91}"/>
              </a:ext>
            </a:extLst>
          </p:cNvPr>
          <p:cNvSpPr>
            <a:spLocks noGrp="1" noChangeArrowheads="1"/>
          </p:cNvSpPr>
          <p:nvPr>
            <p:ph type="ftr" sz="quarter" idx="2"/>
          </p:nvPr>
        </p:nvSpPr>
        <p:spPr bwMode="auto">
          <a:xfrm>
            <a:off x="0" y="9429750"/>
            <a:ext cx="2944813" cy="496888"/>
          </a:xfrm>
          <a:prstGeom prst="rect">
            <a:avLst/>
          </a:prstGeom>
          <a:noFill/>
          <a:ln w="9525">
            <a:noFill/>
            <a:miter lim="800000"/>
            <a:headEnd/>
            <a:tailEnd/>
          </a:ln>
          <a:effectLst/>
        </p:spPr>
        <p:txBody>
          <a:bodyPr vert="horz" wrap="square" lIns="92153" tIns="46077" rIns="92153" bIns="46077" numCol="1" anchor="b" anchorCtr="0" compatLnSpc="1">
            <a:prstTxWarp prst="textNoShape">
              <a:avLst/>
            </a:prstTxWarp>
          </a:bodyPr>
          <a:lstStyle>
            <a:lvl1pPr defTabSz="920750" eaLnBrk="0" hangingPunct="0">
              <a:lnSpc>
                <a:spcPct val="100000"/>
              </a:lnSpc>
              <a:defRPr sz="1200" b="0">
                <a:solidFill>
                  <a:schemeClr val="tx1"/>
                </a:solidFill>
              </a:defRPr>
            </a:lvl1pPr>
          </a:lstStyle>
          <a:p>
            <a:pPr>
              <a:defRPr/>
            </a:pPr>
            <a:endParaRPr lang="en-GB"/>
          </a:p>
        </p:txBody>
      </p:sp>
      <p:sp>
        <p:nvSpPr>
          <p:cNvPr id="70661" name="Rectangle 5">
            <a:extLst>
              <a:ext uri="{FF2B5EF4-FFF2-40B4-BE49-F238E27FC236}">
                <a16:creationId xmlns:a16="http://schemas.microsoft.com/office/drawing/2014/main" id="{7AA634BF-3F59-4B2C-A364-9ED1BE9987B6}"/>
              </a:ext>
            </a:extLst>
          </p:cNvPr>
          <p:cNvSpPr>
            <a:spLocks noGrp="1" noChangeArrowheads="1"/>
          </p:cNvSpPr>
          <p:nvPr>
            <p:ph type="sldNum" sz="quarter" idx="3"/>
          </p:nvPr>
        </p:nvSpPr>
        <p:spPr bwMode="auto">
          <a:xfrm>
            <a:off x="3851275" y="9429750"/>
            <a:ext cx="2944813" cy="496888"/>
          </a:xfrm>
          <a:prstGeom prst="rect">
            <a:avLst/>
          </a:prstGeom>
          <a:noFill/>
          <a:ln w="9525">
            <a:noFill/>
            <a:miter lim="800000"/>
            <a:headEnd/>
            <a:tailEnd/>
          </a:ln>
          <a:effectLst/>
        </p:spPr>
        <p:txBody>
          <a:bodyPr vert="horz" wrap="square" lIns="92153" tIns="46077" rIns="92153" bIns="46077" numCol="1" anchor="b" anchorCtr="0" compatLnSpc="1">
            <a:prstTxWarp prst="textNoShape">
              <a:avLst/>
            </a:prstTxWarp>
          </a:bodyPr>
          <a:lstStyle>
            <a:lvl1pPr algn="r" defTabSz="920750">
              <a:defRPr sz="1200" b="0" smtClean="0">
                <a:solidFill>
                  <a:schemeClr val="tx1"/>
                </a:solidFill>
              </a:defRPr>
            </a:lvl1pPr>
          </a:lstStyle>
          <a:p>
            <a:pPr>
              <a:defRPr/>
            </a:pPr>
            <a:fld id="{4FCA1841-3D38-4D84-86D5-09A6E7761BE4}" type="slidenum">
              <a:rPr lang="en-GB" altLang="en-US"/>
              <a:pPr>
                <a:defRPr/>
              </a:pPr>
              <a:t>‹#›</a:t>
            </a:fld>
            <a:endParaRPr lang="en-GB" altLang="en-US"/>
          </a:p>
        </p:txBody>
      </p:sp>
    </p:spTree>
    <p:extLst>
      <p:ext uri="{BB962C8B-B14F-4D97-AF65-F5344CB8AC3E}">
        <p14:creationId xmlns:p14="http://schemas.microsoft.com/office/powerpoint/2010/main" val="11692016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90ECDA59-C764-4D9C-B6EF-908BC36766EE}"/>
              </a:ext>
            </a:extLst>
          </p:cNvPr>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defRPr sz="1200" b="0">
                <a:solidFill>
                  <a:schemeClr val="tx1"/>
                </a:solidFill>
              </a:defRPr>
            </a:lvl1pPr>
          </a:lstStyle>
          <a:p>
            <a:pPr>
              <a:defRPr/>
            </a:pPr>
            <a:endParaRPr lang="en-GB"/>
          </a:p>
        </p:txBody>
      </p:sp>
      <p:sp>
        <p:nvSpPr>
          <p:cNvPr id="134147" name="Rectangle 3">
            <a:extLst>
              <a:ext uri="{FF2B5EF4-FFF2-40B4-BE49-F238E27FC236}">
                <a16:creationId xmlns:a16="http://schemas.microsoft.com/office/drawing/2014/main" id="{7A5DF1D8-B427-409B-A09A-83B989D6361E}"/>
              </a:ext>
            </a:extLst>
          </p:cNvPr>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defRPr sz="1200" b="0">
                <a:solidFill>
                  <a:schemeClr val="tx1"/>
                </a:solidFill>
              </a:defRPr>
            </a:lvl1pPr>
          </a:lstStyle>
          <a:p>
            <a:pPr>
              <a:defRPr/>
            </a:pPr>
            <a:fld id="{5EC63E8F-727D-4140-A6F4-12889A69D0B7}" type="datetimeFigureOut">
              <a:rPr lang="en-GB"/>
              <a:pPr>
                <a:defRPr/>
              </a:pPr>
              <a:t>19/01/2026</a:t>
            </a:fld>
            <a:endParaRPr lang="en-GB"/>
          </a:p>
        </p:txBody>
      </p:sp>
      <p:sp>
        <p:nvSpPr>
          <p:cNvPr id="3076" name="Rectangle 4">
            <a:extLst>
              <a:ext uri="{FF2B5EF4-FFF2-40B4-BE49-F238E27FC236}">
                <a16:creationId xmlns:a16="http://schemas.microsoft.com/office/drawing/2014/main" id="{D1D99613-F7DA-42A2-81F8-36BA05559650}"/>
              </a:ext>
            </a:extLst>
          </p:cNvPr>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9" name="Rectangle 5">
            <a:extLst>
              <a:ext uri="{FF2B5EF4-FFF2-40B4-BE49-F238E27FC236}">
                <a16:creationId xmlns:a16="http://schemas.microsoft.com/office/drawing/2014/main" id="{0C12A4D2-E2D5-4779-8FED-104C09A1A3B1}"/>
              </a:ext>
            </a:extLst>
          </p:cNvPr>
          <p:cNvSpPr>
            <a:spLocks noGrp="1" noChangeArrowheads="1"/>
          </p:cNvSpPr>
          <p:nvPr>
            <p:ph type="body" sz="quarter" idx="3"/>
          </p:nvPr>
        </p:nvSpPr>
        <p:spPr bwMode="auto">
          <a:xfrm>
            <a:off x="679450" y="4716463"/>
            <a:ext cx="5438775"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34150" name="Rectangle 6">
            <a:extLst>
              <a:ext uri="{FF2B5EF4-FFF2-40B4-BE49-F238E27FC236}">
                <a16:creationId xmlns:a16="http://schemas.microsoft.com/office/drawing/2014/main" id="{B4AE59FB-5FDE-47D7-A9CF-4A6820CE653C}"/>
              </a:ext>
            </a:extLst>
          </p:cNvPr>
          <p:cNvSpPr>
            <a:spLocks noGrp="1" noChangeArrowheads="1"/>
          </p:cNvSpPr>
          <p:nvPr>
            <p:ph type="ftr" sz="quarter" idx="4"/>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defRPr sz="1200" b="0">
                <a:solidFill>
                  <a:schemeClr val="tx1"/>
                </a:solidFill>
              </a:defRPr>
            </a:lvl1pPr>
          </a:lstStyle>
          <a:p>
            <a:pPr>
              <a:defRPr/>
            </a:pPr>
            <a:endParaRPr lang="en-GB"/>
          </a:p>
        </p:txBody>
      </p:sp>
      <p:sp>
        <p:nvSpPr>
          <p:cNvPr id="134151" name="Rectangle 7">
            <a:extLst>
              <a:ext uri="{FF2B5EF4-FFF2-40B4-BE49-F238E27FC236}">
                <a16:creationId xmlns:a16="http://schemas.microsoft.com/office/drawing/2014/main" id="{8650D161-C289-4BA0-AC8B-558C5FA77999}"/>
              </a:ext>
            </a:extLst>
          </p:cNvPr>
          <p:cNvSpPr>
            <a:spLocks noGrp="1" noChangeArrowheads="1"/>
          </p:cNvSpPr>
          <p:nvPr>
            <p:ph type="sldNum" sz="quarter" idx="5"/>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solidFill>
                  <a:schemeClr val="tx1"/>
                </a:solidFill>
              </a:defRPr>
            </a:lvl1pPr>
          </a:lstStyle>
          <a:p>
            <a:pPr>
              <a:defRPr/>
            </a:pPr>
            <a:fld id="{48BF0126-0955-4B74-8EF9-447785A2094C}" type="slidenum">
              <a:rPr lang="en-GB" altLang="en-US"/>
              <a:pPr>
                <a:defRPr/>
              </a:pPr>
              <a:t>‹#›</a:t>
            </a:fld>
            <a:endParaRPr lang="en-GB" altLang="en-US"/>
          </a:p>
        </p:txBody>
      </p:sp>
    </p:spTree>
    <p:extLst>
      <p:ext uri="{BB962C8B-B14F-4D97-AF65-F5344CB8AC3E}">
        <p14:creationId xmlns:p14="http://schemas.microsoft.com/office/powerpoint/2010/main" val="12735399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5ECA81F-9640-40DE-AD80-57AD77D55B4D}"/>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BE86D9CC-2D9B-42E4-96E7-2121DFCD75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17E9D4A-D6C9-4939-8A26-6BEB3D209AF5}"/>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EBBA53AF-6E4F-4419-8CB9-D808EAEE2F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52A1D-6A58-F014-BF39-28213133F98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59FA6BC-D474-1153-3441-456916A1D13D}"/>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8ABBB834-1D22-B59D-DB0B-3E97DC9F06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961225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56931B2-7BFB-4325-B74D-3069E1DEE4F1}"/>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A9AB4A19-682F-4616-80AB-3861023FC7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CAE7BBC-9C63-488F-A5BA-5CD7712824D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4116CCF4-4DB8-4F80-AA24-46BB16D6FE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9B47443-97AB-46F5-975B-BABD212CD27D}"/>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4B38EFB0-B3BE-4389-80AA-B965CECF5513}"/>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AC5A353A-6C14-4B2A-99E6-C6F9D471C089}"/>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eaLnBrk="1" hangingPunct="1">
                  <a:defRPr/>
                </a:pPr>
                <a:endParaRPr lang="en-US" altLang="en-US"/>
              </a:p>
            </p:txBody>
          </p:sp>
          <p:sp>
            <p:nvSpPr>
              <p:cNvPr id="13" name="Rectangle 5">
                <a:extLst>
                  <a:ext uri="{FF2B5EF4-FFF2-40B4-BE49-F238E27FC236}">
                    <a16:creationId xmlns:a16="http://schemas.microsoft.com/office/drawing/2014/main" id="{5B34EA3A-5B2F-49C2-9B79-BAC07B9F7ECC}"/>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eaLnBrk="1" hangingPunct="1">
                  <a:defRPr/>
                </a:pPr>
                <a:endParaRPr lang="en-US" altLang="en-US"/>
              </a:p>
            </p:txBody>
          </p:sp>
        </p:grpSp>
        <p:grpSp>
          <p:nvGrpSpPr>
            <p:cNvPr id="6" name="Group 6">
              <a:extLst>
                <a:ext uri="{FF2B5EF4-FFF2-40B4-BE49-F238E27FC236}">
                  <a16:creationId xmlns:a16="http://schemas.microsoft.com/office/drawing/2014/main" id="{CBE330D5-765D-42A3-B0E7-2FEC5F40DD73}"/>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155184D5-DB33-42E9-BEA6-822312F62F28}"/>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eaLnBrk="1" hangingPunct="1">
                  <a:defRPr/>
                </a:pPr>
                <a:endParaRPr lang="en-US" altLang="en-US"/>
              </a:p>
            </p:txBody>
          </p:sp>
          <p:sp>
            <p:nvSpPr>
              <p:cNvPr id="11" name="Rectangle 8">
                <a:extLst>
                  <a:ext uri="{FF2B5EF4-FFF2-40B4-BE49-F238E27FC236}">
                    <a16:creationId xmlns:a16="http://schemas.microsoft.com/office/drawing/2014/main" id="{07A6B648-3EC9-43F6-BD51-33F448DD5121}"/>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eaLnBrk="1" hangingPunct="1">
                  <a:defRPr/>
                </a:pPr>
                <a:endParaRPr lang="en-US" altLang="en-US"/>
              </a:p>
            </p:txBody>
          </p:sp>
        </p:grpSp>
        <p:sp>
          <p:nvSpPr>
            <p:cNvPr id="7" name="Rectangle 9">
              <a:extLst>
                <a:ext uri="{FF2B5EF4-FFF2-40B4-BE49-F238E27FC236}">
                  <a16:creationId xmlns:a16="http://schemas.microsoft.com/office/drawing/2014/main" id="{0FC8DF39-F9FD-4E2D-8EEF-AE8DD7D3A93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eaLnBrk="1" hangingPunct="1">
                <a:defRPr/>
              </a:pPr>
              <a:endParaRPr lang="en-US" altLang="en-US"/>
            </a:p>
          </p:txBody>
        </p:sp>
        <p:sp>
          <p:nvSpPr>
            <p:cNvPr id="8" name="Rectangle 10">
              <a:extLst>
                <a:ext uri="{FF2B5EF4-FFF2-40B4-BE49-F238E27FC236}">
                  <a16:creationId xmlns:a16="http://schemas.microsoft.com/office/drawing/2014/main" id="{1420E0D4-54BC-4869-9FB1-7BA59C38F0C4}"/>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eaLnBrk="1" hangingPunct="1">
                <a:defRPr/>
              </a:pPr>
              <a:endParaRPr lang="en-US" altLang="en-US"/>
            </a:p>
          </p:txBody>
        </p:sp>
        <p:sp>
          <p:nvSpPr>
            <p:cNvPr id="9" name="Rectangle 11">
              <a:extLst>
                <a:ext uri="{FF2B5EF4-FFF2-40B4-BE49-F238E27FC236}">
                  <a16:creationId xmlns:a16="http://schemas.microsoft.com/office/drawing/2014/main" id="{E7A4EE35-182D-4B8E-AB82-73A18F4E9FB5}"/>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eaLnBrk="1" hangingPunct="1">
                <a:defRPr/>
              </a:pPr>
              <a:endParaRPr lang="en-US" altLang="en-US"/>
            </a:p>
          </p:txBody>
        </p:sp>
      </p:grpSp>
      <p:sp>
        <p:nvSpPr>
          <p:cNvPr id="49164"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49165" name="Rectangle 13"/>
          <p:cNvSpPr>
            <a:spLocks noGrp="1" noChangeArrowheads="1"/>
          </p:cNvSpPr>
          <p:nvPr>
            <p:ph type="subTitle" idx="1"/>
          </p:nvPr>
        </p:nvSpPr>
        <p:spPr>
          <a:xfrm>
            <a:off x="1371600" y="3886200"/>
            <a:ext cx="6400800" cy="1752600"/>
          </a:xfrm>
        </p:spPr>
        <p:txBody>
          <a:bodyPr/>
          <a:lstStyle>
            <a:lvl1pPr algn="ctr">
              <a:defRPr/>
            </a:lvl1pPr>
          </a:lstStyle>
          <a:p>
            <a:r>
              <a:rPr lang="en-US"/>
              <a:t>Click to edit Master subtitle style</a:t>
            </a:r>
          </a:p>
        </p:txBody>
      </p:sp>
      <p:sp>
        <p:nvSpPr>
          <p:cNvPr id="14" name="Rectangle 14">
            <a:extLst>
              <a:ext uri="{FF2B5EF4-FFF2-40B4-BE49-F238E27FC236}">
                <a16:creationId xmlns:a16="http://schemas.microsoft.com/office/drawing/2014/main" id="{61301CBA-C27C-4344-901B-771E5A416115}"/>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CC82B1BC-5064-491F-94DD-41D607274E4A}" type="datetimeFigureOut">
              <a:rPr lang="en-US"/>
              <a:pPr>
                <a:defRPr/>
              </a:pPr>
              <a:t>1/19/26</a:t>
            </a:fld>
            <a:endParaRPr lang="en-US"/>
          </a:p>
        </p:txBody>
      </p:sp>
      <p:sp>
        <p:nvSpPr>
          <p:cNvPr id="15" name="Rectangle 15">
            <a:extLst>
              <a:ext uri="{FF2B5EF4-FFF2-40B4-BE49-F238E27FC236}">
                <a16:creationId xmlns:a16="http://schemas.microsoft.com/office/drawing/2014/main" id="{AC448C9C-DB1D-4119-9D4F-AD29220CAF88}"/>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6" name="Rectangle 16">
            <a:extLst>
              <a:ext uri="{FF2B5EF4-FFF2-40B4-BE49-F238E27FC236}">
                <a16:creationId xmlns:a16="http://schemas.microsoft.com/office/drawing/2014/main" id="{6A30A86B-3E01-4E63-B48F-F5AAB18D063F}"/>
              </a:ext>
            </a:extLst>
          </p:cNvPr>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F127D882-57D1-4F1C-A565-9A8EB45D82F1}" type="slidenum">
              <a:rPr lang="en-US" altLang="en-US"/>
              <a:pPr>
                <a:defRPr/>
              </a:pPr>
              <a:t>‹#›</a:t>
            </a:fld>
            <a:endParaRPr lang="en-US" altLang="en-US"/>
          </a:p>
        </p:txBody>
      </p:sp>
    </p:spTree>
    <p:extLst>
      <p:ext uri="{BB962C8B-B14F-4D97-AF65-F5344CB8AC3E}">
        <p14:creationId xmlns:p14="http://schemas.microsoft.com/office/powerpoint/2010/main" val="4208421238"/>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2FACE98-CFA3-4851-BDE5-F748BC752C47}"/>
              </a:ext>
            </a:extLst>
          </p:cNvPr>
          <p:cNvSpPr>
            <a:spLocks noGrp="1" noChangeArrowheads="1"/>
          </p:cNvSpPr>
          <p:nvPr>
            <p:ph type="dt" sz="half" idx="10"/>
          </p:nvPr>
        </p:nvSpPr>
        <p:spPr>
          <a:ln/>
        </p:spPr>
        <p:txBody>
          <a:bodyPr/>
          <a:lstStyle>
            <a:lvl1pPr>
              <a:defRPr/>
            </a:lvl1pPr>
          </a:lstStyle>
          <a:p>
            <a:pPr>
              <a:defRPr/>
            </a:pPr>
            <a:fld id="{E074253F-94A1-4544-A1C3-8D0AABEE0990}" type="datetimeFigureOut">
              <a:rPr lang="en-US"/>
              <a:pPr>
                <a:defRPr/>
              </a:pPr>
              <a:t>1/19/26</a:t>
            </a:fld>
            <a:endParaRPr lang="en-US"/>
          </a:p>
        </p:txBody>
      </p:sp>
      <p:sp>
        <p:nvSpPr>
          <p:cNvPr id="5" name="Rectangle 12">
            <a:extLst>
              <a:ext uri="{FF2B5EF4-FFF2-40B4-BE49-F238E27FC236}">
                <a16:creationId xmlns:a16="http://schemas.microsoft.com/office/drawing/2014/main" id="{0EFC3039-D1B5-4BBE-A3EA-5029234F244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B49F96C-2BB4-48F1-AC30-6B550C37EE62}"/>
              </a:ext>
            </a:extLst>
          </p:cNvPr>
          <p:cNvSpPr>
            <a:spLocks noGrp="1" noChangeArrowheads="1"/>
          </p:cNvSpPr>
          <p:nvPr>
            <p:ph type="sldNum" sz="quarter" idx="12"/>
          </p:nvPr>
        </p:nvSpPr>
        <p:spPr>
          <a:ln/>
        </p:spPr>
        <p:txBody>
          <a:bodyPr/>
          <a:lstStyle>
            <a:lvl1pPr>
              <a:defRPr/>
            </a:lvl1pPr>
          </a:lstStyle>
          <a:p>
            <a:pPr>
              <a:defRPr/>
            </a:pPr>
            <a:fld id="{27C0A787-6E45-47C9-A02D-DE2844C51281}" type="slidenum">
              <a:rPr lang="en-US" altLang="en-US"/>
              <a:pPr>
                <a:defRPr/>
              </a:pPr>
              <a:t>‹#›</a:t>
            </a:fld>
            <a:endParaRPr lang="en-US" altLang="en-US"/>
          </a:p>
        </p:txBody>
      </p:sp>
    </p:spTree>
    <p:extLst>
      <p:ext uri="{BB962C8B-B14F-4D97-AF65-F5344CB8AC3E}">
        <p14:creationId xmlns:p14="http://schemas.microsoft.com/office/powerpoint/2010/main" val="1308425777"/>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F3D3777C-3F91-43D2-899B-45B17AF16EC2}"/>
              </a:ext>
            </a:extLst>
          </p:cNvPr>
          <p:cNvSpPr>
            <a:spLocks noGrp="1" noChangeArrowheads="1"/>
          </p:cNvSpPr>
          <p:nvPr>
            <p:ph type="dt" sz="half" idx="10"/>
          </p:nvPr>
        </p:nvSpPr>
        <p:spPr>
          <a:ln/>
        </p:spPr>
        <p:txBody>
          <a:bodyPr/>
          <a:lstStyle>
            <a:lvl1pPr>
              <a:defRPr/>
            </a:lvl1pPr>
          </a:lstStyle>
          <a:p>
            <a:pPr>
              <a:defRPr/>
            </a:pPr>
            <a:fld id="{5554861F-00CF-447F-ABB1-565D28943317}" type="datetimeFigureOut">
              <a:rPr lang="en-US"/>
              <a:pPr>
                <a:defRPr/>
              </a:pPr>
              <a:t>1/19/26</a:t>
            </a:fld>
            <a:endParaRPr lang="en-US"/>
          </a:p>
        </p:txBody>
      </p:sp>
      <p:sp>
        <p:nvSpPr>
          <p:cNvPr id="5" name="Rectangle 12">
            <a:extLst>
              <a:ext uri="{FF2B5EF4-FFF2-40B4-BE49-F238E27FC236}">
                <a16:creationId xmlns:a16="http://schemas.microsoft.com/office/drawing/2014/main" id="{BD39C3E1-FB2A-40ED-B005-F794565F7B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20A0AB9-590E-4FF0-9DC7-9979C19A6D21}"/>
              </a:ext>
            </a:extLst>
          </p:cNvPr>
          <p:cNvSpPr>
            <a:spLocks noGrp="1" noChangeArrowheads="1"/>
          </p:cNvSpPr>
          <p:nvPr>
            <p:ph type="sldNum" sz="quarter" idx="12"/>
          </p:nvPr>
        </p:nvSpPr>
        <p:spPr>
          <a:ln/>
        </p:spPr>
        <p:txBody>
          <a:bodyPr/>
          <a:lstStyle>
            <a:lvl1pPr>
              <a:defRPr/>
            </a:lvl1pPr>
          </a:lstStyle>
          <a:p>
            <a:pPr>
              <a:defRPr/>
            </a:pPr>
            <a:fld id="{C0216210-1AD5-4607-9E1E-2DF68AFDC7EC}" type="slidenum">
              <a:rPr lang="en-US" altLang="en-US"/>
              <a:pPr>
                <a:defRPr/>
              </a:pPr>
              <a:t>‹#›</a:t>
            </a:fld>
            <a:endParaRPr lang="en-US" altLang="en-US"/>
          </a:p>
        </p:txBody>
      </p:sp>
    </p:spTree>
    <p:extLst>
      <p:ext uri="{BB962C8B-B14F-4D97-AF65-F5344CB8AC3E}">
        <p14:creationId xmlns:p14="http://schemas.microsoft.com/office/powerpoint/2010/main" val="2433899752"/>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7450" y="19891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9850" y="19891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2E1BF490-3F42-43F5-966B-FE93FF75D652}"/>
              </a:ext>
            </a:extLst>
          </p:cNvPr>
          <p:cNvSpPr>
            <a:spLocks noGrp="1" noChangeArrowheads="1"/>
          </p:cNvSpPr>
          <p:nvPr>
            <p:ph type="dt" sz="half" idx="10"/>
          </p:nvPr>
        </p:nvSpPr>
        <p:spPr>
          <a:ln/>
        </p:spPr>
        <p:txBody>
          <a:bodyPr/>
          <a:lstStyle>
            <a:lvl1pPr>
              <a:defRPr/>
            </a:lvl1pPr>
          </a:lstStyle>
          <a:p>
            <a:pPr>
              <a:defRPr/>
            </a:pPr>
            <a:fld id="{D7AAD60F-6BA9-4331-B1FA-81B769B665A4}" type="datetimeFigureOut">
              <a:rPr lang="en-US"/>
              <a:pPr>
                <a:defRPr/>
              </a:pPr>
              <a:t>1/19/26</a:t>
            </a:fld>
            <a:endParaRPr lang="en-US"/>
          </a:p>
        </p:txBody>
      </p:sp>
      <p:sp>
        <p:nvSpPr>
          <p:cNvPr id="6" name="Rectangle 12">
            <a:extLst>
              <a:ext uri="{FF2B5EF4-FFF2-40B4-BE49-F238E27FC236}">
                <a16:creationId xmlns:a16="http://schemas.microsoft.com/office/drawing/2014/main" id="{3FCF7AB2-8E31-4C29-BB45-F079A3FB9B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5FA2296-EE82-42FF-BEF2-C916F8C3A5C3}"/>
              </a:ext>
            </a:extLst>
          </p:cNvPr>
          <p:cNvSpPr>
            <a:spLocks noGrp="1" noChangeArrowheads="1"/>
          </p:cNvSpPr>
          <p:nvPr>
            <p:ph type="sldNum" sz="quarter" idx="12"/>
          </p:nvPr>
        </p:nvSpPr>
        <p:spPr>
          <a:ln/>
        </p:spPr>
        <p:txBody>
          <a:bodyPr/>
          <a:lstStyle>
            <a:lvl1pPr>
              <a:defRPr/>
            </a:lvl1pPr>
          </a:lstStyle>
          <a:p>
            <a:pPr>
              <a:defRPr/>
            </a:pPr>
            <a:fld id="{F37963C7-E800-4FA0-B82C-1B730886F9B9}" type="slidenum">
              <a:rPr lang="en-US" altLang="en-US"/>
              <a:pPr>
                <a:defRPr/>
              </a:pPr>
              <a:t>‹#›</a:t>
            </a:fld>
            <a:endParaRPr lang="en-US" altLang="en-US"/>
          </a:p>
        </p:txBody>
      </p:sp>
    </p:spTree>
    <p:extLst>
      <p:ext uri="{BB962C8B-B14F-4D97-AF65-F5344CB8AC3E}">
        <p14:creationId xmlns:p14="http://schemas.microsoft.com/office/powerpoint/2010/main" val="2055650000"/>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79724B45-0FEF-49E1-B046-22671C1F2763}"/>
              </a:ext>
            </a:extLst>
          </p:cNvPr>
          <p:cNvSpPr>
            <a:spLocks noGrp="1" noChangeArrowheads="1"/>
          </p:cNvSpPr>
          <p:nvPr>
            <p:ph type="dt" sz="half" idx="10"/>
          </p:nvPr>
        </p:nvSpPr>
        <p:spPr>
          <a:ln/>
        </p:spPr>
        <p:txBody>
          <a:bodyPr/>
          <a:lstStyle>
            <a:lvl1pPr>
              <a:defRPr/>
            </a:lvl1pPr>
          </a:lstStyle>
          <a:p>
            <a:pPr>
              <a:defRPr/>
            </a:pPr>
            <a:fld id="{5EB09914-1C91-4576-B4A5-917BEA39C0D1}" type="datetimeFigureOut">
              <a:rPr lang="en-US"/>
              <a:pPr>
                <a:defRPr/>
              </a:pPr>
              <a:t>1/19/26</a:t>
            </a:fld>
            <a:endParaRPr lang="en-US"/>
          </a:p>
        </p:txBody>
      </p:sp>
      <p:sp>
        <p:nvSpPr>
          <p:cNvPr id="8" name="Rectangle 12">
            <a:extLst>
              <a:ext uri="{FF2B5EF4-FFF2-40B4-BE49-F238E27FC236}">
                <a16:creationId xmlns:a16="http://schemas.microsoft.com/office/drawing/2014/main" id="{32383E80-7E2D-4EA5-8216-9326509581C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6B58D834-927C-4D1C-B7CB-6FCF7B93054F}"/>
              </a:ext>
            </a:extLst>
          </p:cNvPr>
          <p:cNvSpPr>
            <a:spLocks noGrp="1" noChangeArrowheads="1"/>
          </p:cNvSpPr>
          <p:nvPr>
            <p:ph type="sldNum" sz="quarter" idx="12"/>
          </p:nvPr>
        </p:nvSpPr>
        <p:spPr>
          <a:ln/>
        </p:spPr>
        <p:txBody>
          <a:bodyPr/>
          <a:lstStyle>
            <a:lvl1pPr>
              <a:defRPr/>
            </a:lvl1pPr>
          </a:lstStyle>
          <a:p>
            <a:pPr>
              <a:defRPr/>
            </a:pPr>
            <a:fld id="{0FDCD4A5-091D-4240-99DA-6B7D0226BDB9}" type="slidenum">
              <a:rPr lang="en-US" altLang="en-US"/>
              <a:pPr>
                <a:defRPr/>
              </a:pPr>
              <a:t>‹#›</a:t>
            </a:fld>
            <a:endParaRPr lang="en-US" altLang="en-US"/>
          </a:p>
        </p:txBody>
      </p:sp>
    </p:spTree>
    <p:extLst>
      <p:ext uri="{BB962C8B-B14F-4D97-AF65-F5344CB8AC3E}">
        <p14:creationId xmlns:p14="http://schemas.microsoft.com/office/powerpoint/2010/main" val="24966447"/>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BD06B9B5-ED0B-4461-8E65-ABEBA7DA8B87}"/>
              </a:ext>
            </a:extLst>
          </p:cNvPr>
          <p:cNvSpPr>
            <a:spLocks noGrp="1" noChangeArrowheads="1"/>
          </p:cNvSpPr>
          <p:nvPr>
            <p:ph type="dt" sz="half" idx="10"/>
          </p:nvPr>
        </p:nvSpPr>
        <p:spPr>
          <a:ln/>
        </p:spPr>
        <p:txBody>
          <a:bodyPr/>
          <a:lstStyle>
            <a:lvl1pPr>
              <a:defRPr/>
            </a:lvl1pPr>
          </a:lstStyle>
          <a:p>
            <a:pPr>
              <a:defRPr/>
            </a:pPr>
            <a:fld id="{0A490652-7DA1-47FD-9697-A49D96578EF8}" type="datetimeFigureOut">
              <a:rPr lang="en-US"/>
              <a:pPr>
                <a:defRPr/>
              </a:pPr>
              <a:t>1/19/26</a:t>
            </a:fld>
            <a:endParaRPr lang="en-US"/>
          </a:p>
        </p:txBody>
      </p:sp>
      <p:sp>
        <p:nvSpPr>
          <p:cNvPr id="4" name="Rectangle 12">
            <a:extLst>
              <a:ext uri="{FF2B5EF4-FFF2-40B4-BE49-F238E27FC236}">
                <a16:creationId xmlns:a16="http://schemas.microsoft.com/office/drawing/2014/main" id="{EE60023E-E948-4FBE-A8FA-5211C09623F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2206B4CC-7F6C-466F-AB70-CBE1C9FBF8D6}"/>
              </a:ext>
            </a:extLst>
          </p:cNvPr>
          <p:cNvSpPr>
            <a:spLocks noGrp="1" noChangeArrowheads="1"/>
          </p:cNvSpPr>
          <p:nvPr>
            <p:ph type="sldNum" sz="quarter" idx="12"/>
          </p:nvPr>
        </p:nvSpPr>
        <p:spPr>
          <a:ln/>
        </p:spPr>
        <p:txBody>
          <a:bodyPr/>
          <a:lstStyle>
            <a:lvl1pPr>
              <a:defRPr/>
            </a:lvl1pPr>
          </a:lstStyle>
          <a:p>
            <a:pPr>
              <a:defRPr/>
            </a:pPr>
            <a:fld id="{73A39CAC-56D8-41D7-B85C-CA385E35F6AE}" type="slidenum">
              <a:rPr lang="en-US" altLang="en-US"/>
              <a:pPr>
                <a:defRPr/>
              </a:pPr>
              <a:t>‹#›</a:t>
            </a:fld>
            <a:endParaRPr lang="en-US" altLang="en-US"/>
          </a:p>
        </p:txBody>
      </p:sp>
    </p:spTree>
    <p:extLst>
      <p:ext uri="{BB962C8B-B14F-4D97-AF65-F5344CB8AC3E}">
        <p14:creationId xmlns:p14="http://schemas.microsoft.com/office/powerpoint/2010/main" val="3785419658"/>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D2FA308-1AC5-444C-86FB-96E6923284A1}"/>
              </a:ext>
            </a:extLst>
          </p:cNvPr>
          <p:cNvSpPr>
            <a:spLocks noGrp="1" noChangeArrowheads="1"/>
          </p:cNvSpPr>
          <p:nvPr>
            <p:ph type="dt" sz="half" idx="10"/>
          </p:nvPr>
        </p:nvSpPr>
        <p:spPr>
          <a:ln/>
        </p:spPr>
        <p:txBody>
          <a:bodyPr/>
          <a:lstStyle>
            <a:lvl1pPr>
              <a:defRPr/>
            </a:lvl1pPr>
          </a:lstStyle>
          <a:p>
            <a:pPr>
              <a:defRPr/>
            </a:pPr>
            <a:fld id="{A4CF454A-3E32-4719-8711-A913A379F798}" type="datetimeFigureOut">
              <a:rPr lang="en-US"/>
              <a:pPr>
                <a:defRPr/>
              </a:pPr>
              <a:t>1/19/26</a:t>
            </a:fld>
            <a:endParaRPr lang="en-US"/>
          </a:p>
        </p:txBody>
      </p:sp>
      <p:sp>
        <p:nvSpPr>
          <p:cNvPr id="3" name="Rectangle 12">
            <a:extLst>
              <a:ext uri="{FF2B5EF4-FFF2-40B4-BE49-F238E27FC236}">
                <a16:creationId xmlns:a16="http://schemas.microsoft.com/office/drawing/2014/main" id="{B30F5889-C8B4-4B44-883C-A74D6A4A32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1D917A02-CBB2-484E-A5F7-E94263632E56}"/>
              </a:ext>
            </a:extLst>
          </p:cNvPr>
          <p:cNvSpPr>
            <a:spLocks noGrp="1" noChangeArrowheads="1"/>
          </p:cNvSpPr>
          <p:nvPr>
            <p:ph type="sldNum" sz="quarter" idx="12"/>
          </p:nvPr>
        </p:nvSpPr>
        <p:spPr>
          <a:ln/>
        </p:spPr>
        <p:txBody>
          <a:bodyPr/>
          <a:lstStyle>
            <a:lvl1pPr>
              <a:defRPr/>
            </a:lvl1pPr>
          </a:lstStyle>
          <a:p>
            <a:pPr>
              <a:defRPr/>
            </a:pPr>
            <a:fld id="{63599077-5BC6-4E10-8FAF-5546D809B334}" type="slidenum">
              <a:rPr lang="en-US" altLang="en-US"/>
              <a:pPr>
                <a:defRPr/>
              </a:pPr>
              <a:t>‹#›</a:t>
            </a:fld>
            <a:endParaRPr lang="en-US" altLang="en-US"/>
          </a:p>
        </p:txBody>
      </p:sp>
    </p:spTree>
    <p:extLst>
      <p:ext uri="{BB962C8B-B14F-4D97-AF65-F5344CB8AC3E}">
        <p14:creationId xmlns:p14="http://schemas.microsoft.com/office/powerpoint/2010/main" val="1967739756"/>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42C7948D-B6F2-4A61-AF01-DA7C6C30D42C}"/>
              </a:ext>
            </a:extLst>
          </p:cNvPr>
          <p:cNvSpPr>
            <a:spLocks noGrp="1" noChangeArrowheads="1"/>
          </p:cNvSpPr>
          <p:nvPr>
            <p:ph type="dt" sz="half" idx="10"/>
          </p:nvPr>
        </p:nvSpPr>
        <p:spPr>
          <a:ln/>
        </p:spPr>
        <p:txBody>
          <a:bodyPr/>
          <a:lstStyle>
            <a:lvl1pPr>
              <a:defRPr/>
            </a:lvl1pPr>
          </a:lstStyle>
          <a:p>
            <a:pPr>
              <a:defRPr/>
            </a:pPr>
            <a:fld id="{23DE171F-1397-4D0B-9F2E-A3AB73C3AB66}" type="datetimeFigureOut">
              <a:rPr lang="en-US"/>
              <a:pPr>
                <a:defRPr/>
              </a:pPr>
              <a:t>1/19/26</a:t>
            </a:fld>
            <a:endParaRPr lang="en-US"/>
          </a:p>
        </p:txBody>
      </p:sp>
      <p:sp>
        <p:nvSpPr>
          <p:cNvPr id="6" name="Rectangle 12">
            <a:extLst>
              <a:ext uri="{FF2B5EF4-FFF2-40B4-BE49-F238E27FC236}">
                <a16:creationId xmlns:a16="http://schemas.microsoft.com/office/drawing/2014/main" id="{889F04F9-81FE-45A0-A161-E3B60205903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7EDF818-E1A8-438A-A8E1-730D74CB300E}"/>
              </a:ext>
            </a:extLst>
          </p:cNvPr>
          <p:cNvSpPr>
            <a:spLocks noGrp="1" noChangeArrowheads="1"/>
          </p:cNvSpPr>
          <p:nvPr>
            <p:ph type="sldNum" sz="quarter" idx="12"/>
          </p:nvPr>
        </p:nvSpPr>
        <p:spPr>
          <a:ln/>
        </p:spPr>
        <p:txBody>
          <a:bodyPr/>
          <a:lstStyle>
            <a:lvl1pPr>
              <a:defRPr/>
            </a:lvl1pPr>
          </a:lstStyle>
          <a:p>
            <a:pPr>
              <a:defRPr/>
            </a:pPr>
            <a:fld id="{5B10A38E-3B1B-433C-9D98-4F1C6A5642E4}" type="slidenum">
              <a:rPr lang="en-US" altLang="en-US"/>
              <a:pPr>
                <a:defRPr/>
              </a:pPr>
              <a:t>‹#›</a:t>
            </a:fld>
            <a:endParaRPr lang="en-US" altLang="en-US"/>
          </a:p>
        </p:txBody>
      </p:sp>
    </p:spTree>
    <p:extLst>
      <p:ext uri="{BB962C8B-B14F-4D97-AF65-F5344CB8AC3E}">
        <p14:creationId xmlns:p14="http://schemas.microsoft.com/office/powerpoint/2010/main" val="2203452308"/>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D7C9142-5DF2-45C0-9E20-5AD327EFF4C5}"/>
              </a:ext>
            </a:extLst>
          </p:cNvPr>
          <p:cNvSpPr>
            <a:spLocks noGrp="1" noChangeArrowheads="1"/>
          </p:cNvSpPr>
          <p:nvPr>
            <p:ph type="dt" sz="half" idx="10"/>
          </p:nvPr>
        </p:nvSpPr>
        <p:spPr>
          <a:ln/>
        </p:spPr>
        <p:txBody>
          <a:bodyPr/>
          <a:lstStyle>
            <a:lvl1pPr>
              <a:defRPr/>
            </a:lvl1pPr>
          </a:lstStyle>
          <a:p>
            <a:pPr>
              <a:defRPr/>
            </a:pPr>
            <a:fld id="{1D74625D-0FA6-415F-9930-A918BA5F41D8}" type="datetimeFigureOut">
              <a:rPr lang="en-US"/>
              <a:pPr>
                <a:defRPr/>
              </a:pPr>
              <a:t>1/19/26</a:t>
            </a:fld>
            <a:endParaRPr lang="en-US"/>
          </a:p>
        </p:txBody>
      </p:sp>
      <p:sp>
        <p:nvSpPr>
          <p:cNvPr id="6" name="Rectangle 12">
            <a:extLst>
              <a:ext uri="{FF2B5EF4-FFF2-40B4-BE49-F238E27FC236}">
                <a16:creationId xmlns:a16="http://schemas.microsoft.com/office/drawing/2014/main" id="{53F8F614-381C-44CE-AE8A-41EF283D6B5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4846A40-CA15-49C2-815F-887615E0DEA3}"/>
              </a:ext>
            </a:extLst>
          </p:cNvPr>
          <p:cNvSpPr>
            <a:spLocks noGrp="1" noChangeArrowheads="1"/>
          </p:cNvSpPr>
          <p:nvPr>
            <p:ph type="sldNum" sz="quarter" idx="12"/>
          </p:nvPr>
        </p:nvSpPr>
        <p:spPr>
          <a:ln/>
        </p:spPr>
        <p:txBody>
          <a:bodyPr/>
          <a:lstStyle>
            <a:lvl1pPr>
              <a:defRPr/>
            </a:lvl1pPr>
          </a:lstStyle>
          <a:p>
            <a:pPr>
              <a:defRPr/>
            </a:pPr>
            <a:fld id="{3951079B-81F3-4D97-9706-A397730B91F2}" type="slidenum">
              <a:rPr lang="en-US" altLang="en-US"/>
              <a:pPr>
                <a:defRPr/>
              </a:pPr>
              <a:t>‹#›</a:t>
            </a:fld>
            <a:endParaRPr lang="en-US" altLang="en-US"/>
          </a:p>
        </p:txBody>
      </p:sp>
    </p:spTree>
    <p:extLst>
      <p:ext uri="{BB962C8B-B14F-4D97-AF65-F5344CB8AC3E}">
        <p14:creationId xmlns:p14="http://schemas.microsoft.com/office/powerpoint/2010/main" val="55343003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FFCEE9B9-EEF1-4039-8694-1E55F5230DA4}"/>
              </a:ext>
            </a:extLst>
          </p:cNvPr>
          <p:cNvSpPr>
            <a:spLocks noGrp="1" noChangeArrowheads="1"/>
          </p:cNvSpPr>
          <p:nvPr>
            <p:ph type="dt" sz="half" idx="10"/>
          </p:nvPr>
        </p:nvSpPr>
        <p:spPr>
          <a:ln/>
        </p:spPr>
        <p:txBody>
          <a:bodyPr/>
          <a:lstStyle>
            <a:lvl1pPr>
              <a:defRPr/>
            </a:lvl1pPr>
          </a:lstStyle>
          <a:p>
            <a:pPr>
              <a:defRPr/>
            </a:pPr>
            <a:fld id="{B1902036-C031-437B-B4EF-4CD45A5518E7}" type="datetimeFigureOut">
              <a:rPr lang="en-US"/>
              <a:pPr>
                <a:defRPr/>
              </a:pPr>
              <a:t>1/19/26</a:t>
            </a:fld>
            <a:endParaRPr lang="en-US"/>
          </a:p>
        </p:txBody>
      </p:sp>
      <p:sp>
        <p:nvSpPr>
          <p:cNvPr id="5" name="Rectangle 12">
            <a:extLst>
              <a:ext uri="{FF2B5EF4-FFF2-40B4-BE49-F238E27FC236}">
                <a16:creationId xmlns:a16="http://schemas.microsoft.com/office/drawing/2014/main" id="{AA4F93FB-4A6E-4080-850F-F1A039C21A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45EC8D5-6C9A-41F7-8E68-BE5DCD6C258E}"/>
              </a:ext>
            </a:extLst>
          </p:cNvPr>
          <p:cNvSpPr>
            <a:spLocks noGrp="1" noChangeArrowheads="1"/>
          </p:cNvSpPr>
          <p:nvPr>
            <p:ph type="sldNum" sz="quarter" idx="12"/>
          </p:nvPr>
        </p:nvSpPr>
        <p:spPr>
          <a:ln/>
        </p:spPr>
        <p:txBody>
          <a:bodyPr/>
          <a:lstStyle>
            <a:lvl1pPr>
              <a:defRPr/>
            </a:lvl1pPr>
          </a:lstStyle>
          <a:p>
            <a:pPr>
              <a:defRPr/>
            </a:pPr>
            <a:fld id="{C92ECF57-0C5D-4E56-9453-5E09B1C0B3FD}" type="slidenum">
              <a:rPr lang="en-US" altLang="en-US"/>
              <a:pPr>
                <a:defRPr/>
              </a:pPr>
              <a:t>‹#›</a:t>
            </a:fld>
            <a:endParaRPr lang="en-US" altLang="en-US"/>
          </a:p>
        </p:txBody>
      </p:sp>
    </p:spTree>
    <p:extLst>
      <p:ext uri="{BB962C8B-B14F-4D97-AF65-F5344CB8AC3E}">
        <p14:creationId xmlns:p14="http://schemas.microsoft.com/office/powerpoint/2010/main" val="1281733418"/>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9288" y="44450"/>
            <a:ext cx="1960562" cy="60594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4450"/>
            <a:ext cx="5730875" cy="60594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DD1CCBC-E30B-4790-A8F9-4A2925B24689}"/>
              </a:ext>
            </a:extLst>
          </p:cNvPr>
          <p:cNvSpPr>
            <a:spLocks noGrp="1" noChangeArrowheads="1"/>
          </p:cNvSpPr>
          <p:nvPr>
            <p:ph type="dt" sz="half" idx="10"/>
          </p:nvPr>
        </p:nvSpPr>
        <p:spPr>
          <a:ln/>
        </p:spPr>
        <p:txBody>
          <a:bodyPr/>
          <a:lstStyle>
            <a:lvl1pPr>
              <a:defRPr/>
            </a:lvl1pPr>
          </a:lstStyle>
          <a:p>
            <a:pPr>
              <a:defRPr/>
            </a:pPr>
            <a:fld id="{65D57E03-6996-41F3-9269-73A74DC8BDD0}" type="datetimeFigureOut">
              <a:rPr lang="en-US"/>
              <a:pPr>
                <a:defRPr/>
              </a:pPr>
              <a:t>1/19/26</a:t>
            </a:fld>
            <a:endParaRPr lang="en-US"/>
          </a:p>
        </p:txBody>
      </p:sp>
      <p:sp>
        <p:nvSpPr>
          <p:cNvPr id="5" name="Rectangle 12">
            <a:extLst>
              <a:ext uri="{FF2B5EF4-FFF2-40B4-BE49-F238E27FC236}">
                <a16:creationId xmlns:a16="http://schemas.microsoft.com/office/drawing/2014/main" id="{7091EA4E-9B9B-4286-9CB8-A444763429F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E64174AC-1703-4BC2-A024-76A7D2E4A093}"/>
              </a:ext>
            </a:extLst>
          </p:cNvPr>
          <p:cNvSpPr>
            <a:spLocks noGrp="1" noChangeArrowheads="1"/>
          </p:cNvSpPr>
          <p:nvPr>
            <p:ph type="sldNum" sz="quarter" idx="12"/>
          </p:nvPr>
        </p:nvSpPr>
        <p:spPr>
          <a:ln/>
        </p:spPr>
        <p:txBody>
          <a:bodyPr/>
          <a:lstStyle>
            <a:lvl1pPr>
              <a:defRPr/>
            </a:lvl1pPr>
          </a:lstStyle>
          <a:p>
            <a:pPr>
              <a:defRPr/>
            </a:pPr>
            <a:fld id="{CA28049C-993E-4C37-8E7B-B2BC24F79DDA}" type="slidenum">
              <a:rPr lang="en-US" altLang="en-US"/>
              <a:pPr>
                <a:defRPr/>
              </a:pPr>
              <a:t>‹#›</a:t>
            </a:fld>
            <a:endParaRPr lang="en-US" altLang="en-US"/>
          </a:p>
        </p:txBody>
      </p:sp>
    </p:spTree>
    <p:extLst>
      <p:ext uri="{BB962C8B-B14F-4D97-AF65-F5344CB8AC3E}">
        <p14:creationId xmlns:p14="http://schemas.microsoft.com/office/powerpoint/2010/main" val="2928169830"/>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16013" y="44450"/>
            <a:ext cx="7793037" cy="1462088"/>
          </a:xfrm>
        </p:spPr>
        <p:txBody>
          <a:bodyPr/>
          <a:lstStyle/>
          <a:p>
            <a:r>
              <a:rPr lang="en-US"/>
              <a:t>Click to edit Master title style</a:t>
            </a:r>
            <a:endParaRPr lang="en-GB"/>
          </a:p>
        </p:txBody>
      </p:sp>
      <p:sp>
        <p:nvSpPr>
          <p:cNvPr id="3" name="Text Placeholder 2"/>
          <p:cNvSpPr>
            <a:spLocks noGrp="1"/>
          </p:cNvSpPr>
          <p:nvPr>
            <p:ph type="body" sz="half" idx="1"/>
          </p:nvPr>
        </p:nvSpPr>
        <p:spPr>
          <a:xfrm>
            <a:off x="1187450" y="1989138"/>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9850" y="1989138"/>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A3D93F43-DC77-4D7B-8650-4062B0BABE1F}"/>
              </a:ext>
            </a:extLst>
          </p:cNvPr>
          <p:cNvSpPr>
            <a:spLocks noGrp="1" noChangeArrowheads="1"/>
          </p:cNvSpPr>
          <p:nvPr>
            <p:ph type="dt" sz="half" idx="10"/>
          </p:nvPr>
        </p:nvSpPr>
        <p:spPr>
          <a:ln/>
        </p:spPr>
        <p:txBody>
          <a:bodyPr/>
          <a:lstStyle>
            <a:lvl1pPr>
              <a:defRPr/>
            </a:lvl1pPr>
          </a:lstStyle>
          <a:p>
            <a:pPr>
              <a:defRPr/>
            </a:pPr>
            <a:fld id="{78C2CF00-3848-4DFA-9289-F0EE78F4933F}" type="datetimeFigureOut">
              <a:rPr lang="en-US"/>
              <a:pPr>
                <a:defRPr/>
              </a:pPr>
              <a:t>1/19/26</a:t>
            </a:fld>
            <a:endParaRPr lang="en-US"/>
          </a:p>
        </p:txBody>
      </p:sp>
      <p:sp>
        <p:nvSpPr>
          <p:cNvPr id="6" name="Rectangle 12">
            <a:extLst>
              <a:ext uri="{FF2B5EF4-FFF2-40B4-BE49-F238E27FC236}">
                <a16:creationId xmlns:a16="http://schemas.microsoft.com/office/drawing/2014/main" id="{14369C5D-5373-4E66-9ECE-5F6725D8F8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6B92228-190D-4C13-81B4-FCD3BCB46D68}"/>
              </a:ext>
            </a:extLst>
          </p:cNvPr>
          <p:cNvSpPr>
            <a:spLocks noGrp="1" noChangeArrowheads="1"/>
          </p:cNvSpPr>
          <p:nvPr>
            <p:ph type="sldNum" sz="quarter" idx="12"/>
          </p:nvPr>
        </p:nvSpPr>
        <p:spPr>
          <a:ln/>
        </p:spPr>
        <p:txBody>
          <a:bodyPr/>
          <a:lstStyle>
            <a:lvl1pPr>
              <a:defRPr/>
            </a:lvl1pPr>
          </a:lstStyle>
          <a:p>
            <a:pPr>
              <a:defRPr/>
            </a:pPr>
            <a:fld id="{9B55F23C-42A0-47CD-B0FC-E9B3D47107DD}" type="slidenum">
              <a:rPr lang="en-US" altLang="en-US"/>
              <a:pPr>
                <a:defRPr/>
              </a:pPr>
              <a:t>‹#›</a:t>
            </a:fld>
            <a:endParaRPr lang="en-US" altLang="en-US"/>
          </a:p>
        </p:txBody>
      </p:sp>
    </p:spTree>
    <p:extLst>
      <p:ext uri="{BB962C8B-B14F-4D97-AF65-F5344CB8AC3E}">
        <p14:creationId xmlns:p14="http://schemas.microsoft.com/office/powerpoint/2010/main" val="644879776"/>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4">
            <a:extLst>
              <a:ext uri="{FF2B5EF4-FFF2-40B4-BE49-F238E27FC236}">
                <a16:creationId xmlns:a16="http://schemas.microsoft.com/office/drawing/2014/main" id="{160A6157-D437-459D-841D-61D84AD614DA}"/>
              </a:ext>
            </a:extLst>
          </p:cNvPr>
          <p:cNvGrpSpPr>
            <a:grpSpLocks/>
          </p:cNvGrpSpPr>
          <p:nvPr userDrawn="1"/>
        </p:nvGrpSpPr>
        <p:grpSpPr bwMode="auto">
          <a:xfrm>
            <a:off x="0" y="692150"/>
            <a:ext cx="8669338" cy="1052513"/>
            <a:chOff x="0" y="624"/>
            <a:chExt cx="5461" cy="663"/>
          </a:xfrm>
        </p:grpSpPr>
        <p:sp>
          <p:nvSpPr>
            <p:cNvPr id="1032" name="Rectangle 2">
              <a:extLst>
                <a:ext uri="{FF2B5EF4-FFF2-40B4-BE49-F238E27FC236}">
                  <a16:creationId xmlns:a16="http://schemas.microsoft.com/office/drawing/2014/main" id="{DABA7581-5064-4328-A17D-90C913D801FC}"/>
                </a:ext>
              </a:extLst>
            </p:cNvPr>
            <p:cNvSpPr>
              <a:spLocks noChangeArrowheads="1"/>
            </p:cNvSpPr>
            <p:nvPr/>
          </p:nvSpPr>
          <p:spPr bwMode="ltGray">
            <a:xfrm>
              <a:off x="263" y="692"/>
              <a:ext cx="27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algn="ctr" eaLnBrk="1" hangingPunct="1">
                <a:lnSpc>
                  <a:spcPct val="100000"/>
                </a:lnSpc>
                <a:defRPr/>
              </a:pPr>
              <a:endParaRPr kumimoji="1" lang="en-US" altLang="en-US" sz="2400" b="0">
                <a:solidFill>
                  <a:schemeClr val="tx1"/>
                </a:solidFill>
              </a:endParaRPr>
            </a:p>
          </p:txBody>
        </p:sp>
        <p:sp>
          <p:nvSpPr>
            <p:cNvPr id="1033" name="Rectangle 3">
              <a:extLst>
                <a:ext uri="{FF2B5EF4-FFF2-40B4-BE49-F238E27FC236}">
                  <a16:creationId xmlns:a16="http://schemas.microsoft.com/office/drawing/2014/main" id="{5A6077EF-BF78-461D-9659-A2F1E9220192}"/>
                </a:ext>
              </a:extLst>
            </p:cNvPr>
            <p:cNvSpPr>
              <a:spLocks noChangeArrowheads="1"/>
            </p:cNvSpPr>
            <p:nvPr/>
          </p:nvSpPr>
          <p:spPr bwMode="ltGray">
            <a:xfrm>
              <a:off x="521" y="709"/>
              <a:ext cx="207"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algn="ctr" eaLnBrk="1" hangingPunct="1">
                <a:lnSpc>
                  <a:spcPct val="100000"/>
                </a:lnSpc>
                <a:defRPr/>
              </a:pPr>
              <a:endParaRPr kumimoji="1" lang="en-US" altLang="en-US" sz="2400" b="0">
                <a:solidFill>
                  <a:schemeClr val="tx1"/>
                </a:solidFill>
              </a:endParaRPr>
            </a:p>
          </p:txBody>
        </p:sp>
        <p:sp>
          <p:nvSpPr>
            <p:cNvPr id="1034" name="Rectangle 4">
              <a:extLst>
                <a:ext uri="{FF2B5EF4-FFF2-40B4-BE49-F238E27FC236}">
                  <a16:creationId xmlns:a16="http://schemas.microsoft.com/office/drawing/2014/main" id="{2F454C12-9287-41C7-9CE4-1BACB28EC755}"/>
                </a:ext>
              </a:extLst>
            </p:cNvPr>
            <p:cNvSpPr>
              <a:spLocks noChangeArrowheads="1"/>
            </p:cNvSpPr>
            <p:nvPr/>
          </p:nvSpPr>
          <p:spPr bwMode="ltGray">
            <a:xfrm>
              <a:off x="341" y="958"/>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algn="ctr" eaLnBrk="1" hangingPunct="1">
                <a:lnSpc>
                  <a:spcPct val="100000"/>
                </a:lnSpc>
                <a:defRPr/>
              </a:pPr>
              <a:endParaRPr kumimoji="1" lang="en-US" altLang="en-US" sz="2400" b="0">
                <a:solidFill>
                  <a:schemeClr val="tx1"/>
                </a:solidFill>
              </a:endParaRPr>
            </a:p>
          </p:txBody>
        </p:sp>
        <p:sp>
          <p:nvSpPr>
            <p:cNvPr id="1035" name="Rectangle 5">
              <a:extLst>
                <a:ext uri="{FF2B5EF4-FFF2-40B4-BE49-F238E27FC236}">
                  <a16:creationId xmlns:a16="http://schemas.microsoft.com/office/drawing/2014/main" id="{62C9B0B2-DA7C-4C62-8F52-8AED5D3514E6}"/>
                </a:ext>
              </a:extLst>
            </p:cNvPr>
            <p:cNvSpPr>
              <a:spLocks noChangeArrowheads="1"/>
            </p:cNvSpPr>
            <p:nvPr/>
          </p:nvSpPr>
          <p:spPr bwMode="ltGray">
            <a:xfrm>
              <a:off x="567" y="981"/>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algn="ctr" eaLnBrk="1" hangingPunct="1">
                <a:lnSpc>
                  <a:spcPct val="100000"/>
                </a:lnSpc>
                <a:defRPr/>
              </a:pPr>
              <a:endParaRPr kumimoji="1" lang="en-US" altLang="en-US" sz="2400" b="0">
                <a:solidFill>
                  <a:schemeClr val="tx1"/>
                </a:solidFill>
              </a:endParaRPr>
            </a:p>
          </p:txBody>
        </p:sp>
        <p:sp>
          <p:nvSpPr>
            <p:cNvPr id="1036" name="Rectangle 6">
              <a:extLst>
                <a:ext uri="{FF2B5EF4-FFF2-40B4-BE49-F238E27FC236}">
                  <a16:creationId xmlns:a16="http://schemas.microsoft.com/office/drawing/2014/main" id="{C9F490B7-0E6C-4A54-A71F-640B331244EA}"/>
                </a:ext>
              </a:extLst>
            </p:cNvPr>
            <p:cNvSpPr>
              <a:spLocks noChangeArrowheads="1"/>
            </p:cNvSpPr>
            <p:nvPr/>
          </p:nvSpPr>
          <p:spPr bwMode="ltGray">
            <a:xfrm>
              <a:off x="0" y="890"/>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algn="ctr" eaLnBrk="1" hangingPunct="1">
                <a:lnSpc>
                  <a:spcPct val="100000"/>
                </a:lnSpc>
                <a:defRPr/>
              </a:pPr>
              <a:endParaRPr kumimoji="1" lang="en-US" altLang="en-US" sz="2400" b="0">
                <a:solidFill>
                  <a:schemeClr val="tx1"/>
                </a:solidFill>
              </a:endParaRPr>
            </a:p>
          </p:txBody>
        </p:sp>
        <p:sp>
          <p:nvSpPr>
            <p:cNvPr id="1037" name="Rectangle 7">
              <a:extLst>
                <a:ext uri="{FF2B5EF4-FFF2-40B4-BE49-F238E27FC236}">
                  <a16:creationId xmlns:a16="http://schemas.microsoft.com/office/drawing/2014/main" id="{82C765CD-851E-425F-AAEE-8655BE2B0D3B}"/>
                </a:ext>
              </a:extLst>
            </p:cNvPr>
            <p:cNvSpPr>
              <a:spLocks noChangeArrowheads="1"/>
            </p:cNvSpPr>
            <p:nvPr/>
          </p:nvSpPr>
          <p:spPr bwMode="gray">
            <a:xfrm>
              <a:off x="480" y="624"/>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algn="ctr" eaLnBrk="1" hangingPunct="1">
                <a:lnSpc>
                  <a:spcPct val="100000"/>
                </a:lnSpc>
                <a:defRPr/>
              </a:pPr>
              <a:endParaRPr kumimoji="1" lang="en-US" altLang="en-US" sz="2400" b="0">
                <a:solidFill>
                  <a:schemeClr val="tx1"/>
                </a:solidFill>
              </a:endParaRPr>
            </a:p>
          </p:txBody>
        </p:sp>
        <p:sp>
          <p:nvSpPr>
            <p:cNvPr id="1038" name="Rectangle 8">
              <a:extLst>
                <a:ext uri="{FF2B5EF4-FFF2-40B4-BE49-F238E27FC236}">
                  <a16:creationId xmlns:a16="http://schemas.microsoft.com/office/drawing/2014/main" id="{BE410EAA-9501-44AA-8CBD-67E602F6F343}"/>
                </a:ext>
              </a:extLst>
            </p:cNvPr>
            <p:cNvSpPr>
              <a:spLocks noChangeArrowheads="1"/>
            </p:cNvSpPr>
            <p:nvPr/>
          </p:nvSpPr>
          <p:spPr bwMode="gray">
            <a:xfrm>
              <a:off x="279" y="1122"/>
              <a:ext cx="5182" cy="2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70000"/>
                </a:lnSpc>
                <a:defRPr sz="100" b="1">
                  <a:solidFill>
                    <a:schemeClr val="tx2"/>
                  </a:solidFill>
                  <a:latin typeface="Calibri" pitchFamily="34" charset="0"/>
                </a:defRPr>
              </a:lvl1pPr>
              <a:lvl2pPr marL="742950" indent="-285750">
                <a:lnSpc>
                  <a:spcPct val="70000"/>
                </a:lnSpc>
                <a:defRPr sz="100" b="1">
                  <a:solidFill>
                    <a:schemeClr val="tx2"/>
                  </a:solidFill>
                  <a:latin typeface="Calibri" pitchFamily="34" charset="0"/>
                </a:defRPr>
              </a:lvl2pPr>
              <a:lvl3pPr marL="1143000" indent="-228600">
                <a:lnSpc>
                  <a:spcPct val="70000"/>
                </a:lnSpc>
                <a:defRPr sz="100" b="1">
                  <a:solidFill>
                    <a:schemeClr val="tx2"/>
                  </a:solidFill>
                  <a:latin typeface="Calibri" pitchFamily="34" charset="0"/>
                </a:defRPr>
              </a:lvl3pPr>
              <a:lvl4pPr marL="1600200" indent="-228600">
                <a:lnSpc>
                  <a:spcPct val="70000"/>
                </a:lnSpc>
                <a:defRPr sz="100" b="1">
                  <a:solidFill>
                    <a:schemeClr val="tx2"/>
                  </a:solidFill>
                  <a:latin typeface="Calibri" pitchFamily="34" charset="0"/>
                </a:defRPr>
              </a:lvl4pPr>
              <a:lvl5pPr marL="2057400" indent="-228600">
                <a:lnSpc>
                  <a:spcPct val="70000"/>
                </a:lnSpc>
                <a:defRPr sz="100" b="1">
                  <a:solidFill>
                    <a:schemeClr val="tx2"/>
                  </a:solidFill>
                  <a:latin typeface="Calibri" pitchFamily="34" charset="0"/>
                </a:defRPr>
              </a:lvl5pPr>
              <a:lvl6pPr marL="2514600" indent="-228600" eaLnBrk="0" fontAlgn="base" hangingPunct="0">
                <a:lnSpc>
                  <a:spcPct val="70000"/>
                </a:lnSpc>
                <a:spcBef>
                  <a:spcPct val="0"/>
                </a:spcBef>
                <a:spcAft>
                  <a:spcPct val="0"/>
                </a:spcAft>
                <a:defRPr sz="100" b="1">
                  <a:solidFill>
                    <a:schemeClr val="tx2"/>
                  </a:solidFill>
                  <a:latin typeface="Calibri" pitchFamily="34" charset="0"/>
                </a:defRPr>
              </a:lvl6pPr>
              <a:lvl7pPr marL="2971800" indent="-228600" eaLnBrk="0" fontAlgn="base" hangingPunct="0">
                <a:lnSpc>
                  <a:spcPct val="70000"/>
                </a:lnSpc>
                <a:spcBef>
                  <a:spcPct val="0"/>
                </a:spcBef>
                <a:spcAft>
                  <a:spcPct val="0"/>
                </a:spcAft>
                <a:defRPr sz="100" b="1">
                  <a:solidFill>
                    <a:schemeClr val="tx2"/>
                  </a:solidFill>
                  <a:latin typeface="Calibri" pitchFamily="34" charset="0"/>
                </a:defRPr>
              </a:lvl7pPr>
              <a:lvl8pPr marL="3429000" indent="-228600" eaLnBrk="0" fontAlgn="base" hangingPunct="0">
                <a:lnSpc>
                  <a:spcPct val="70000"/>
                </a:lnSpc>
                <a:spcBef>
                  <a:spcPct val="0"/>
                </a:spcBef>
                <a:spcAft>
                  <a:spcPct val="0"/>
                </a:spcAft>
                <a:defRPr sz="100" b="1">
                  <a:solidFill>
                    <a:schemeClr val="tx2"/>
                  </a:solidFill>
                  <a:latin typeface="Calibri" pitchFamily="34" charset="0"/>
                </a:defRPr>
              </a:lvl8pPr>
              <a:lvl9pPr marL="3886200" indent="-228600" eaLnBrk="0" fontAlgn="base" hangingPunct="0">
                <a:lnSpc>
                  <a:spcPct val="70000"/>
                </a:lnSpc>
                <a:spcBef>
                  <a:spcPct val="0"/>
                </a:spcBef>
                <a:spcAft>
                  <a:spcPct val="0"/>
                </a:spcAft>
                <a:defRPr sz="100" b="1">
                  <a:solidFill>
                    <a:schemeClr val="tx2"/>
                  </a:solidFill>
                  <a:latin typeface="Calibri" pitchFamily="34" charset="0"/>
                </a:defRPr>
              </a:lvl9pPr>
            </a:lstStyle>
            <a:p>
              <a:pPr algn="ctr" eaLnBrk="1" hangingPunct="1">
                <a:lnSpc>
                  <a:spcPct val="100000"/>
                </a:lnSpc>
                <a:defRPr/>
              </a:pPr>
              <a:endParaRPr kumimoji="1" lang="en-US" altLang="en-US" sz="2400" b="0">
                <a:solidFill>
                  <a:schemeClr val="tx1"/>
                </a:solidFill>
              </a:endParaRPr>
            </a:p>
          </p:txBody>
        </p:sp>
      </p:grpSp>
      <p:sp>
        <p:nvSpPr>
          <p:cNvPr id="1027" name="Rectangle 9">
            <a:extLst>
              <a:ext uri="{FF2B5EF4-FFF2-40B4-BE49-F238E27FC236}">
                <a16:creationId xmlns:a16="http://schemas.microsoft.com/office/drawing/2014/main" id="{D562B0EA-F114-41C0-9275-092CBD324ABD}"/>
              </a:ext>
            </a:extLst>
          </p:cNvPr>
          <p:cNvSpPr>
            <a:spLocks noGrp="1" noChangeArrowheads="1"/>
          </p:cNvSpPr>
          <p:nvPr>
            <p:ph type="title"/>
          </p:nvPr>
        </p:nvSpPr>
        <p:spPr bwMode="auto">
          <a:xfrm>
            <a:off x="1116013" y="44450"/>
            <a:ext cx="7793037"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10">
            <a:extLst>
              <a:ext uri="{FF2B5EF4-FFF2-40B4-BE49-F238E27FC236}">
                <a16:creationId xmlns:a16="http://schemas.microsoft.com/office/drawing/2014/main" id="{963AC97A-0C2E-4720-978F-D17E1AF54DC1}"/>
              </a:ext>
            </a:extLst>
          </p:cNvPr>
          <p:cNvSpPr>
            <a:spLocks noGrp="1" noChangeArrowheads="1"/>
          </p:cNvSpPr>
          <p:nvPr>
            <p:ph type="body" idx="1"/>
          </p:nvPr>
        </p:nvSpPr>
        <p:spPr bwMode="auto">
          <a:xfrm>
            <a:off x="1187450" y="198913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8139" name="Rectangle 11">
            <a:extLst>
              <a:ext uri="{FF2B5EF4-FFF2-40B4-BE49-F238E27FC236}">
                <a16:creationId xmlns:a16="http://schemas.microsoft.com/office/drawing/2014/main" id="{86D7EE10-2D0B-48FE-BF96-8C76FC84160A}"/>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defRPr sz="1400" b="0">
                <a:solidFill>
                  <a:schemeClr val="tx1"/>
                </a:solidFill>
              </a:defRPr>
            </a:lvl1pPr>
          </a:lstStyle>
          <a:p>
            <a:pPr>
              <a:defRPr/>
            </a:pPr>
            <a:fld id="{2E805D72-1EDC-4025-AE99-5E313DC1CAD8}" type="datetimeFigureOut">
              <a:rPr lang="en-US"/>
              <a:pPr>
                <a:defRPr/>
              </a:pPr>
              <a:t>1/19/26</a:t>
            </a:fld>
            <a:endParaRPr lang="en-US"/>
          </a:p>
        </p:txBody>
      </p:sp>
      <p:sp>
        <p:nvSpPr>
          <p:cNvPr id="48140" name="Rectangle 12">
            <a:extLst>
              <a:ext uri="{FF2B5EF4-FFF2-40B4-BE49-F238E27FC236}">
                <a16:creationId xmlns:a16="http://schemas.microsoft.com/office/drawing/2014/main" id="{56ADDC76-5600-4C31-AB21-C51E06F118D7}"/>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lnSpc>
                <a:spcPct val="100000"/>
              </a:lnSpc>
              <a:defRPr sz="1400" b="0">
                <a:solidFill>
                  <a:schemeClr val="tx1"/>
                </a:solidFill>
              </a:defRPr>
            </a:lvl1pPr>
          </a:lstStyle>
          <a:p>
            <a:pPr>
              <a:defRPr/>
            </a:pPr>
            <a:endParaRPr lang="en-US"/>
          </a:p>
        </p:txBody>
      </p:sp>
      <p:sp>
        <p:nvSpPr>
          <p:cNvPr id="48141" name="Rectangle 13">
            <a:extLst>
              <a:ext uri="{FF2B5EF4-FFF2-40B4-BE49-F238E27FC236}">
                <a16:creationId xmlns:a16="http://schemas.microsoft.com/office/drawing/2014/main" id="{A5E441D3-3CFB-4BF2-AD44-0CE6035D13BB}"/>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0" smtClean="0">
                <a:solidFill>
                  <a:schemeClr val="tx1"/>
                </a:solidFill>
              </a:defRPr>
            </a:lvl1pPr>
          </a:lstStyle>
          <a:p>
            <a:pPr>
              <a:defRPr/>
            </a:pPr>
            <a:fld id="{9CE38837-7BA5-4416-9650-A4349150FAD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52"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ransition spd="slow">
    <p:fade/>
  </p:transition>
  <p:txStyles>
    <p:titleStyle>
      <a:lvl1pPr algn="ctr" rtl="0" eaLnBrk="0" fontAlgn="base" hangingPunct="0">
        <a:lnSpc>
          <a:spcPct val="70000"/>
        </a:lnSpc>
        <a:spcBef>
          <a:spcPct val="0"/>
        </a:spcBef>
        <a:spcAft>
          <a:spcPct val="0"/>
        </a:spcAft>
        <a:defRPr sz="5400" b="1">
          <a:solidFill>
            <a:schemeClr val="tx2"/>
          </a:solidFill>
          <a:latin typeface="+mj-lt"/>
          <a:ea typeface="+mj-ea"/>
          <a:cs typeface="+mj-cs"/>
        </a:defRPr>
      </a:lvl1pPr>
      <a:lvl2pPr algn="ctr" rtl="0" eaLnBrk="0" fontAlgn="base" hangingPunct="0">
        <a:lnSpc>
          <a:spcPct val="70000"/>
        </a:lnSpc>
        <a:spcBef>
          <a:spcPct val="0"/>
        </a:spcBef>
        <a:spcAft>
          <a:spcPct val="0"/>
        </a:spcAft>
        <a:defRPr sz="5400" b="1">
          <a:solidFill>
            <a:schemeClr val="tx2"/>
          </a:solidFill>
          <a:latin typeface="Dotum" pitchFamily="34" charset="-127"/>
        </a:defRPr>
      </a:lvl2pPr>
      <a:lvl3pPr algn="ctr" rtl="0" eaLnBrk="0" fontAlgn="base" hangingPunct="0">
        <a:lnSpc>
          <a:spcPct val="70000"/>
        </a:lnSpc>
        <a:spcBef>
          <a:spcPct val="0"/>
        </a:spcBef>
        <a:spcAft>
          <a:spcPct val="0"/>
        </a:spcAft>
        <a:defRPr sz="5400" b="1">
          <a:solidFill>
            <a:schemeClr val="tx2"/>
          </a:solidFill>
          <a:latin typeface="Dotum" pitchFamily="34" charset="-127"/>
        </a:defRPr>
      </a:lvl3pPr>
      <a:lvl4pPr algn="ctr" rtl="0" eaLnBrk="0" fontAlgn="base" hangingPunct="0">
        <a:lnSpc>
          <a:spcPct val="70000"/>
        </a:lnSpc>
        <a:spcBef>
          <a:spcPct val="0"/>
        </a:spcBef>
        <a:spcAft>
          <a:spcPct val="0"/>
        </a:spcAft>
        <a:defRPr sz="5400" b="1">
          <a:solidFill>
            <a:schemeClr val="tx2"/>
          </a:solidFill>
          <a:latin typeface="Dotum" pitchFamily="34" charset="-127"/>
        </a:defRPr>
      </a:lvl4pPr>
      <a:lvl5pPr algn="ctr" rtl="0" eaLnBrk="0" fontAlgn="base" hangingPunct="0">
        <a:lnSpc>
          <a:spcPct val="70000"/>
        </a:lnSpc>
        <a:spcBef>
          <a:spcPct val="0"/>
        </a:spcBef>
        <a:spcAft>
          <a:spcPct val="0"/>
        </a:spcAft>
        <a:defRPr sz="5400" b="1">
          <a:solidFill>
            <a:schemeClr val="tx2"/>
          </a:solidFill>
          <a:latin typeface="Dotum" pitchFamily="34" charset="-127"/>
        </a:defRPr>
      </a:lvl5pPr>
      <a:lvl6pPr marL="457200" algn="ctr" rtl="0" fontAlgn="base">
        <a:lnSpc>
          <a:spcPct val="70000"/>
        </a:lnSpc>
        <a:spcBef>
          <a:spcPct val="0"/>
        </a:spcBef>
        <a:spcAft>
          <a:spcPct val="0"/>
        </a:spcAft>
        <a:defRPr sz="5400" b="1">
          <a:solidFill>
            <a:schemeClr val="tx2"/>
          </a:solidFill>
          <a:latin typeface="Dotum" pitchFamily="34" charset="-127"/>
        </a:defRPr>
      </a:lvl6pPr>
      <a:lvl7pPr marL="914400" algn="ctr" rtl="0" fontAlgn="base">
        <a:lnSpc>
          <a:spcPct val="70000"/>
        </a:lnSpc>
        <a:spcBef>
          <a:spcPct val="0"/>
        </a:spcBef>
        <a:spcAft>
          <a:spcPct val="0"/>
        </a:spcAft>
        <a:defRPr sz="5400" b="1">
          <a:solidFill>
            <a:schemeClr val="tx2"/>
          </a:solidFill>
          <a:latin typeface="Dotum" pitchFamily="34" charset="-127"/>
        </a:defRPr>
      </a:lvl7pPr>
      <a:lvl8pPr marL="1371600" algn="ctr" rtl="0" fontAlgn="base">
        <a:lnSpc>
          <a:spcPct val="70000"/>
        </a:lnSpc>
        <a:spcBef>
          <a:spcPct val="0"/>
        </a:spcBef>
        <a:spcAft>
          <a:spcPct val="0"/>
        </a:spcAft>
        <a:defRPr sz="5400" b="1">
          <a:solidFill>
            <a:schemeClr val="tx2"/>
          </a:solidFill>
          <a:latin typeface="Dotum" pitchFamily="34" charset="-127"/>
        </a:defRPr>
      </a:lvl8pPr>
      <a:lvl9pPr marL="1828800" algn="ctr" rtl="0" fontAlgn="base">
        <a:lnSpc>
          <a:spcPct val="70000"/>
        </a:lnSpc>
        <a:spcBef>
          <a:spcPct val="0"/>
        </a:spcBef>
        <a:spcAft>
          <a:spcPct val="0"/>
        </a:spcAft>
        <a:defRPr sz="5400" b="1">
          <a:solidFill>
            <a:schemeClr val="tx2"/>
          </a:solidFill>
          <a:latin typeface="Dotum" pitchFamily="34" charset="-127"/>
        </a:defRPr>
      </a:lvl9pPr>
    </p:titleStyle>
    <p:bodyStyle>
      <a:lvl1pPr marL="360363" indent="-360363" algn="l" rtl="0" eaLnBrk="0" fontAlgn="base" hangingPunct="0">
        <a:spcBef>
          <a:spcPct val="20000"/>
        </a:spcBef>
        <a:spcAft>
          <a:spcPct val="0"/>
        </a:spcAft>
        <a:buClr>
          <a:schemeClr val="bg2"/>
        </a:buClr>
        <a:buFont typeface="Arial" panose="020B0604020202020204" pitchFamily="34" charset="0"/>
        <a:buChar char="►"/>
        <a:defRPr sz="2800">
          <a:solidFill>
            <a:schemeClr val="tx1"/>
          </a:solidFill>
          <a:latin typeface="+mn-lt"/>
          <a:ea typeface="+mn-ea"/>
          <a:cs typeface="+mn-cs"/>
        </a:defRPr>
      </a:lvl1pPr>
      <a:lvl2pPr marL="82550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233488" indent="-228600" algn="l" rtl="0" eaLnBrk="0" fontAlgn="base" hangingPunct="0">
        <a:spcBef>
          <a:spcPct val="20000"/>
        </a:spcBef>
        <a:spcAft>
          <a:spcPct val="0"/>
        </a:spcAft>
        <a:buClr>
          <a:schemeClr val="accent1"/>
        </a:buClr>
        <a:buSzPct val="80000"/>
        <a:buFont typeface="Wingdings" panose="05000000000000000000" pitchFamily="2" charset="2"/>
        <a:buChar char="§"/>
        <a:defRPr sz="2800">
          <a:solidFill>
            <a:schemeClr val="tx1"/>
          </a:solidFill>
          <a:latin typeface="+mn-lt"/>
        </a:defRPr>
      </a:lvl3pPr>
      <a:lvl4pPr marL="1641475" indent="-228600" algn="l" rtl="0" eaLnBrk="0" fontAlgn="base" hangingPunct="0">
        <a:spcBef>
          <a:spcPct val="20000"/>
        </a:spcBef>
        <a:spcAft>
          <a:spcPct val="0"/>
        </a:spcAft>
        <a:buClr>
          <a:schemeClr val="accent2"/>
        </a:buClr>
        <a:buSzPct val="55000"/>
        <a:buFont typeface="Wingdings" panose="05000000000000000000" pitchFamily="2" charset="2"/>
        <a:buChar char="n"/>
        <a:defRPr sz="28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8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8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8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8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184E119-10F8-43D4-AFEF-C804FD6D6234}"/>
              </a:ext>
            </a:extLst>
          </p:cNvPr>
          <p:cNvSpPr>
            <a:spLocks noGrp="1" noChangeArrowheads="1"/>
          </p:cNvSpPr>
          <p:nvPr>
            <p:ph type="ctrTitle"/>
          </p:nvPr>
        </p:nvSpPr>
        <p:spPr>
          <a:xfrm>
            <a:off x="468313" y="549275"/>
            <a:ext cx="8280400" cy="2447925"/>
          </a:xfrm>
        </p:spPr>
        <p:txBody>
          <a:bodyPr/>
          <a:lstStyle/>
          <a:p>
            <a:pPr eaLnBrk="1" hangingPunct="1"/>
            <a:r>
              <a:rPr lang="en-GB" altLang="en-US"/>
              <a:t>Introduction to International Commercial Arbitration</a:t>
            </a:r>
          </a:p>
        </p:txBody>
      </p:sp>
      <p:sp>
        <p:nvSpPr>
          <p:cNvPr id="5123" name="Rectangle 3">
            <a:extLst>
              <a:ext uri="{FF2B5EF4-FFF2-40B4-BE49-F238E27FC236}">
                <a16:creationId xmlns:a16="http://schemas.microsoft.com/office/drawing/2014/main" id="{68FDA733-9FB6-4BEB-A640-7E5CCBE069C7}"/>
              </a:ext>
            </a:extLst>
          </p:cNvPr>
          <p:cNvSpPr>
            <a:spLocks noGrp="1" noChangeArrowheads="1"/>
          </p:cNvSpPr>
          <p:nvPr>
            <p:ph type="subTitle" idx="1"/>
          </p:nvPr>
        </p:nvSpPr>
        <p:spPr>
          <a:xfrm>
            <a:off x="1066800" y="3571875"/>
            <a:ext cx="7010400" cy="3025775"/>
          </a:xfrm>
          <a:noFill/>
        </p:spPr>
        <p:txBody>
          <a:bodyPr/>
          <a:lstStyle/>
          <a:p>
            <a:pPr marL="0" indent="0" eaLnBrk="1" hangingPunct="1"/>
            <a:endParaRPr lang="en-GB" altLang="en-US" sz="3300"/>
          </a:p>
          <a:p>
            <a:pPr marL="0" indent="0" eaLnBrk="1" hangingPunct="1">
              <a:buFont typeface="Arial" panose="020B0604020202020204" pitchFamily="34" charset="0"/>
              <a:buNone/>
            </a:pPr>
            <a:r>
              <a:rPr lang="en-GB" altLang="en-US" sz="3300"/>
              <a:t>Dr Mukarrum Ahmed</a:t>
            </a:r>
          </a:p>
          <a:p>
            <a:pPr marL="0" indent="0" eaLnBrk="1" hangingPunct="1">
              <a:buFont typeface="Arial" panose="020B0604020202020204" pitchFamily="34" charset="0"/>
              <a:buNone/>
            </a:pPr>
            <a:r>
              <a:rPr lang="en-GB" altLang="en-US" sz="3300"/>
              <a:t>Lecturer in Business Law and Barrister (Lincoln’s Inn)</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BB6F56D-54F3-4C3D-96DF-65F33A0BD644}"/>
              </a:ext>
            </a:extLst>
          </p:cNvPr>
          <p:cNvSpPr>
            <a:spLocks noGrp="1" noChangeArrowheads="1"/>
          </p:cNvSpPr>
          <p:nvPr>
            <p:ph type="title"/>
          </p:nvPr>
        </p:nvSpPr>
        <p:spPr>
          <a:xfrm>
            <a:off x="827088" y="68263"/>
            <a:ext cx="8020050" cy="1392237"/>
          </a:xfrm>
          <a:noFill/>
        </p:spPr>
        <p:txBody>
          <a:bodyPr anchor="ctr" anchorCtr="1"/>
          <a:lstStyle/>
          <a:p>
            <a:pPr eaLnBrk="1" hangingPunct="1"/>
            <a:r>
              <a:rPr lang="en-GB" altLang="en-US" dirty="0"/>
              <a:t>Lecture Outline</a:t>
            </a:r>
            <a:endParaRPr lang="en-US" altLang="en-US" dirty="0"/>
          </a:p>
        </p:txBody>
      </p:sp>
      <p:sp>
        <p:nvSpPr>
          <p:cNvPr id="6147" name="Rectangle 3">
            <a:extLst>
              <a:ext uri="{FF2B5EF4-FFF2-40B4-BE49-F238E27FC236}">
                <a16:creationId xmlns:a16="http://schemas.microsoft.com/office/drawing/2014/main" id="{EBFCD775-0C6F-4235-B3B3-C34F46511689}"/>
              </a:ext>
            </a:extLst>
          </p:cNvPr>
          <p:cNvSpPr>
            <a:spLocks noGrp="1" noChangeArrowheads="1"/>
          </p:cNvSpPr>
          <p:nvPr>
            <p:ph type="body" sz="half" idx="1"/>
          </p:nvPr>
        </p:nvSpPr>
        <p:spPr>
          <a:xfrm>
            <a:off x="971550" y="1916113"/>
            <a:ext cx="6840538" cy="4681537"/>
          </a:xfrm>
        </p:spPr>
        <p:txBody>
          <a:bodyPr/>
          <a:lstStyle/>
          <a:p>
            <a:pPr eaLnBrk="1" hangingPunct="1">
              <a:spcBef>
                <a:spcPct val="25000"/>
              </a:spcBef>
            </a:pPr>
            <a:r>
              <a:rPr lang="en-GB" altLang="en-US" sz="2000" dirty="0"/>
              <a:t>Discussion of concepts and mechanisms relevant to arbitration agreements and the recognition and enforcement of arbitration agreements/awards</a:t>
            </a:r>
          </a:p>
          <a:p>
            <a:pPr lvl="1" eaLnBrk="1" hangingPunct="1">
              <a:spcBef>
                <a:spcPct val="25000"/>
              </a:spcBef>
            </a:pPr>
            <a:r>
              <a:rPr lang="en-GB" altLang="en-US" sz="2000" dirty="0"/>
              <a:t>Enforcement of arbitral awards and arbitration agreements</a:t>
            </a:r>
          </a:p>
          <a:p>
            <a:pPr lvl="1" eaLnBrk="1" hangingPunct="1">
              <a:spcBef>
                <a:spcPct val="25000"/>
              </a:spcBef>
            </a:pPr>
            <a:r>
              <a:rPr lang="en-GB" altLang="en-US" sz="2000" dirty="0"/>
              <a:t>Judicial Support of Arbitration process</a:t>
            </a:r>
          </a:p>
          <a:p>
            <a:pPr lvl="1" eaLnBrk="1" hangingPunct="1">
              <a:spcBef>
                <a:spcPct val="25000"/>
              </a:spcBef>
            </a:pPr>
            <a:r>
              <a:rPr lang="en-GB" altLang="en-US" sz="2000" dirty="0"/>
              <a:t>Formal and material validity of arbitration agreements</a:t>
            </a:r>
          </a:p>
          <a:p>
            <a:pPr lvl="1" eaLnBrk="1" hangingPunct="1">
              <a:spcBef>
                <a:spcPct val="25000"/>
              </a:spcBef>
            </a:pPr>
            <a:r>
              <a:rPr lang="en-GB" altLang="en-US" sz="2000" dirty="0"/>
              <a:t>Law governing the arbitration agreement Cf. Separability of the arbitration agreement</a:t>
            </a:r>
          </a:p>
          <a:p>
            <a:pPr lvl="1" eaLnBrk="1" hangingPunct="1">
              <a:spcBef>
                <a:spcPct val="25000"/>
              </a:spcBef>
            </a:pPr>
            <a:r>
              <a:rPr lang="en-GB" altLang="en-US" sz="2000" dirty="0"/>
              <a:t>Arbitrability and the applicable law</a:t>
            </a:r>
          </a:p>
          <a:p>
            <a:pPr lvl="1" eaLnBrk="1" hangingPunct="1">
              <a:spcBef>
                <a:spcPct val="25000"/>
              </a:spcBef>
            </a:pPr>
            <a:r>
              <a:rPr lang="en-GB" altLang="en-US" sz="2000" dirty="0"/>
              <a:t>Competence-competence</a:t>
            </a:r>
          </a:p>
          <a:p>
            <a:pPr marL="539750" lvl="1" indent="0" eaLnBrk="1" hangingPunct="1">
              <a:spcBef>
                <a:spcPct val="25000"/>
              </a:spcBef>
              <a:buNone/>
            </a:pPr>
            <a:endParaRPr lang="en-GB" altLang="en-US" dirty="0"/>
          </a:p>
          <a:p>
            <a:pPr marL="365125" indent="-365125" eaLnBrk="1" hangingPunct="1">
              <a:spcBef>
                <a:spcPct val="25000"/>
              </a:spcBef>
            </a:pPr>
            <a:endParaRPr lang="en-GB" altLang="en-US"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BB37D3F-59AC-43F8-867A-5BEC5F557DCB}"/>
              </a:ext>
            </a:extLst>
          </p:cNvPr>
          <p:cNvSpPr>
            <a:spLocks noGrp="1" noChangeArrowheads="1"/>
          </p:cNvSpPr>
          <p:nvPr>
            <p:ph type="title"/>
          </p:nvPr>
        </p:nvSpPr>
        <p:spPr>
          <a:xfrm>
            <a:off x="2051050" y="414338"/>
            <a:ext cx="6680200" cy="900112"/>
          </a:xfrm>
        </p:spPr>
        <p:txBody>
          <a:bodyPr/>
          <a:lstStyle/>
          <a:p>
            <a:pPr eaLnBrk="1" hangingPunct="1"/>
            <a:r>
              <a:rPr lang="en-GB" altLang="en-US"/>
              <a:t>NYC contemplates 2 basic actions</a:t>
            </a:r>
            <a:endParaRPr lang="en-US" altLang="en-US"/>
          </a:p>
        </p:txBody>
      </p:sp>
      <p:sp>
        <p:nvSpPr>
          <p:cNvPr id="12291" name="Rectangle 3">
            <a:extLst>
              <a:ext uri="{FF2B5EF4-FFF2-40B4-BE49-F238E27FC236}">
                <a16:creationId xmlns:a16="http://schemas.microsoft.com/office/drawing/2014/main" id="{5CFAF939-D2A4-4B09-91C7-033970B764E7}"/>
              </a:ext>
            </a:extLst>
          </p:cNvPr>
          <p:cNvSpPr>
            <a:spLocks noGrp="1" noChangeArrowheads="1"/>
          </p:cNvSpPr>
          <p:nvPr>
            <p:ph type="body" idx="1"/>
          </p:nvPr>
        </p:nvSpPr>
        <p:spPr>
          <a:xfrm>
            <a:off x="457200" y="1773238"/>
            <a:ext cx="8229600" cy="4851400"/>
          </a:xfrm>
        </p:spPr>
        <p:txBody>
          <a:bodyPr/>
          <a:lstStyle/>
          <a:p>
            <a:pPr marL="514350" indent="-514350" algn="ctr" eaLnBrk="1" hangingPunct="1">
              <a:lnSpc>
                <a:spcPct val="90000"/>
              </a:lnSpc>
              <a:spcBef>
                <a:spcPct val="40000"/>
              </a:spcBef>
              <a:buFont typeface="+mj-lt"/>
              <a:buAutoNum type="arabicPeriod"/>
            </a:pPr>
            <a:r>
              <a:rPr lang="en-CA" altLang="en-US" b="1" dirty="0"/>
              <a:t>Recognition and enforcement of arbitral awards</a:t>
            </a:r>
            <a:r>
              <a:rPr lang="en-CA" altLang="en-US" sz="2000" dirty="0"/>
              <a:t> issued in territory of another State (Article 1)</a:t>
            </a:r>
            <a:r>
              <a:rPr lang="en-US" altLang="en-US" sz="2000" dirty="0"/>
              <a:t>, subject to specific limited exceptions</a:t>
            </a:r>
            <a:endParaRPr lang="en-GB" altLang="en-US" sz="2000" dirty="0"/>
          </a:p>
          <a:p>
            <a:r>
              <a:rPr lang="en-GB" altLang="en-US" sz="2000" dirty="0"/>
              <a:t>Contracting States shall recognise arbitral awards as binding and enforce them (Article III)</a:t>
            </a:r>
          </a:p>
          <a:p>
            <a:pPr eaLnBrk="1" hangingPunct="1">
              <a:lnSpc>
                <a:spcPct val="90000"/>
              </a:lnSpc>
              <a:spcBef>
                <a:spcPct val="40000"/>
              </a:spcBef>
            </a:pPr>
            <a:r>
              <a:rPr lang="en-GB" altLang="en-US" sz="2000" dirty="0"/>
              <a:t>Pre-requisite for recognition and enforcement: original arbitral award or a duly certified copy and original arbitration agreement or duly certified copy   (Article IV) </a:t>
            </a:r>
          </a:p>
          <a:p>
            <a:pPr eaLnBrk="1" hangingPunct="1">
              <a:lnSpc>
                <a:spcPct val="90000"/>
              </a:lnSpc>
              <a:spcBef>
                <a:spcPct val="40000"/>
              </a:spcBef>
            </a:pPr>
            <a:r>
              <a:rPr lang="en-GB" altLang="en-US" sz="2000" dirty="0"/>
              <a:t>Defences to recognition and enforcement of arbitral awards (Article V) </a:t>
            </a:r>
          </a:p>
          <a:p>
            <a:pPr eaLnBrk="1" hangingPunct="1">
              <a:lnSpc>
                <a:spcPct val="90000"/>
              </a:lnSpc>
              <a:spcBef>
                <a:spcPct val="40000"/>
              </a:spcBef>
            </a:pPr>
            <a:r>
              <a:rPr lang="en-GB" altLang="en-US" sz="2000" dirty="0"/>
              <a:t>Contracting States expected to adopt:</a:t>
            </a:r>
          </a:p>
          <a:p>
            <a:pPr marL="742950" lvl="1" eaLnBrk="1" hangingPunct="1">
              <a:lnSpc>
                <a:spcPct val="90000"/>
              </a:lnSpc>
              <a:spcBef>
                <a:spcPct val="40000"/>
              </a:spcBef>
            </a:pPr>
            <a:r>
              <a:rPr lang="en-GB" altLang="en-US" sz="2000" dirty="0"/>
              <a:t>pro-enforcement bias</a:t>
            </a:r>
          </a:p>
          <a:p>
            <a:pPr marL="742950" lvl="1" eaLnBrk="1" hangingPunct="1">
              <a:lnSpc>
                <a:spcPct val="90000"/>
              </a:lnSpc>
              <a:spcBef>
                <a:spcPct val="40000"/>
              </a:spcBef>
            </a:pPr>
            <a:r>
              <a:rPr lang="en-GB" altLang="en-US" sz="2000" dirty="0"/>
              <a:t>limited grounds for non-recognition/enforcement of foreign arbitral awards</a:t>
            </a:r>
          </a:p>
          <a:p>
            <a:pPr algn="ctr" eaLnBrk="1" hangingPunct="1">
              <a:lnSpc>
                <a:spcPct val="90000"/>
              </a:lnSpc>
              <a:spcBef>
                <a:spcPct val="40000"/>
              </a:spcBef>
              <a:buFont typeface="Arial" panose="020B0604020202020204" pitchFamily="34" charset="0"/>
              <a:buNone/>
            </a:pPr>
            <a:r>
              <a:rPr lang="en-GB" altLang="en-US" dirty="0"/>
              <a:t> </a:t>
            </a:r>
          </a:p>
        </p:txBody>
      </p:sp>
      <p:pic>
        <p:nvPicPr>
          <p:cNvPr id="12292" name="Picture 4" descr="MCj03798970000[1]">
            <a:extLst>
              <a:ext uri="{FF2B5EF4-FFF2-40B4-BE49-F238E27FC236}">
                <a16:creationId xmlns:a16="http://schemas.microsoft.com/office/drawing/2014/main" id="{BDE3C23C-F296-4939-B0BB-8C6AC823C6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288" y="233363"/>
            <a:ext cx="1620837"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3F99DCE-1B40-4F23-A850-8D6043E91099}"/>
              </a:ext>
            </a:extLst>
          </p:cNvPr>
          <p:cNvSpPr>
            <a:spLocks noGrp="1" noChangeArrowheads="1"/>
          </p:cNvSpPr>
          <p:nvPr>
            <p:ph type="title"/>
          </p:nvPr>
        </p:nvSpPr>
        <p:spPr>
          <a:xfrm>
            <a:off x="2339975" y="333375"/>
            <a:ext cx="6364288" cy="900113"/>
          </a:xfrm>
          <a:noFill/>
        </p:spPr>
        <p:txBody>
          <a:bodyPr anchor="ctr" anchorCtr="1"/>
          <a:lstStyle/>
          <a:p>
            <a:pPr eaLnBrk="1" hangingPunct="1"/>
            <a:r>
              <a:rPr lang="en-GB" altLang="en-US" dirty="0"/>
              <a:t>NYC contemplates 2 basic actions</a:t>
            </a:r>
            <a:endParaRPr lang="en-US" altLang="en-US" dirty="0"/>
          </a:p>
        </p:txBody>
      </p:sp>
      <p:sp>
        <p:nvSpPr>
          <p:cNvPr id="11267" name="Rectangle 3">
            <a:extLst>
              <a:ext uri="{FF2B5EF4-FFF2-40B4-BE49-F238E27FC236}">
                <a16:creationId xmlns:a16="http://schemas.microsoft.com/office/drawing/2014/main" id="{79E55130-55E1-4B2D-8ED5-72701D17CA1B}"/>
              </a:ext>
            </a:extLst>
          </p:cNvPr>
          <p:cNvSpPr>
            <a:spLocks noGrp="1" noChangeArrowheads="1"/>
          </p:cNvSpPr>
          <p:nvPr>
            <p:ph type="body" idx="1"/>
          </p:nvPr>
        </p:nvSpPr>
        <p:spPr>
          <a:xfrm>
            <a:off x="457200" y="1700213"/>
            <a:ext cx="8229600" cy="4897437"/>
          </a:xfrm>
        </p:spPr>
        <p:txBody>
          <a:bodyPr/>
          <a:lstStyle/>
          <a:p>
            <a:pPr algn="ctr" eaLnBrk="1" hangingPunct="1">
              <a:lnSpc>
                <a:spcPct val="90000"/>
              </a:lnSpc>
              <a:spcBef>
                <a:spcPct val="30000"/>
              </a:spcBef>
              <a:buFont typeface="Arial" panose="020B0604020202020204" pitchFamily="34" charset="0"/>
              <a:buNone/>
              <a:defRPr/>
            </a:pPr>
            <a:r>
              <a:rPr lang="en-CA" altLang="en-US" b="1" dirty="0"/>
              <a:t>Referral by a court to arbitration</a:t>
            </a:r>
            <a:r>
              <a:rPr lang="en-CA" altLang="en-US" dirty="0"/>
              <a:t>:</a:t>
            </a:r>
          </a:p>
          <a:p>
            <a:pPr algn="ctr" eaLnBrk="1" hangingPunct="1">
              <a:lnSpc>
                <a:spcPct val="90000"/>
              </a:lnSpc>
              <a:spcBef>
                <a:spcPct val="30000"/>
              </a:spcBef>
              <a:buFont typeface="Arial" panose="020B0604020202020204" pitchFamily="34" charset="0"/>
              <a:buNone/>
              <a:defRPr/>
            </a:pPr>
            <a:endParaRPr lang="en-CA" altLang="en-US" dirty="0"/>
          </a:p>
          <a:p>
            <a:pPr eaLnBrk="1" hangingPunct="1">
              <a:lnSpc>
                <a:spcPct val="90000"/>
              </a:lnSpc>
              <a:spcBef>
                <a:spcPct val="30000"/>
              </a:spcBef>
              <a:defRPr/>
            </a:pPr>
            <a:endParaRPr lang="en-CA" altLang="en-US" dirty="0"/>
          </a:p>
          <a:p>
            <a:pPr eaLnBrk="1" hangingPunct="1">
              <a:lnSpc>
                <a:spcPct val="90000"/>
              </a:lnSpc>
              <a:spcBef>
                <a:spcPct val="30000"/>
              </a:spcBef>
              <a:defRPr/>
            </a:pPr>
            <a:endParaRPr lang="en-CA" altLang="en-US" dirty="0"/>
          </a:p>
          <a:p>
            <a:pPr eaLnBrk="1" hangingPunct="1">
              <a:lnSpc>
                <a:spcPct val="90000"/>
              </a:lnSpc>
              <a:spcBef>
                <a:spcPct val="30000"/>
              </a:spcBef>
              <a:defRPr/>
            </a:pPr>
            <a:r>
              <a:rPr lang="en-US" altLang="en-US" dirty="0"/>
              <a:t>Article II(3) is mandatory; NYC 1958 not an example of merely ad hoc co-ordination</a:t>
            </a:r>
          </a:p>
          <a:p>
            <a:pPr eaLnBrk="1" hangingPunct="1">
              <a:lnSpc>
                <a:spcPct val="90000"/>
              </a:lnSpc>
              <a:spcBef>
                <a:spcPct val="30000"/>
              </a:spcBef>
              <a:defRPr/>
            </a:pPr>
            <a:r>
              <a:rPr lang="en-US" altLang="en-US" dirty="0"/>
              <a:t>National courts act as ‘agents’ for implementation of an international law duty</a:t>
            </a:r>
          </a:p>
          <a:p>
            <a:pPr marL="457200" lvl="1" indent="0" eaLnBrk="1" hangingPunct="1">
              <a:lnSpc>
                <a:spcPct val="90000"/>
              </a:lnSpc>
              <a:spcBef>
                <a:spcPct val="30000"/>
              </a:spcBef>
              <a:buFont typeface="Wingdings" panose="05000000000000000000" pitchFamily="2" charset="2"/>
              <a:buNone/>
              <a:defRPr/>
            </a:pPr>
            <a:endParaRPr lang="en-US" altLang="en-US" dirty="0"/>
          </a:p>
          <a:p>
            <a:pPr marL="742950" lvl="1" eaLnBrk="1" hangingPunct="1">
              <a:lnSpc>
                <a:spcPct val="90000"/>
              </a:lnSpc>
              <a:spcBef>
                <a:spcPct val="30000"/>
              </a:spcBef>
              <a:defRPr/>
            </a:pPr>
            <a:endParaRPr lang="en-GB" altLang="en-US" dirty="0"/>
          </a:p>
        </p:txBody>
      </p:sp>
      <p:pic>
        <p:nvPicPr>
          <p:cNvPr id="13316" name="Picture 4" descr="MCj03798970000[1]">
            <a:extLst>
              <a:ext uri="{FF2B5EF4-FFF2-40B4-BE49-F238E27FC236}">
                <a16:creationId xmlns:a16="http://schemas.microsoft.com/office/drawing/2014/main" id="{3969DCA3-250F-45B3-A6DB-1E6A5088DB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288" y="233363"/>
            <a:ext cx="1620837"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5">
            <a:extLst>
              <a:ext uri="{FF2B5EF4-FFF2-40B4-BE49-F238E27FC236}">
                <a16:creationId xmlns:a16="http://schemas.microsoft.com/office/drawing/2014/main" id="{F7DE8C9D-F5CE-4C54-AA39-8B0E30EBBBBC}"/>
              </a:ext>
            </a:extLst>
          </p:cNvPr>
          <p:cNvSpPr>
            <a:spLocks noChangeArrowheads="1"/>
          </p:cNvSpPr>
          <p:nvPr/>
        </p:nvSpPr>
        <p:spPr bwMode="auto">
          <a:xfrm>
            <a:off x="827088" y="2205038"/>
            <a:ext cx="7499350" cy="1368425"/>
          </a:xfrm>
          <a:prstGeom prst="rect">
            <a:avLst/>
          </a:prstGeom>
          <a:solidFill>
            <a:schemeClr val="hlink">
              <a:alpha val="20000"/>
            </a:schemeClr>
          </a:solidFill>
          <a:ln w="9525">
            <a:solidFill>
              <a:schemeClr val="hlink"/>
            </a:solidFill>
            <a:miter lim="800000"/>
            <a:headEnd/>
            <a:tailEnd/>
          </a:ln>
        </p:spPr>
        <p:txBody>
          <a:bodyPr/>
          <a:lstStyle>
            <a:lvl1pPr>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algn="ctr" eaLnBrk="1" hangingPunct="1">
              <a:spcBef>
                <a:spcPct val="30000"/>
              </a:spcBef>
              <a:buFont typeface="Arial" panose="020B0604020202020204" pitchFamily="34" charset="0"/>
              <a:buNone/>
            </a:pPr>
            <a:r>
              <a:rPr lang="en-CA" altLang="en-US" b="0"/>
              <a:t>C</a:t>
            </a:r>
            <a:r>
              <a:rPr lang="en-US" altLang="en-US" b="0"/>
              <a:t>ourts of Contracting States ‘shall’ give effect to arbitration agreement when seized of action in a matter covered by that arbitration agreement </a:t>
            </a: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6BD387A-AC13-42D3-92DC-A8CF68C5374C}"/>
              </a:ext>
            </a:extLst>
          </p:cNvPr>
          <p:cNvSpPr>
            <a:spLocks noGrp="1" noChangeArrowheads="1"/>
          </p:cNvSpPr>
          <p:nvPr>
            <p:ph type="title"/>
          </p:nvPr>
        </p:nvSpPr>
        <p:spPr>
          <a:xfrm>
            <a:off x="1116013" y="198438"/>
            <a:ext cx="6488112" cy="1131887"/>
          </a:xfrm>
          <a:noFill/>
        </p:spPr>
        <p:txBody>
          <a:bodyPr anchor="ctr" anchorCtr="1"/>
          <a:lstStyle/>
          <a:p>
            <a:pPr eaLnBrk="1" hangingPunct="1"/>
            <a:r>
              <a:rPr lang="en-GB" altLang="en-US"/>
              <a:t>Judicial support of arbitration process</a:t>
            </a:r>
            <a:endParaRPr lang="en-US" altLang="en-US"/>
          </a:p>
        </p:txBody>
      </p:sp>
      <p:sp>
        <p:nvSpPr>
          <p:cNvPr id="14339" name="Rectangle 3">
            <a:extLst>
              <a:ext uri="{FF2B5EF4-FFF2-40B4-BE49-F238E27FC236}">
                <a16:creationId xmlns:a16="http://schemas.microsoft.com/office/drawing/2014/main" id="{5E8C2DC9-4299-42D2-8F9C-C98417A343A9}"/>
              </a:ext>
            </a:extLst>
          </p:cNvPr>
          <p:cNvSpPr>
            <a:spLocks noGrp="1" noChangeArrowheads="1"/>
          </p:cNvSpPr>
          <p:nvPr>
            <p:ph type="body" sz="half" idx="1"/>
          </p:nvPr>
        </p:nvSpPr>
        <p:spPr>
          <a:xfrm>
            <a:off x="539750" y="1700213"/>
            <a:ext cx="7632700" cy="4608512"/>
          </a:xfrm>
        </p:spPr>
        <p:txBody>
          <a:bodyPr/>
          <a:lstStyle/>
          <a:p>
            <a:pPr marL="0" indent="0" eaLnBrk="1" hangingPunct="1">
              <a:buFont typeface="Arial" panose="020B0604020202020204" pitchFamily="34" charset="0"/>
              <a:buNone/>
              <a:tabLst>
                <a:tab pos="365125" algn="l"/>
              </a:tabLst>
            </a:pPr>
            <a:r>
              <a:rPr lang="en-GB" altLang="en-US" sz="2400" dirty="0"/>
              <a:t>Courts may:</a:t>
            </a:r>
          </a:p>
          <a:p>
            <a:pPr marL="0" indent="0" eaLnBrk="1" hangingPunct="1">
              <a:tabLst>
                <a:tab pos="365125" algn="l"/>
              </a:tabLst>
            </a:pPr>
            <a:r>
              <a:rPr lang="en-GB" altLang="en-US" sz="2400" dirty="0"/>
              <a:t> issue directions on commencement of arbitral reference</a:t>
            </a:r>
          </a:p>
          <a:p>
            <a:pPr marL="0" indent="0" eaLnBrk="1" hangingPunct="1">
              <a:tabLst>
                <a:tab pos="365125" algn="l"/>
              </a:tabLst>
            </a:pPr>
            <a:r>
              <a:rPr lang="en-GB" altLang="en-US" sz="2400" dirty="0"/>
              <a:t> stay proceedings instituted in contravention or breach of arbitration agreement – Article II(3) of NYC 1958</a:t>
            </a:r>
          </a:p>
          <a:p>
            <a:pPr marL="0" indent="0" eaLnBrk="1" hangingPunct="1">
              <a:tabLst>
                <a:tab pos="365125" algn="l"/>
              </a:tabLst>
            </a:pPr>
            <a:r>
              <a:rPr lang="en-GB" altLang="en-US" sz="2400" dirty="0"/>
              <a:t>Enforce arbitral award – Article III of NYC 1958</a:t>
            </a:r>
          </a:p>
          <a:p>
            <a:pPr marL="0" indent="0" eaLnBrk="1" hangingPunct="1">
              <a:tabLst>
                <a:tab pos="365125" algn="l"/>
              </a:tabLst>
            </a:pPr>
            <a:r>
              <a:rPr lang="en-GB" altLang="en-US" sz="2400" dirty="0"/>
              <a:t>grant interim measures of protection (injunctions, freezing orders, orders to provide security for costs)</a:t>
            </a:r>
          </a:p>
          <a:p>
            <a:pPr marL="0" indent="0" eaLnBrk="1" hangingPunct="1">
              <a:tabLst>
                <a:tab pos="365125" algn="l"/>
              </a:tabLst>
            </a:pPr>
            <a:r>
              <a:rPr lang="en-GB" altLang="en-US" sz="2400" dirty="0"/>
              <a:t> order inspection of property (to protect assets from dissipation)</a:t>
            </a:r>
          </a:p>
          <a:p>
            <a:pPr marL="0" indent="0" eaLnBrk="1" hangingPunct="1">
              <a:tabLst>
                <a:tab pos="365125" algn="l"/>
              </a:tabLst>
            </a:pPr>
            <a:r>
              <a:rPr lang="en-GB" altLang="en-US" sz="2400" dirty="0"/>
              <a:t> subpoena, compel witness to attend</a:t>
            </a:r>
            <a:r>
              <a:rPr lang="en-GB" altLang="en-US" dirty="0"/>
              <a:t> </a:t>
            </a:r>
          </a:p>
        </p:txBody>
      </p:sp>
      <p:pic>
        <p:nvPicPr>
          <p:cNvPr id="14340" name="Picture 4" descr="MCj01974470000[1]">
            <a:extLst>
              <a:ext uri="{FF2B5EF4-FFF2-40B4-BE49-F238E27FC236}">
                <a16:creationId xmlns:a16="http://schemas.microsoft.com/office/drawing/2014/main" id="{F2C01472-9D99-40BA-A1B9-09CAAEF97E2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1725" y="0"/>
            <a:ext cx="1692275" cy="134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9D05E4B-18E7-4786-96F4-C8397B02F5BF}"/>
              </a:ext>
            </a:extLst>
          </p:cNvPr>
          <p:cNvSpPr>
            <a:spLocks noGrp="1" noChangeArrowheads="1"/>
          </p:cNvSpPr>
          <p:nvPr>
            <p:ph type="title"/>
          </p:nvPr>
        </p:nvSpPr>
        <p:spPr>
          <a:xfrm>
            <a:off x="755650" y="84138"/>
            <a:ext cx="8137525" cy="1360487"/>
          </a:xfrm>
        </p:spPr>
        <p:txBody>
          <a:bodyPr/>
          <a:lstStyle/>
          <a:p>
            <a:pPr eaLnBrk="1" hangingPunct="1"/>
            <a:r>
              <a:rPr lang="en-GB" altLang="en-US" sz="4000" dirty="0"/>
              <a:t>Mechanisms for judicial support of Arbitration Agreements</a:t>
            </a:r>
            <a:r>
              <a:rPr lang="en-GB" altLang="en-US" dirty="0"/>
              <a:t> </a:t>
            </a:r>
            <a:endParaRPr lang="en-US" altLang="en-US" dirty="0"/>
          </a:p>
        </p:txBody>
      </p:sp>
      <p:sp>
        <p:nvSpPr>
          <p:cNvPr id="15363" name="Text Box 3">
            <a:extLst>
              <a:ext uri="{FF2B5EF4-FFF2-40B4-BE49-F238E27FC236}">
                <a16:creationId xmlns:a16="http://schemas.microsoft.com/office/drawing/2014/main" id="{68C3F6AD-617F-46F0-9DAC-4510D1EF4BED}"/>
              </a:ext>
            </a:extLst>
          </p:cNvPr>
          <p:cNvSpPr txBox="1">
            <a:spLocks noChangeArrowheads="1"/>
          </p:cNvSpPr>
          <p:nvPr/>
        </p:nvSpPr>
        <p:spPr bwMode="auto">
          <a:xfrm>
            <a:off x="611188" y="1557338"/>
            <a:ext cx="7920037" cy="4142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633413" indent="-454025">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a:spcBef>
                <a:spcPct val="40000"/>
              </a:spcBef>
              <a:buClr>
                <a:schemeClr val="accent2"/>
              </a:buClr>
              <a:buSzPct val="65000"/>
              <a:buFont typeface="Wingdings" panose="05000000000000000000" pitchFamily="2" charset="2"/>
              <a:buNone/>
            </a:pPr>
            <a:r>
              <a:rPr lang="en-GB" altLang="en-US" b="0" dirty="0"/>
              <a:t>Scott and Gerhard have a valid agreement for arbitration in Ruritania. Scott institutes court action outside Ruritania. Gerhard may push ahead to get an award to get it recognised/enforced and:</a:t>
            </a:r>
          </a:p>
          <a:p>
            <a:pPr lvl="1">
              <a:spcBef>
                <a:spcPct val="40000"/>
              </a:spcBef>
              <a:buClr>
                <a:schemeClr val="bg2"/>
              </a:buClr>
              <a:buSzTx/>
              <a:buFont typeface="Arial" panose="020B0604020202020204" pitchFamily="34" charset="0"/>
              <a:buChar char="►"/>
            </a:pPr>
            <a:r>
              <a:rPr lang="en-GB" altLang="en-US" b="0" dirty="0"/>
              <a:t>may apply for proceedings instituted in breach of the arbitration agreement to be stayed (</a:t>
            </a:r>
            <a:r>
              <a:rPr lang="en-GB" altLang="en-US" b="0" dirty="0">
                <a:solidFill>
                  <a:srgbClr val="FF6600"/>
                </a:solidFill>
              </a:rPr>
              <a:t>jurisdictional challenge</a:t>
            </a:r>
            <a:r>
              <a:rPr lang="en-GB" altLang="en-US" b="0" dirty="0"/>
              <a:t>): foreign court must assist through non-intervention</a:t>
            </a:r>
            <a:r>
              <a:rPr lang="en-GB" altLang="en-US" b="0" dirty="0">
                <a:solidFill>
                  <a:srgbClr val="FF6600"/>
                </a:solidFill>
              </a:rPr>
              <a:t> </a:t>
            </a:r>
            <a:r>
              <a:rPr lang="en-GB" altLang="en-US" b="0" dirty="0"/>
              <a:t>(</a:t>
            </a:r>
            <a:r>
              <a:rPr lang="en-GB" altLang="en-US" b="0" dirty="0">
                <a:solidFill>
                  <a:srgbClr val="FF6600"/>
                </a:solidFill>
              </a:rPr>
              <a:t>jurisdictional effect</a:t>
            </a:r>
            <a:r>
              <a:rPr lang="en-GB" altLang="en-US" b="0" dirty="0"/>
              <a:t>)</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312CB6F-F288-4B03-8B63-20E16355AFEA}"/>
              </a:ext>
            </a:extLst>
          </p:cNvPr>
          <p:cNvSpPr>
            <a:spLocks noGrp="1" noChangeArrowheads="1"/>
          </p:cNvSpPr>
          <p:nvPr>
            <p:ph type="title" idx="4294967295"/>
          </p:nvPr>
        </p:nvSpPr>
        <p:spPr>
          <a:xfrm>
            <a:off x="395288" y="0"/>
            <a:ext cx="8413750" cy="1169988"/>
          </a:xfrm>
        </p:spPr>
        <p:txBody>
          <a:bodyPr/>
          <a:lstStyle/>
          <a:p>
            <a:pPr eaLnBrk="1" hangingPunct="1"/>
            <a:r>
              <a:rPr lang="en-GB" altLang="en-US" sz="5700"/>
              <a:t>Be cautious  </a:t>
            </a:r>
            <a:endParaRPr lang="en-US" altLang="en-US" sz="5700"/>
          </a:p>
        </p:txBody>
      </p:sp>
      <p:sp>
        <p:nvSpPr>
          <p:cNvPr id="16387" name="Text Box 3">
            <a:extLst>
              <a:ext uri="{FF2B5EF4-FFF2-40B4-BE49-F238E27FC236}">
                <a16:creationId xmlns:a16="http://schemas.microsoft.com/office/drawing/2014/main" id="{64DD4F8C-7488-4BB1-AE3E-9036D9605EA9}"/>
              </a:ext>
            </a:extLst>
          </p:cNvPr>
          <p:cNvSpPr txBox="1">
            <a:spLocks noChangeArrowheads="1"/>
          </p:cNvSpPr>
          <p:nvPr/>
        </p:nvSpPr>
        <p:spPr bwMode="auto">
          <a:xfrm>
            <a:off x="530225" y="1763713"/>
            <a:ext cx="8083550" cy="5176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538163">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a:spcBef>
                <a:spcPct val="45000"/>
              </a:spcBef>
              <a:buClr>
                <a:schemeClr val="accent2"/>
              </a:buClr>
              <a:buFont typeface="Wingdings 2" panose="05020102010507070707" pitchFamily="18" charset="2"/>
              <a:buChar char="¾"/>
            </a:pPr>
            <a:r>
              <a:rPr lang="en-GB" altLang="en-US" dirty="0"/>
              <a:t>When choosing a venue for arbitration</a:t>
            </a:r>
          </a:p>
          <a:p>
            <a:pPr lvl="1">
              <a:spcBef>
                <a:spcPct val="45000"/>
              </a:spcBef>
              <a:buClr>
                <a:schemeClr val="accent2"/>
              </a:buClr>
              <a:buFont typeface="Wingdings 2" panose="05020102010507070707" pitchFamily="18" charset="2"/>
              <a:buChar char="¾"/>
            </a:pPr>
            <a:r>
              <a:rPr lang="en-GB" altLang="en-US" b="0" dirty="0"/>
              <a:t>… if courts at the seat of arbitration are likely to interfere unduly in arbitral proceedings, causing delays and expensive procedural disputes</a:t>
            </a:r>
          </a:p>
          <a:p>
            <a:pPr lvl="1">
              <a:spcBef>
                <a:spcPct val="45000"/>
              </a:spcBef>
              <a:buClr>
                <a:schemeClr val="accent2"/>
              </a:buClr>
              <a:buFont typeface="Wingdings 2" panose="05020102010507070707" pitchFamily="18" charset="2"/>
              <a:buChar char="¾"/>
            </a:pPr>
            <a:r>
              <a:rPr lang="en-GB" altLang="en-US" b="0" dirty="0"/>
              <a:t>… if courts at the seat of arbitration will not assist the arbitral tribunal when necessary to compel arbitration, gather evidence, enforce tribunal’s disclosure or discovery orders</a:t>
            </a:r>
          </a:p>
          <a:p>
            <a:pPr>
              <a:spcBef>
                <a:spcPct val="45000"/>
              </a:spcBef>
              <a:buClr>
                <a:schemeClr val="accent2"/>
              </a:buClr>
              <a:buFont typeface="Wingdings 2" panose="05020102010507070707" pitchFamily="18" charset="2"/>
              <a:buNone/>
            </a:pPr>
            <a:endParaRPr lang="en-GB" altLang="en-US" b="0" dirty="0"/>
          </a:p>
          <a:p>
            <a:pPr>
              <a:spcBef>
                <a:spcPct val="45000"/>
              </a:spcBef>
              <a:buClr>
                <a:schemeClr val="accent2"/>
              </a:buClr>
              <a:buFont typeface="Wingdings 2" panose="05020102010507070707" pitchFamily="18" charset="2"/>
              <a:buChar char="¾"/>
            </a:pPr>
            <a:endParaRPr lang="en-GB" altLang="en-US" b="0" dirty="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686EFC6-24CF-437B-91E9-37AF01AD8998}"/>
              </a:ext>
            </a:extLst>
          </p:cNvPr>
          <p:cNvSpPr>
            <a:spLocks noGrp="1" noChangeArrowheads="1"/>
          </p:cNvSpPr>
          <p:nvPr>
            <p:ph type="title"/>
          </p:nvPr>
        </p:nvSpPr>
        <p:spPr>
          <a:xfrm>
            <a:off x="1116013" y="198438"/>
            <a:ext cx="6488112" cy="1131887"/>
          </a:xfrm>
          <a:noFill/>
        </p:spPr>
        <p:txBody>
          <a:bodyPr anchor="ctr" anchorCtr="1"/>
          <a:lstStyle/>
          <a:p>
            <a:pPr eaLnBrk="1" hangingPunct="1"/>
            <a:r>
              <a:rPr lang="en-GB" altLang="en-US"/>
              <a:t>Justifiable judicial interference </a:t>
            </a:r>
            <a:endParaRPr lang="en-US" altLang="en-US"/>
          </a:p>
        </p:txBody>
      </p:sp>
      <p:sp>
        <p:nvSpPr>
          <p:cNvPr id="17411" name="Rectangle 3">
            <a:extLst>
              <a:ext uri="{FF2B5EF4-FFF2-40B4-BE49-F238E27FC236}">
                <a16:creationId xmlns:a16="http://schemas.microsoft.com/office/drawing/2014/main" id="{B121B4CA-782C-47FF-A460-F49427B481B7}"/>
              </a:ext>
            </a:extLst>
          </p:cNvPr>
          <p:cNvSpPr>
            <a:spLocks noGrp="1" noChangeArrowheads="1"/>
          </p:cNvSpPr>
          <p:nvPr>
            <p:ph type="body" sz="half" idx="1"/>
          </p:nvPr>
        </p:nvSpPr>
        <p:spPr>
          <a:xfrm>
            <a:off x="687388" y="2133600"/>
            <a:ext cx="7767637" cy="3871913"/>
          </a:xfrm>
        </p:spPr>
        <p:txBody>
          <a:bodyPr/>
          <a:lstStyle/>
          <a:p>
            <a:pPr marL="469900" indent="-469900" eaLnBrk="1" hangingPunct="1">
              <a:spcBef>
                <a:spcPct val="40000"/>
              </a:spcBef>
            </a:pPr>
            <a:r>
              <a:rPr lang="en-GB" altLang="en-US" dirty="0"/>
              <a:t>Parties should be permitted to determine for themselves how to resolve their disputes</a:t>
            </a:r>
          </a:p>
          <a:p>
            <a:pPr marL="469900" indent="-469900" eaLnBrk="1" hangingPunct="1">
              <a:spcBef>
                <a:spcPct val="40000"/>
              </a:spcBef>
            </a:pPr>
            <a:r>
              <a:rPr lang="en-GB" altLang="en-US" dirty="0"/>
              <a:t>Freedom to choose has to be balanced with legitimate interest of country where the seat of arbitration is located in ensuring </a:t>
            </a:r>
            <a:r>
              <a:rPr lang="en-GB" altLang="en-US" b="1" dirty="0"/>
              <a:t>natural justice/due process standards </a:t>
            </a:r>
            <a:r>
              <a:rPr lang="en-GB" altLang="en-US" dirty="0"/>
              <a:t>of local proceedings</a:t>
            </a:r>
          </a:p>
          <a:p>
            <a:pPr marL="469900" indent="-469900" eaLnBrk="1" hangingPunct="1">
              <a:spcBef>
                <a:spcPct val="40000"/>
              </a:spcBef>
            </a:pPr>
            <a:r>
              <a:rPr lang="en-GB" altLang="en-US" dirty="0"/>
              <a:t>Courts have </a:t>
            </a:r>
            <a:r>
              <a:rPr lang="en-GB" altLang="en-US" b="1" dirty="0"/>
              <a:t>duty to interfere</a:t>
            </a:r>
            <a:r>
              <a:rPr lang="en-GB" altLang="en-US" dirty="0"/>
              <a:t> if due process not upheld – controversial how far this stretches</a:t>
            </a:r>
          </a:p>
        </p:txBody>
      </p:sp>
      <p:pic>
        <p:nvPicPr>
          <p:cNvPr id="17412" name="Picture 4" descr="MCj01974470000[1]">
            <a:extLst>
              <a:ext uri="{FF2B5EF4-FFF2-40B4-BE49-F238E27FC236}">
                <a16:creationId xmlns:a16="http://schemas.microsoft.com/office/drawing/2014/main" id="{86FC8CED-B7BD-476E-9C1B-375B0D23E2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1725" y="0"/>
            <a:ext cx="1692275" cy="134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795CAEE-C166-48AC-BA7B-ECBA62FF271C}"/>
              </a:ext>
            </a:extLst>
          </p:cNvPr>
          <p:cNvSpPr>
            <a:spLocks noGrp="1" noChangeArrowheads="1"/>
          </p:cNvSpPr>
          <p:nvPr>
            <p:ph type="title" idx="4294967295"/>
          </p:nvPr>
        </p:nvSpPr>
        <p:spPr>
          <a:xfrm>
            <a:off x="1763713" y="115888"/>
            <a:ext cx="6948487" cy="1296987"/>
          </a:xfrm>
        </p:spPr>
        <p:txBody>
          <a:bodyPr anchor="ctr"/>
          <a:lstStyle/>
          <a:p>
            <a:pPr eaLnBrk="1" hangingPunct="1"/>
            <a:r>
              <a:rPr lang="en-US" altLang="en-US" sz="4800" dirty="0"/>
              <a:t>Arbitration is not self-sufficient mechanism</a:t>
            </a:r>
            <a:r>
              <a:rPr lang="en-GB" altLang="en-US" sz="4800" dirty="0"/>
              <a:t> </a:t>
            </a:r>
            <a:endParaRPr lang="en-US" altLang="en-US" sz="4800" dirty="0"/>
          </a:p>
        </p:txBody>
      </p:sp>
      <p:sp>
        <p:nvSpPr>
          <p:cNvPr id="18435" name="Rectangle 3">
            <a:extLst>
              <a:ext uri="{FF2B5EF4-FFF2-40B4-BE49-F238E27FC236}">
                <a16:creationId xmlns:a16="http://schemas.microsoft.com/office/drawing/2014/main" id="{DBD23E81-D04E-4BEE-B90E-0D4610305200}"/>
              </a:ext>
            </a:extLst>
          </p:cNvPr>
          <p:cNvSpPr>
            <a:spLocks noGrp="1" noChangeArrowheads="1"/>
          </p:cNvSpPr>
          <p:nvPr>
            <p:ph type="body" idx="4294967295"/>
          </p:nvPr>
        </p:nvSpPr>
        <p:spPr>
          <a:xfrm>
            <a:off x="971550" y="1773238"/>
            <a:ext cx="7272338" cy="4895850"/>
          </a:xfrm>
        </p:spPr>
        <p:txBody>
          <a:bodyPr/>
          <a:lstStyle/>
          <a:p>
            <a:pPr marL="355600" indent="-355600" eaLnBrk="1" hangingPunct="1">
              <a:spcBef>
                <a:spcPct val="30000"/>
              </a:spcBef>
            </a:pPr>
            <a:r>
              <a:rPr lang="en-GB" altLang="en-US" dirty="0"/>
              <a:t>State law:</a:t>
            </a:r>
          </a:p>
          <a:p>
            <a:pPr marL="900113" lvl="1" indent="-365125" eaLnBrk="1" hangingPunct="1">
              <a:spcBef>
                <a:spcPct val="30000"/>
              </a:spcBef>
            </a:pPr>
            <a:r>
              <a:rPr lang="en-GB" altLang="en-US" dirty="0"/>
              <a:t>prerequisite for functioning of private dispute resolution</a:t>
            </a:r>
          </a:p>
          <a:p>
            <a:pPr marL="900113" lvl="1" indent="-365125" eaLnBrk="1" hangingPunct="1">
              <a:spcBef>
                <a:spcPct val="30000"/>
              </a:spcBef>
            </a:pPr>
            <a:r>
              <a:rPr lang="en-US" altLang="en-US" dirty="0"/>
              <a:t>governs residual questions</a:t>
            </a:r>
            <a:r>
              <a:rPr lang="en-GB" altLang="en-US" dirty="0"/>
              <a:t> </a:t>
            </a:r>
          </a:p>
          <a:p>
            <a:pPr marL="900113" lvl="1" indent="-365125" eaLnBrk="1" hangingPunct="1">
              <a:spcBef>
                <a:spcPct val="30000"/>
              </a:spcBef>
            </a:pPr>
            <a:r>
              <a:rPr lang="en-GB" altLang="en-US" dirty="0"/>
              <a:t>safety net if arbitration</a:t>
            </a:r>
            <a:r>
              <a:rPr lang="en-US" altLang="en-US" dirty="0"/>
              <a:t> fails</a:t>
            </a:r>
          </a:p>
          <a:p>
            <a:pPr marL="355600" indent="-355600" eaLnBrk="1" hangingPunct="1">
              <a:spcBef>
                <a:spcPct val="30000"/>
              </a:spcBef>
            </a:pPr>
            <a:r>
              <a:rPr lang="en-US" altLang="en-US" dirty="0"/>
              <a:t>Grounded and governed by a national law + some forum to enforce agreements (e.g. by ordering stays) and </a:t>
            </a:r>
            <a:r>
              <a:rPr lang="en-US" altLang="en-US" dirty="0" err="1"/>
              <a:t>recognising</a:t>
            </a:r>
            <a:r>
              <a:rPr lang="en-US" altLang="en-US" dirty="0"/>
              <a:t> and enforcing awards</a:t>
            </a: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FA72738-480B-497E-8D24-827DE204614B}"/>
              </a:ext>
            </a:extLst>
          </p:cNvPr>
          <p:cNvSpPr>
            <a:spLocks noGrp="1" noChangeArrowheads="1"/>
          </p:cNvSpPr>
          <p:nvPr>
            <p:ph type="title" idx="4294967295"/>
          </p:nvPr>
        </p:nvSpPr>
        <p:spPr>
          <a:xfrm>
            <a:off x="2185988" y="241300"/>
            <a:ext cx="6750050" cy="1100138"/>
          </a:xfrm>
          <a:noFill/>
        </p:spPr>
        <p:txBody>
          <a:bodyPr anchor="ctr" anchorCtr="1"/>
          <a:lstStyle/>
          <a:p>
            <a:pPr eaLnBrk="1" hangingPunct="1"/>
            <a:r>
              <a:rPr lang="en-GB" altLang="en-US"/>
              <a:t>Significance of seat: dualism </a:t>
            </a:r>
            <a:endParaRPr lang="en-US" altLang="en-US"/>
          </a:p>
        </p:txBody>
      </p:sp>
      <p:sp>
        <p:nvSpPr>
          <p:cNvPr id="19459" name="Rectangle 3">
            <a:extLst>
              <a:ext uri="{FF2B5EF4-FFF2-40B4-BE49-F238E27FC236}">
                <a16:creationId xmlns:a16="http://schemas.microsoft.com/office/drawing/2014/main" id="{032967AA-3531-48C4-8392-D2A41B9AA6FA}"/>
              </a:ext>
            </a:extLst>
          </p:cNvPr>
          <p:cNvSpPr>
            <a:spLocks noGrp="1" noChangeArrowheads="1"/>
          </p:cNvSpPr>
          <p:nvPr>
            <p:ph type="body" sz="half" idx="4294967295"/>
          </p:nvPr>
        </p:nvSpPr>
        <p:spPr>
          <a:xfrm>
            <a:off x="942975" y="1989138"/>
            <a:ext cx="7258050" cy="1216025"/>
          </a:xfrm>
          <a:solidFill>
            <a:schemeClr val="hlink">
              <a:alpha val="20000"/>
            </a:schemeClr>
          </a:solidFill>
          <a:ln>
            <a:solidFill>
              <a:schemeClr val="hlink"/>
            </a:solidFill>
            <a:miter lim="800000"/>
            <a:headEnd/>
            <a:tailEnd/>
          </a:ln>
        </p:spPr>
        <p:txBody>
          <a:bodyPr anchor="ctr" anchorCtr="1"/>
          <a:lstStyle/>
          <a:p>
            <a:pPr algn="ctr" eaLnBrk="1" hangingPunct="1">
              <a:lnSpc>
                <a:spcPct val="90000"/>
              </a:lnSpc>
              <a:buFont typeface="Arial" panose="020B0604020202020204" pitchFamily="34" charset="0"/>
              <a:buNone/>
            </a:pPr>
            <a:r>
              <a:rPr lang="en-GB" altLang="en-US"/>
              <a:t>An arbitration agreement is regulated by </a:t>
            </a:r>
            <a:r>
              <a:rPr lang="en-GB" altLang="en-US" i="1"/>
              <a:t>… </a:t>
            </a:r>
          </a:p>
          <a:p>
            <a:pPr algn="ctr" eaLnBrk="1" hangingPunct="1">
              <a:lnSpc>
                <a:spcPct val="90000"/>
              </a:lnSpc>
              <a:buFont typeface="Arial" panose="020B0604020202020204" pitchFamily="34" charset="0"/>
              <a:buNone/>
            </a:pPr>
            <a:r>
              <a:rPr lang="en-GB" altLang="en-US" b="1" i="1"/>
              <a:t>duality theory</a:t>
            </a:r>
            <a:endParaRPr lang="en-US" altLang="en-US" b="1" i="1"/>
          </a:p>
        </p:txBody>
      </p:sp>
      <p:cxnSp>
        <p:nvCxnSpPr>
          <p:cNvPr id="19460" name="AutoShape 5">
            <a:extLst>
              <a:ext uri="{FF2B5EF4-FFF2-40B4-BE49-F238E27FC236}">
                <a16:creationId xmlns:a16="http://schemas.microsoft.com/office/drawing/2014/main" id="{9756FE5F-C363-4B00-A897-715E355BF695}"/>
              </a:ext>
            </a:extLst>
          </p:cNvPr>
          <p:cNvCxnSpPr>
            <a:cxnSpLocks noChangeShapeType="1"/>
            <a:endCxn id="19459" idx="2"/>
          </p:cNvCxnSpPr>
          <p:nvPr/>
        </p:nvCxnSpPr>
        <p:spPr bwMode="auto">
          <a:xfrm rot="-5400000">
            <a:off x="3005931" y="2548732"/>
            <a:ext cx="909637" cy="2222500"/>
          </a:xfrm>
          <a:prstGeom prst="bentConnector3">
            <a:avLst>
              <a:gd name="adj1" fmla="val 49912"/>
            </a:avLst>
          </a:prstGeom>
          <a:noFill/>
          <a:ln w="44450">
            <a:solidFill>
              <a:schemeClr val="hlink"/>
            </a:solidFill>
            <a:miter lim="800000"/>
            <a:headEnd/>
            <a:tailEnd/>
          </a:ln>
          <a:extLst>
            <a:ext uri="{909E8E84-426E-40DD-AFC4-6F175D3DCCD1}">
              <a14:hiddenFill xmlns:a14="http://schemas.microsoft.com/office/drawing/2010/main">
                <a:noFill/>
              </a14:hiddenFill>
            </a:ext>
          </a:extLst>
        </p:spPr>
      </p:cxnSp>
      <p:cxnSp>
        <p:nvCxnSpPr>
          <p:cNvPr id="19461" name="AutoShape 7">
            <a:extLst>
              <a:ext uri="{FF2B5EF4-FFF2-40B4-BE49-F238E27FC236}">
                <a16:creationId xmlns:a16="http://schemas.microsoft.com/office/drawing/2014/main" id="{66244A78-BFBC-4405-9DAA-F9268873A6FE}"/>
              </a:ext>
            </a:extLst>
          </p:cNvPr>
          <p:cNvCxnSpPr>
            <a:cxnSpLocks noChangeShapeType="1"/>
          </p:cNvCxnSpPr>
          <p:nvPr/>
        </p:nvCxnSpPr>
        <p:spPr bwMode="auto">
          <a:xfrm rot="16200000" flipH="1">
            <a:off x="5181600" y="2603500"/>
            <a:ext cx="909638" cy="2128838"/>
          </a:xfrm>
          <a:prstGeom prst="bentConnector3">
            <a:avLst>
              <a:gd name="adj1" fmla="val 49912"/>
            </a:avLst>
          </a:prstGeom>
          <a:noFill/>
          <a:ln w="44450">
            <a:solidFill>
              <a:schemeClr val="hlink"/>
            </a:solidFill>
            <a:miter lim="800000"/>
            <a:headEnd/>
            <a:tailEnd/>
          </a:ln>
          <a:extLst>
            <a:ext uri="{909E8E84-426E-40DD-AFC4-6F175D3DCCD1}">
              <a14:hiddenFill xmlns:a14="http://schemas.microsoft.com/office/drawing/2010/main">
                <a:noFill/>
              </a14:hiddenFill>
            </a:ext>
          </a:extLst>
        </p:spPr>
      </p:cxnSp>
      <p:pic>
        <p:nvPicPr>
          <p:cNvPr id="19462" name="Picture 8" descr="MCj02953620000[1]">
            <a:extLst>
              <a:ext uri="{FF2B5EF4-FFF2-40B4-BE49-F238E27FC236}">
                <a16:creationId xmlns:a16="http://schemas.microsoft.com/office/drawing/2014/main" id="{034BE9C5-5264-4E7F-91C3-FEF3C2F491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6738" y="0"/>
            <a:ext cx="1646237"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Rectangle 3">
            <a:extLst>
              <a:ext uri="{FF2B5EF4-FFF2-40B4-BE49-F238E27FC236}">
                <a16:creationId xmlns:a16="http://schemas.microsoft.com/office/drawing/2014/main" id="{C4811CEB-1317-4F2B-8B04-8186BCB02835}"/>
              </a:ext>
            </a:extLst>
          </p:cNvPr>
          <p:cNvSpPr>
            <a:spLocks noChangeArrowheads="1"/>
          </p:cNvSpPr>
          <p:nvPr/>
        </p:nvSpPr>
        <p:spPr bwMode="auto">
          <a:xfrm>
            <a:off x="250825" y="4076700"/>
            <a:ext cx="4465638" cy="2592388"/>
          </a:xfrm>
          <a:prstGeom prst="rect">
            <a:avLst/>
          </a:prstGeom>
          <a:solidFill>
            <a:schemeClr val="hlink">
              <a:alpha val="20000"/>
            </a:schemeClr>
          </a:solidFill>
          <a:ln w="9525">
            <a:solidFill>
              <a:schemeClr val="hlink"/>
            </a:solidFill>
            <a:miter lim="800000"/>
            <a:headEnd/>
            <a:tailEnd/>
          </a:ln>
        </p:spPr>
        <p:txBody>
          <a:bodyPr anchor="ctr" anchorCtr="1"/>
          <a:lstStyle>
            <a:lvl1pPr>
              <a:spcBef>
                <a:spcPct val="20000"/>
              </a:spcBef>
              <a:buClr>
                <a:schemeClr val="bg2"/>
              </a:buClr>
              <a:buFont typeface="Arial" panose="020B0604020202020204" pitchFamily="34" charset="0"/>
              <a:buChar char="►"/>
              <a:tabLst>
                <a:tab pos="0" algn="l"/>
              </a:tabLst>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tabLst>
                <a:tab pos="0" algn="l"/>
              </a:tabLst>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tabLst>
                <a:tab pos="0" algn="l"/>
              </a:tabLst>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tabLst>
                <a:tab pos="0" algn="l"/>
              </a:tabLst>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tabLst>
                <a:tab pos="0" algn="l"/>
              </a:tabLst>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tabLst>
                <a:tab pos="0" algn="l"/>
              </a:tabLst>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tabLst>
                <a:tab pos="0" algn="l"/>
              </a:tabLst>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tabLst>
                <a:tab pos="0" algn="l"/>
              </a:tabLst>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tabLst>
                <a:tab pos="0" algn="l"/>
              </a:tabLst>
              <a:defRPr sz="2800">
                <a:solidFill>
                  <a:schemeClr val="tx1"/>
                </a:solidFill>
                <a:latin typeface="Calibri" panose="020F0502020204030204" pitchFamily="34" charset="0"/>
              </a:defRPr>
            </a:lvl9pPr>
          </a:lstStyle>
          <a:p>
            <a:pPr algn="ctr" eaLnBrk="1" hangingPunct="1">
              <a:buFont typeface="Arial" panose="020B0604020202020204" pitchFamily="34" charset="0"/>
              <a:buNone/>
            </a:pPr>
            <a:r>
              <a:rPr lang="en-US" altLang="en-US" dirty="0"/>
              <a:t>The procedure of arbitration</a:t>
            </a:r>
            <a:r>
              <a:rPr lang="en-US" altLang="en-US" b="0" dirty="0"/>
              <a:t> </a:t>
            </a:r>
          </a:p>
          <a:p>
            <a:pPr eaLnBrk="1" hangingPunct="1">
              <a:buFont typeface="Arial" panose="020B0604020202020204" pitchFamily="34" charset="0"/>
              <a:buNone/>
            </a:pPr>
            <a:r>
              <a:rPr lang="en-US" altLang="en-US" b="0" dirty="0">
                <a:sym typeface="Wingdings" panose="05000000000000000000" pitchFamily="2" charset="2"/>
              </a:rPr>
              <a:t>chosen by the parties or determined by the institution in an institutional arbitration</a:t>
            </a:r>
            <a:endParaRPr lang="en-US" altLang="en-US" b="0" dirty="0"/>
          </a:p>
        </p:txBody>
      </p:sp>
      <p:sp>
        <p:nvSpPr>
          <p:cNvPr id="19464" name="Rectangle 4">
            <a:extLst>
              <a:ext uri="{FF2B5EF4-FFF2-40B4-BE49-F238E27FC236}">
                <a16:creationId xmlns:a16="http://schemas.microsoft.com/office/drawing/2014/main" id="{6752B685-765B-499A-B898-904BDF282E0B}"/>
              </a:ext>
            </a:extLst>
          </p:cNvPr>
          <p:cNvSpPr>
            <a:spLocks noChangeArrowheads="1"/>
          </p:cNvSpPr>
          <p:nvPr/>
        </p:nvSpPr>
        <p:spPr bwMode="auto">
          <a:xfrm>
            <a:off x="5003800" y="4076700"/>
            <a:ext cx="3673475" cy="2592388"/>
          </a:xfrm>
          <a:prstGeom prst="rect">
            <a:avLst/>
          </a:prstGeom>
          <a:solidFill>
            <a:schemeClr val="hlink">
              <a:alpha val="20000"/>
            </a:schemeClr>
          </a:solidFill>
          <a:ln w="9525">
            <a:solidFill>
              <a:schemeClr val="hlink"/>
            </a:solidFill>
            <a:miter lim="800000"/>
            <a:headEnd/>
            <a:tailEnd/>
          </a:ln>
        </p:spPr>
        <p:txBody>
          <a:bodyPr anchor="ctr" anchorCtr="1"/>
          <a:lstStyle>
            <a:lvl1pPr>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algn="ctr" eaLnBrk="1" hangingPunct="1">
              <a:buFont typeface="Arial" panose="020B0604020202020204" pitchFamily="34" charset="0"/>
              <a:buNone/>
            </a:pPr>
            <a:r>
              <a:rPr lang="en-US" altLang="en-US" sz="3000" dirty="0">
                <a:sym typeface="Wingdings" panose="05000000000000000000" pitchFamily="2" charset="2"/>
              </a:rPr>
              <a:t>The procedural law </a:t>
            </a:r>
          </a:p>
          <a:p>
            <a:pPr eaLnBrk="1" hangingPunct="1">
              <a:buFont typeface="Arial" panose="020B0604020202020204" pitchFamily="34" charset="0"/>
              <a:buNone/>
            </a:pPr>
            <a:r>
              <a:rPr lang="en-US" altLang="en-US" sz="3000" b="0" dirty="0">
                <a:sym typeface="Wingdings" panose="05000000000000000000" pitchFamily="2" charset="2"/>
              </a:rPr>
              <a:t>is the law of arbitration (</a:t>
            </a:r>
            <a:r>
              <a:rPr lang="en-US" altLang="en-US" sz="3000" b="0" i="1" dirty="0">
                <a:sym typeface="Wingdings" panose="05000000000000000000" pitchFamily="2" charset="2"/>
              </a:rPr>
              <a:t>lex </a:t>
            </a:r>
            <a:r>
              <a:rPr lang="en-US" altLang="en-US" sz="3000" b="0" i="1" dirty="0" err="1">
                <a:sym typeface="Wingdings" panose="05000000000000000000" pitchFamily="2" charset="2"/>
              </a:rPr>
              <a:t>arbitri</a:t>
            </a:r>
            <a:r>
              <a:rPr lang="en-US" altLang="en-US" sz="3000" b="0" dirty="0">
                <a:sym typeface="Wingdings" panose="05000000000000000000" pitchFamily="2" charset="2"/>
              </a:rPr>
              <a:t>) Arbitration Act 1996 +2025</a:t>
            </a: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68A8349-80FF-49E3-BFDA-902808391D66}"/>
              </a:ext>
            </a:extLst>
          </p:cNvPr>
          <p:cNvSpPr>
            <a:spLocks noGrp="1" noChangeArrowheads="1"/>
          </p:cNvSpPr>
          <p:nvPr>
            <p:ph type="title" idx="4294967295"/>
          </p:nvPr>
        </p:nvSpPr>
        <p:spPr>
          <a:xfrm>
            <a:off x="2470150" y="44450"/>
            <a:ext cx="6118225" cy="1462088"/>
          </a:xfrm>
          <a:noFill/>
        </p:spPr>
        <p:txBody>
          <a:bodyPr anchor="ctr" anchorCtr="1"/>
          <a:lstStyle/>
          <a:p>
            <a:pPr eaLnBrk="1" hangingPunct="1"/>
            <a:r>
              <a:rPr lang="en-US" altLang="en-US"/>
              <a:t>Reason for duality</a:t>
            </a:r>
          </a:p>
        </p:txBody>
      </p:sp>
      <p:sp>
        <p:nvSpPr>
          <p:cNvPr id="20483" name="Rectangle 3">
            <a:extLst>
              <a:ext uri="{FF2B5EF4-FFF2-40B4-BE49-F238E27FC236}">
                <a16:creationId xmlns:a16="http://schemas.microsoft.com/office/drawing/2014/main" id="{12B9BA40-4439-48BB-AFB2-0B80E3BD1D53}"/>
              </a:ext>
            </a:extLst>
          </p:cNvPr>
          <p:cNvSpPr>
            <a:spLocks noGrp="1" noChangeArrowheads="1"/>
          </p:cNvSpPr>
          <p:nvPr>
            <p:ph type="body" sz="half" idx="4294967295"/>
          </p:nvPr>
        </p:nvSpPr>
        <p:spPr>
          <a:xfrm>
            <a:off x="1260475" y="1773238"/>
            <a:ext cx="6621463" cy="4132262"/>
          </a:xfrm>
          <a:noFill/>
        </p:spPr>
        <p:txBody>
          <a:bodyPr/>
          <a:lstStyle/>
          <a:p>
            <a:pPr marL="450850" indent="-450850" eaLnBrk="1" hangingPunct="1">
              <a:spcBef>
                <a:spcPct val="35000"/>
              </a:spcBef>
            </a:pPr>
            <a:r>
              <a:rPr lang="en-GB" altLang="en-US" dirty="0"/>
              <a:t>sanction of the law is needed if an agreement is to be effective. </a:t>
            </a:r>
          </a:p>
          <a:p>
            <a:pPr marL="450850" indent="-450850" eaLnBrk="1" hangingPunct="1">
              <a:spcBef>
                <a:spcPct val="35000"/>
              </a:spcBef>
            </a:pPr>
            <a:r>
              <a:rPr lang="en-GB" altLang="en-US" i="1" dirty="0"/>
              <a:t>lex </a:t>
            </a:r>
            <a:r>
              <a:rPr lang="en-GB" altLang="en-US" i="1" dirty="0" err="1"/>
              <a:t>arbitri</a:t>
            </a:r>
            <a:r>
              <a:rPr lang="en-GB" altLang="en-US" dirty="0"/>
              <a:t> supplements the express provision of the parties. </a:t>
            </a:r>
          </a:p>
          <a:p>
            <a:pPr marL="450850" indent="-450850" eaLnBrk="1" hangingPunct="1">
              <a:spcBef>
                <a:spcPct val="35000"/>
              </a:spcBef>
            </a:pPr>
            <a:r>
              <a:rPr lang="en-GB" altLang="en-US" i="1" dirty="0"/>
              <a:t>lex </a:t>
            </a:r>
            <a:r>
              <a:rPr lang="en-GB" altLang="en-US" i="1" dirty="0" err="1"/>
              <a:t>arbitri</a:t>
            </a:r>
            <a:r>
              <a:rPr lang="en-GB" altLang="en-US" i="1" dirty="0"/>
              <a:t> not universal, will be different depending on each case</a:t>
            </a:r>
            <a:r>
              <a:rPr lang="en-GB" altLang="en-US" dirty="0"/>
              <a:t>. </a:t>
            </a:r>
          </a:p>
          <a:p>
            <a:pPr marL="450850" indent="-450850" algn="ctr" eaLnBrk="1" hangingPunct="1">
              <a:buFont typeface="Arial" panose="020B0604020202020204" pitchFamily="34" charset="0"/>
              <a:buNone/>
            </a:pPr>
            <a:r>
              <a:rPr lang="en-US" altLang="en-US" sz="2400" dirty="0">
                <a:sym typeface="Wingdings" panose="05000000000000000000" pitchFamily="2" charset="2"/>
              </a:rPr>
              <a:t>When the parties choose a seat of arbitration, they have to consider that concept of arbitration is governed by the arbitration law of that place . </a:t>
            </a:r>
            <a:endParaRPr lang="en-US" altLang="en-US" sz="2400" dirty="0"/>
          </a:p>
          <a:p>
            <a:pPr marL="1066800" lvl="1" indent="-436563" eaLnBrk="1" hangingPunct="1">
              <a:spcBef>
                <a:spcPct val="35000"/>
              </a:spcBef>
              <a:buFont typeface="Wingdings" panose="05000000000000000000" pitchFamily="2" charset="2"/>
              <a:buNone/>
            </a:pPr>
            <a:endParaRPr lang="en-US" altLang="en-US" dirty="0"/>
          </a:p>
        </p:txBody>
      </p:sp>
      <p:pic>
        <p:nvPicPr>
          <p:cNvPr id="20484" name="Picture 4" descr="MCj02953620000[1]">
            <a:extLst>
              <a:ext uri="{FF2B5EF4-FFF2-40B4-BE49-F238E27FC236}">
                <a16:creationId xmlns:a16="http://schemas.microsoft.com/office/drawing/2014/main" id="{EAF7B03A-8CAF-4DA9-91C1-1297D2B2F0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6738" y="0"/>
            <a:ext cx="1646237"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384DBF6-1300-48D1-ACCA-2CA2D0BBFDFD}"/>
              </a:ext>
            </a:extLst>
          </p:cNvPr>
          <p:cNvSpPr>
            <a:spLocks noGrp="1" noChangeArrowheads="1"/>
          </p:cNvSpPr>
          <p:nvPr>
            <p:ph type="title" idx="4294967295"/>
          </p:nvPr>
        </p:nvSpPr>
        <p:spPr/>
        <p:txBody>
          <a:bodyPr/>
          <a:lstStyle/>
          <a:p>
            <a:pPr eaLnBrk="1" hangingPunct="1"/>
            <a:r>
              <a:rPr lang="en-US" altLang="en-US"/>
              <a:t>The law governing the arbitration procedure</a:t>
            </a:r>
          </a:p>
        </p:txBody>
      </p:sp>
      <p:sp>
        <p:nvSpPr>
          <p:cNvPr id="21507" name="Rectangle 3">
            <a:extLst>
              <a:ext uri="{FF2B5EF4-FFF2-40B4-BE49-F238E27FC236}">
                <a16:creationId xmlns:a16="http://schemas.microsoft.com/office/drawing/2014/main" id="{698FAA77-901A-4C01-9EC7-B361065838E4}"/>
              </a:ext>
            </a:extLst>
          </p:cNvPr>
          <p:cNvSpPr>
            <a:spLocks noGrp="1" noChangeArrowheads="1"/>
          </p:cNvSpPr>
          <p:nvPr>
            <p:ph type="body" idx="4294967295"/>
          </p:nvPr>
        </p:nvSpPr>
        <p:spPr>
          <a:xfrm>
            <a:off x="571500" y="1898650"/>
            <a:ext cx="8001000" cy="4186238"/>
          </a:xfrm>
        </p:spPr>
        <p:txBody>
          <a:bodyPr/>
          <a:lstStyle/>
          <a:p>
            <a:pPr algn="ctr" eaLnBrk="1" hangingPunct="1">
              <a:spcBef>
                <a:spcPct val="45000"/>
              </a:spcBef>
              <a:buFont typeface="Arial" panose="020B0604020202020204" pitchFamily="34" charset="0"/>
              <a:buNone/>
            </a:pPr>
            <a:r>
              <a:rPr lang="en-US" altLang="en-US" b="1" dirty="0"/>
              <a:t>To what extent can the parties regulate the procedure?</a:t>
            </a:r>
          </a:p>
          <a:p>
            <a:pPr eaLnBrk="1" hangingPunct="1">
              <a:spcBef>
                <a:spcPct val="45000"/>
              </a:spcBef>
            </a:pPr>
            <a:r>
              <a:rPr lang="en-US" altLang="en-US" dirty="0"/>
              <a:t>as they desire, as long as this does not contravene the </a:t>
            </a:r>
            <a:r>
              <a:rPr lang="en-US" altLang="en-US" i="1" dirty="0"/>
              <a:t>lex </a:t>
            </a:r>
            <a:r>
              <a:rPr lang="en-US" altLang="en-US" i="1" dirty="0" err="1"/>
              <a:t>arbitri</a:t>
            </a:r>
            <a:r>
              <a:rPr lang="en-US" altLang="en-US" dirty="0"/>
              <a:t>.</a:t>
            </a:r>
          </a:p>
          <a:p>
            <a:pPr eaLnBrk="1" hangingPunct="1">
              <a:spcBef>
                <a:spcPct val="45000"/>
              </a:spcBef>
            </a:pPr>
            <a:r>
              <a:rPr lang="en-US" altLang="en-US" dirty="0"/>
              <a:t>Most of the time national laws deal only with general propositions, and parties have to agree on detailed rules that are to be adopted for </a:t>
            </a:r>
            <a:r>
              <a:rPr lang="en-US" altLang="en-US" i="1" dirty="0"/>
              <a:t>ad hoc</a:t>
            </a:r>
            <a:r>
              <a:rPr lang="en-US" altLang="en-US" dirty="0"/>
              <a:t> arbitrations. </a:t>
            </a: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047CE6D-A98D-4E43-97FE-5E42FD1CBAA5}"/>
              </a:ext>
            </a:extLst>
          </p:cNvPr>
          <p:cNvSpPr>
            <a:spLocks noGrp="1" noChangeArrowheads="1"/>
          </p:cNvSpPr>
          <p:nvPr>
            <p:ph type="title"/>
          </p:nvPr>
        </p:nvSpPr>
        <p:spPr>
          <a:xfrm>
            <a:off x="900113" y="188913"/>
            <a:ext cx="6364287" cy="900112"/>
          </a:xfrm>
        </p:spPr>
        <p:txBody>
          <a:bodyPr/>
          <a:lstStyle/>
          <a:p>
            <a:pPr eaLnBrk="1" hangingPunct="1"/>
            <a:r>
              <a:rPr lang="en-GB" altLang="en-US" sz="4400" dirty="0"/>
              <a:t>Attractions of the seat</a:t>
            </a:r>
            <a:endParaRPr lang="en-US" altLang="en-US" sz="4400" dirty="0"/>
          </a:p>
        </p:txBody>
      </p:sp>
      <p:sp>
        <p:nvSpPr>
          <p:cNvPr id="23555" name="Rectangle 3">
            <a:extLst>
              <a:ext uri="{FF2B5EF4-FFF2-40B4-BE49-F238E27FC236}">
                <a16:creationId xmlns:a16="http://schemas.microsoft.com/office/drawing/2014/main" id="{9F4DA513-E433-4BEA-AB06-AE883CD5E8AA}"/>
              </a:ext>
            </a:extLst>
          </p:cNvPr>
          <p:cNvSpPr>
            <a:spLocks noChangeArrowheads="1"/>
          </p:cNvSpPr>
          <p:nvPr/>
        </p:nvSpPr>
        <p:spPr bwMode="auto">
          <a:xfrm>
            <a:off x="776288" y="1773238"/>
            <a:ext cx="7591425"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55600">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algn="ctr" eaLnBrk="1" hangingPunct="1">
              <a:spcBef>
                <a:spcPct val="30000"/>
              </a:spcBef>
              <a:buClr>
                <a:schemeClr val="folHlink"/>
              </a:buClr>
              <a:buSzPct val="65000"/>
              <a:buFont typeface="Wingdings 2" panose="05020102010507070707" pitchFamily="18" charset="2"/>
              <a:buNone/>
            </a:pPr>
            <a:r>
              <a:rPr lang="en-US" altLang="en-US" dirty="0"/>
              <a:t>Contributing factors:</a:t>
            </a:r>
          </a:p>
          <a:p>
            <a:pPr eaLnBrk="1" hangingPunct="1">
              <a:spcBef>
                <a:spcPct val="30000"/>
              </a:spcBef>
            </a:pPr>
            <a:r>
              <a:rPr lang="en-US" altLang="en-US" b="0" dirty="0"/>
              <a:t>Quality of </a:t>
            </a:r>
            <a:r>
              <a:rPr lang="en-US" altLang="en-US" b="0" i="1" dirty="0"/>
              <a:t>lex </a:t>
            </a:r>
            <a:r>
              <a:rPr lang="en-US" altLang="en-US" b="0" i="1" dirty="0" err="1"/>
              <a:t>arbitri</a:t>
            </a:r>
            <a:r>
              <a:rPr lang="en-US" altLang="en-US" b="0" dirty="0"/>
              <a:t> i.e. the law of arbitration – Arbitration Act 1996 and Arbitration Act 2025</a:t>
            </a:r>
          </a:p>
          <a:p>
            <a:pPr eaLnBrk="1" hangingPunct="1">
              <a:spcBef>
                <a:spcPct val="30000"/>
              </a:spcBef>
            </a:pPr>
            <a:r>
              <a:rPr lang="en-US" altLang="en-US" b="0" dirty="0"/>
              <a:t>Reputation in particular areas of substantive commercial law e.g. shipping, carriage of goods</a:t>
            </a:r>
          </a:p>
          <a:p>
            <a:pPr eaLnBrk="1" hangingPunct="1">
              <a:spcBef>
                <a:spcPct val="30000"/>
              </a:spcBef>
            </a:pPr>
            <a:r>
              <a:rPr lang="en-US" altLang="en-US" b="0" dirty="0"/>
              <a:t>Speed of enforcement of arbitration agreements and arbitral awards</a:t>
            </a:r>
          </a:p>
          <a:p>
            <a:pPr eaLnBrk="1" hangingPunct="1">
              <a:spcBef>
                <a:spcPct val="30000"/>
              </a:spcBef>
            </a:pPr>
            <a:endParaRPr lang="en-US" altLang="en-US" b="0" dirty="0"/>
          </a:p>
          <a:p>
            <a:pPr algn="ctr" eaLnBrk="1" hangingPunct="1">
              <a:spcBef>
                <a:spcPct val="30000"/>
              </a:spcBef>
              <a:buFont typeface="Arial" panose="020B0604020202020204" pitchFamily="34" charset="0"/>
              <a:buNone/>
            </a:pPr>
            <a:r>
              <a:rPr lang="en-US" altLang="en-US" b="0" dirty="0"/>
              <a:t>Are these the only relevant factors?</a:t>
            </a:r>
          </a:p>
        </p:txBody>
      </p:sp>
      <p:pic>
        <p:nvPicPr>
          <p:cNvPr id="23556" name="Picture 4" descr="MCj01974470000[1]">
            <a:extLst>
              <a:ext uri="{FF2B5EF4-FFF2-40B4-BE49-F238E27FC236}">
                <a16:creationId xmlns:a16="http://schemas.microsoft.com/office/drawing/2014/main" id="{960002D9-31CB-4294-829A-DA874A32B1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188" y="0"/>
            <a:ext cx="1547812"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085A4B3-A0F5-4880-9EDB-4B258AC516CD}"/>
              </a:ext>
            </a:extLst>
          </p:cNvPr>
          <p:cNvSpPr>
            <a:spLocks noGrp="1" noChangeArrowheads="1"/>
          </p:cNvSpPr>
          <p:nvPr>
            <p:ph type="title"/>
          </p:nvPr>
        </p:nvSpPr>
        <p:spPr>
          <a:xfrm>
            <a:off x="1331913" y="271463"/>
            <a:ext cx="7442200" cy="985837"/>
          </a:xfrm>
          <a:noFill/>
        </p:spPr>
        <p:txBody>
          <a:bodyPr anchor="ctr" anchorCtr="1"/>
          <a:lstStyle/>
          <a:p>
            <a:pPr eaLnBrk="1" hangingPunct="1"/>
            <a:r>
              <a:rPr lang="en-GB" altLang="en-US"/>
              <a:t>Arbitrators’ jurisdiction test</a:t>
            </a:r>
            <a:endParaRPr lang="en-US" altLang="en-US"/>
          </a:p>
        </p:txBody>
      </p:sp>
      <p:sp>
        <p:nvSpPr>
          <p:cNvPr id="25603" name="Rectangle 3">
            <a:extLst>
              <a:ext uri="{FF2B5EF4-FFF2-40B4-BE49-F238E27FC236}">
                <a16:creationId xmlns:a16="http://schemas.microsoft.com/office/drawing/2014/main" id="{762D3D47-608B-4228-9069-916E6B12B441}"/>
              </a:ext>
            </a:extLst>
          </p:cNvPr>
          <p:cNvSpPr>
            <a:spLocks noGrp="1" noChangeArrowheads="1"/>
          </p:cNvSpPr>
          <p:nvPr>
            <p:ph type="body" sz="half" idx="1"/>
          </p:nvPr>
        </p:nvSpPr>
        <p:spPr>
          <a:xfrm>
            <a:off x="719138" y="1844675"/>
            <a:ext cx="7704137" cy="4094163"/>
          </a:xfrm>
        </p:spPr>
        <p:txBody>
          <a:bodyPr/>
          <a:lstStyle/>
          <a:p>
            <a:pPr marL="0" indent="0" eaLnBrk="1" hangingPunct="1">
              <a:spcBef>
                <a:spcPct val="60000"/>
              </a:spcBef>
              <a:buFont typeface="Arial" panose="020B0604020202020204" pitchFamily="34" charset="0"/>
              <a:buNone/>
            </a:pPr>
            <a:r>
              <a:rPr lang="en-GB" altLang="en-US" dirty="0"/>
              <a:t>You are a judge. An action for breach of contract is pending resolution in your court. The defendant raises your lack of jurisdiction as a defence in his 1</a:t>
            </a:r>
            <a:r>
              <a:rPr lang="en-GB" altLang="en-US" baseline="30000" dirty="0"/>
              <a:t>st</a:t>
            </a:r>
            <a:r>
              <a:rPr lang="en-GB" altLang="en-US" dirty="0"/>
              <a:t> appearance, and requests that the parties be referred to arbitration as the contract in question contains an arbitration clause. Can you directly resolve the matter or must you hear the claimant first? When could you exercise jurisdiction and reject defendant’s claim?</a:t>
            </a: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53034F7-5887-449C-A6CE-46F433BD76FE}"/>
              </a:ext>
            </a:extLst>
          </p:cNvPr>
          <p:cNvSpPr>
            <a:spLocks noGrp="1" noChangeArrowheads="1"/>
          </p:cNvSpPr>
          <p:nvPr>
            <p:ph type="title"/>
          </p:nvPr>
        </p:nvSpPr>
        <p:spPr>
          <a:xfrm>
            <a:off x="539750" y="314325"/>
            <a:ext cx="6364288" cy="900113"/>
          </a:xfrm>
          <a:noFill/>
        </p:spPr>
        <p:txBody>
          <a:bodyPr anchor="ctr" anchorCtr="1"/>
          <a:lstStyle/>
          <a:p>
            <a:pPr eaLnBrk="1" hangingPunct="1"/>
            <a:r>
              <a:rPr lang="en-GB" altLang="en-US" dirty="0"/>
              <a:t>Article II(3) NYC</a:t>
            </a:r>
            <a:endParaRPr lang="en-US" altLang="en-US" dirty="0"/>
          </a:p>
        </p:txBody>
      </p:sp>
      <p:sp>
        <p:nvSpPr>
          <p:cNvPr id="26627" name="Rectangle 3">
            <a:extLst>
              <a:ext uri="{FF2B5EF4-FFF2-40B4-BE49-F238E27FC236}">
                <a16:creationId xmlns:a16="http://schemas.microsoft.com/office/drawing/2014/main" id="{C6B30A16-CD61-4309-8C71-0C21784B3441}"/>
              </a:ext>
            </a:extLst>
          </p:cNvPr>
          <p:cNvSpPr>
            <a:spLocks noGrp="1" noChangeArrowheads="1"/>
          </p:cNvSpPr>
          <p:nvPr>
            <p:ph type="body" idx="1"/>
          </p:nvPr>
        </p:nvSpPr>
        <p:spPr>
          <a:xfrm>
            <a:off x="1258888" y="1844675"/>
            <a:ext cx="6626225" cy="3313113"/>
          </a:xfrm>
        </p:spPr>
        <p:txBody>
          <a:bodyPr/>
          <a:lstStyle/>
          <a:p>
            <a:pPr marL="0" indent="0" eaLnBrk="1" hangingPunct="1">
              <a:lnSpc>
                <a:spcPct val="120000"/>
              </a:lnSpc>
              <a:buFont typeface="Arial" panose="020B0604020202020204" pitchFamily="34" charset="0"/>
              <a:buNone/>
            </a:pPr>
            <a:r>
              <a:rPr lang="en-GB" altLang="en-US" dirty="0"/>
              <a:t>‘The court of a Contracting State, when seized of an action in a matter in respect of which the parties made an agreement within the meaning of this article, shall, at the </a:t>
            </a:r>
            <a:r>
              <a:rPr lang="en-GB" altLang="en-US" dirty="0">
                <a:solidFill>
                  <a:srgbClr val="FF6600"/>
                </a:solidFill>
              </a:rPr>
              <a:t>request of one of the parties</a:t>
            </a:r>
            <a:r>
              <a:rPr lang="en-GB" altLang="en-US" dirty="0"/>
              <a:t>, refer the parties to arbitration, unless it finds that the said agreement is </a:t>
            </a:r>
            <a:r>
              <a:rPr lang="en-GB" altLang="en-US" dirty="0">
                <a:solidFill>
                  <a:srgbClr val="FF6600"/>
                </a:solidFill>
              </a:rPr>
              <a:t>null and void, inoperative or incapable of being performed</a:t>
            </a:r>
            <a:r>
              <a:rPr lang="en-GB" altLang="en-US" dirty="0"/>
              <a:t>.’</a:t>
            </a:r>
          </a:p>
          <a:p>
            <a:pPr marL="0" indent="0" eaLnBrk="1" hangingPunct="1">
              <a:lnSpc>
                <a:spcPct val="120000"/>
              </a:lnSpc>
              <a:buFont typeface="Arial" panose="020B0604020202020204" pitchFamily="34" charset="0"/>
              <a:buNone/>
            </a:pPr>
            <a:endParaRPr lang="en-GB" altLang="en-US" dirty="0"/>
          </a:p>
        </p:txBody>
      </p:sp>
      <p:pic>
        <p:nvPicPr>
          <p:cNvPr id="26628" name="Picture 4" descr="MCj04355460000[1]">
            <a:extLst>
              <a:ext uri="{FF2B5EF4-FFF2-40B4-BE49-F238E27FC236}">
                <a16:creationId xmlns:a16="http://schemas.microsoft.com/office/drawing/2014/main" id="{27478754-6057-4C53-8167-A6DC26E0FF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1613" y="549275"/>
            <a:ext cx="17716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8C17FA1-E599-4DA1-B65E-5F42A63A2372}"/>
              </a:ext>
            </a:extLst>
          </p:cNvPr>
          <p:cNvSpPr>
            <a:spLocks noGrp="1" noChangeArrowheads="1"/>
          </p:cNvSpPr>
          <p:nvPr>
            <p:ph type="title"/>
          </p:nvPr>
        </p:nvSpPr>
        <p:spPr>
          <a:xfrm>
            <a:off x="1258888" y="314325"/>
            <a:ext cx="7885112" cy="900113"/>
          </a:xfrm>
          <a:noFill/>
        </p:spPr>
        <p:txBody>
          <a:bodyPr anchor="ctr" anchorCtr="1"/>
          <a:lstStyle/>
          <a:p>
            <a:pPr eaLnBrk="1" hangingPunct="1"/>
            <a:r>
              <a:rPr lang="en-GB" altLang="en-US" sz="3200" dirty="0"/>
              <a:t>NYC 1958 Article II(3), Section 9 of Arbitration Act 1996, UNCITRAL Model Law Article 8</a:t>
            </a:r>
            <a:endParaRPr lang="en-US" altLang="en-US" sz="3200" dirty="0"/>
          </a:p>
        </p:txBody>
      </p:sp>
      <p:sp>
        <p:nvSpPr>
          <p:cNvPr id="27651" name="Rectangle 3">
            <a:extLst>
              <a:ext uri="{FF2B5EF4-FFF2-40B4-BE49-F238E27FC236}">
                <a16:creationId xmlns:a16="http://schemas.microsoft.com/office/drawing/2014/main" id="{7BCE9B04-7721-4355-84C8-8F89815E092E}"/>
              </a:ext>
            </a:extLst>
          </p:cNvPr>
          <p:cNvSpPr>
            <a:spLocks noChangeArrowheads="1"/>
          </p:cNvSpPr>
          <p:nvPr/>
        </p:nvSpPr>
        <p:spPr bwMode="auto">
          <a:xfrm>
            <a:off x="395288" y="1860550"/>
            <a:ext cx="8348662" cy="4521200"/>
          </a:xfrm>
          <a:prstGeom prst="rect">
            <a:avLst/>
          </a:prstGeom>
          <a:solidFill>
            <a:schemeClr val="folHlink">
              <a:alpha val="10196"/>
            </a:schemeClr>
          </a:solidFill>
          <a:ln w="9525">
            <a:solidFill>
              <a:schemeClr val="folHlink"/>
            </a:solidFill>
            <a:miter lim="800000"/>
            <a:headEnd/>
            <a:tailEnd/>
          </a:ln>
        </p:spPr>
        <p:txBody>
          <a:bodyPr anchor="ctr" anchorCtr="1"/>
          <a:lstStyle>
            <a:lvl1pPr>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633413" indent="-4508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eaLnBrk="1" hangingPunct="1">
              <a:buFont typeface="Arial" panose="020B0604020202020204" pitchFamily="34" charset="0"/>
              <a:buNone/>
            </a:pPr>
            <a:r>
              <a:rPr lang="en-CA" altLang="en-US" b="0" dirty="0"/>
              <a:t>Determining if the arbitration agreement is </a:t>
            </a:r>
            <a:r>
              <a:rPr lang="en-CA" altLang="en-US" b="0" i="1" dirty="0"/>
              <a:t>null and void, inoperative, incapable of being performed</a:t>
            </a:r>
            <a:r>
              <a:rPr lang="en-GB" altLang="en-US" b="0" dirty="0"/>
              <a:t>: </a:t>
            </a:r>
            <a:endParaRPr lang="en-CA" altLang="en-US" b="0" dirty="0"/>
          </a:p>
          <a:p>
            <a:pPr lvl="1" eaLnBrk="1" hangingPunct="1">
              <a:buClr>
                <a:schemeClr val="bg2"/>
              </a:buClr>
              <a:buSzTx/>
              <a:buFont typeface="Arial" panose="020B0604020202020204" pitchFamily="34" charset="0"/>
              <a:buChar char="►"/>
            </a:pPr>
            <a:r>
              <a:rPr lang="en-CA" altLang="en-US" b="0" dirty="0"/>
              <a:t>stage of proceedings in which review is necessary </a:t>
            </a:r>
          </a:p>
          <a:p>
            <a:pPr lvl="1" eaLnBrk="1" hangingPunct="1">
              <a:buClr>
                <a:schemeClr val="bg2"/>
              </a:buClr>
              <a:buSzTx/>
              <a:buFont typeface="Arial" panose="020B0604020202020204" pitchFamily="34" charset="0"/>
              <a:buChar char="►"/>
            </a:pPr>
            <a:r>
              <a:rPr lang="en-CA" altLang="en-US" b="0" dirty="0"/>
              <a:t>level/standard of review considered necessary </a:t>
            </a:r>
            <a:r>
              <a:rPr lang="en-GB" altLang="en-US" b="0" dirty="0"/>
              <a:t>(whether full review or </a:t>
            </a:r>
            <a:r>
              <a:rPr lang="en-GB" altLang="en-US" b="0" i="1" dirty="0"/>
              <a:t>prima facie </a:t>
            </a:r>
            <a:r>
              <a:rPr lang="en-GB" altLang="en-US" b="0" dirty="0"/>
              <a:t>review only; l</a:t>
            </a:r>
            <a:r>
              <a:rPr lang="en-US" altLang="en-US" b="0" dirty="0" err="1"/>
              <a:t>evel</a:t>
            </a:r>
            <a:r>
              <a:rPr lang="en-US" altLang="en-US" b="0" dirty="0"/>
              <a:t> of review differs between jurisdictions</a:t>
            </a:r>
            <a:r>
              <a:rPr lang="en-GB" altLang="en-US" b="0" dirty="0"/>
              <a:t>)</a:t>
            </a:r>
            <a:endParaRPr lang="en-CA" altLang="en-US" b="0" dirty="0"/>
          </a:p>
          <a:p>
            <a:pPr lvl="1" eaLnBrk="1" hangingPunct="1">
              <a:buClr>
                <a:schemeClr val="bg2"/>
              </a:buClr>
              <a:buSzTx/>
              <a:buFont typeface="Arial" panose="020B0604020202020204" pitchFamily="34" charset="0"/>
              <a:buChar char="►"/>
            </a:pPr>
            <a:r>
              <a:rPr lang="en-US" altLang="en-US" b="0" dirty="0"/>
              <a:t>shape or form of </a:t>
            </a:r>
            <a:r>
              <a:rPr lang="en-US" altLang="en-US" b="0" i="1" dirty="0" err="1"/>
              <a:t>compétence-compétence</a:t>
            </a:r>
            <a:r>
              <a:rPr lang="en-US" altLang="en-US" b="0" dirty="0"/>
              <a:t>, but doctrine given free reign</a:t>
            </a:r>
          </a:p>
          <a:p>
            <a:pPr lvl="1" eaLnBrk="1" hangingPunct="1">
              <a:buClr>
                <a:schemeClr val="bg2"/>
              </a:buClr>
              <a:buSzTx/>
              <a:buFont typeface="Arial" panose="020B0604020202020204" pitchFamily="34" charset="0"/>
              <a:buChar char="►"/>
            </a:pPr>
            <a:r>
              <a:rPr lang="en-GB" altLang="en-US" b="0" dirty="0"/>
              <a:t>what is considered arbitrable; left to national law</a:t>
            </a:r>
            <a:endParaRPr lang="en-CA" altLang="en-US" b="0" dirty="0"/>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7F80B0C-654E-4712-8DC7-88EBBB8DFC3A}"/>
              </a:ext>
            </a:extLst>
          </p:cNvPr>
          <p:cNvSpPr>
            <a:spLocks noGrp="1" noChangeArrowheads="1"/>
          </p:cNvSpPr>
          <p:nvPr>
            <p:ph type="title"/>
          </p:nvPr>
        </p:nvSpPr>
        <p:spPr>
          <a:xfrm>
            <a:off x="611188" y="260350"/>
            <a:ext cx="6364287" cy="900113"/>
          </a:xfrm>
        </p:spPr>
        <p:txBody>
          <a:bodyPr/>
          <a:lstStyle/>
          <a:p>
            <a:pPr eaLnBrk="1" hangingPunct="1"/>
            <a:r>
              <a:rPr lang="en-GB" altLang="en-US" sz="4400" dirty="0"/>
              <a:t>Article II(2) NYC 1958</a:t>
            </a:r>
            <a:endParaRPr lang="en-US" altLang="en-US" sz="4400" dirty="0"/>
          </a:p>
        </p:txBody>
      </p:sp>
      <p:sp>
        <p:nvSpPr>
          <p:cNvPr id="28675" name="Rectangle 3">
            <a:extLst>
              <a:ext uri="{FF2B5EF4-FFF2-40B4-BE49-F238E27FC236}">
                <a16:creationId xmlns:a16="http://schemas.microsoft.com/office/drawing/2014/main" id="{E00CB66D-0205-41CA-AF2A-C1251A099B52}"/>
              </a:ext>
            </a:extLst>
          </p:cNvPr>
          <p:cNvSpPr>
            <a:spLocks noGrp="1" noChangeArrowheads="1"/>
          </p:cNvSpPr>
          <p:nvPr>
            <p:ph type="body" idx="1"/>
          </p:nvPr>
        </p:nvSpPr>
        <p:spPr>
          <a:xfrm>
            <a:off x="701675" y="1916113"/>
            <a:ext cx="7643813" cy="4725987"/>
          </a:xfrm>
        </p:spPr>
        <p:txBody>
          <a:bodyPr/>
          <a:lstStyle/>
          <a:p>
            <a:pPr eaLnBrk="1" hangingPunct="1"/>
            <a:r>
              <a:rPr lang="en-GB" altLang="en-US" b="1" dirty="0"/>
              <a:t>Formal Validity </a:t>
            </a:r>
            <a:r>
              <a:rPr lang="en-GB" altLang="en-US" sz="2400" dirty="0"/>
              <a:t>of the arbitration agreement under Article II(2) of NYC 1958: </a:t>
            </a:r>
          </a:p>
          <a:p>
            <a:pPr eaLnBrk="1" hangingPunct="1"/>
            <a:endParaRPr lang="en-GB" altLang="en-US" sz="2400" dirty="0"/>
          </a:p>
          <a:p>
            <a:pPr eaLnBrk="1" hangingPunct="1"/>
            <a:endParaRPr lang="en-GB" altLang="en-US" sz="2400" dirty="0"/>
          </a:p>
          <a:p>
            <a:pPr eaLnBrk="1" hangingPunct="1"/>
            <a:endParaRPr lang="en-GB" altLang="en-US" sz="2400" dirty="0"/>
          </a:p>
          <a:p>
            <a:pPr eaLnBrk="1" hangingPunct="1"/>
            <a:endParaRPr lang="en-GB" altLang="en-US" sz="2400" dirty="0"/>
          </a:p>
          <a:p>
            <a:pPr eaLnBrk="1" hangingPunct="1"/>
            <a:r>
              <a:rPr lang="en-GB" altLang="en-US" sz="2400" dirty="0"/>
              <a:t>See Section 5 of Arbitration Act 1996</a:t>
            </a:r>
          </a:p>
          <a:p>
            <a:pPr eaLnBrk="1" hangingPunct="1"/>
            <a:r>
              <a:rPr lang="en-GB" altLang="en-US" sz="2400" dirty="0"/>
              <a:t>Int’l maximum standard, broadly interpreted</a:t>
            </a:r>
          </a:p>
        </p:txBody>
      </p:sp>
      <p:pic>
        <p:nvPicPr>
          <p:cNvPr id="28676" name="Picture 4" descr="MCj04355460000[1]">
            <a:extLst>
              <a:ext uri="{FF2B5EF4-FFF2-40B4-BE49-F238E27FC236}">
                <a16:creationId xmlns:a16="http://schemas.microsoft.com/office/drawing/2014/main" id="{957FD0C6-F8B9-48BA-8A62-5A019D1176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1613" y="549275"/>
            <a:ext cx="17716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Rectangle 5">
            <a:extLst>
              <a:ext uri="{FF2B5EF4-FFF2-40B4-BE49-F238E27FC236}">
                <a16:creationId xmlns:a16="http://schemas.microsoft.com/office/drawing/2014/main" id="{CAD95095-9AC2-43F0-98B6-6613B6A0E090}"/>
              </a:ext>
            </a:extLst>
          </p:cNvPr>
          <p:cNvSpPr>
            <a:spLocks noChangeArrowheads="1"/>
          </p:cNvSpPr>
          <p:nvPr/>
        </p:nvSpPr>
        <p:spPr bwMode="auto">
          <a:xfrm>
            <a:off x="468313" y="2708275"/>
            <a:ext cx="8229600" cy="1827213"/>
          </a:xfrm>
          <a:prstGeom prst="rect">
            <a:avLst/>
          </a:prstGeom>
          <a:solidFill>
            <a:schemeClr val="hlink">
              <a:alpha val="20000"/>
            </a:schemeClr>
          </a:solidFill>
          <a:ln w="9525">
            <a:solidFill>
              <a:schemeClr val="hlink"/>
            </a:solidFill>
            <a:miter lim="800000"/>
            <a:headEnd/>
            <a:tailEnd/>
          </a:ln>
        </p:spPr>
        <p:txBody>
          <a:bodyPr/>
          <a:lstStyle>
            <a:lvl1pPr>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algn="ctr" eaLnBrk="1" hangingPunct="1">
              <a:buFont typeface="Arial" panose="020B0604020202020204" pitchFamily="34" charset="0"/>
              <a:buNone/>
            </a:pPr>
            <a:r>
              <a:rPr lang="en-GB" altLang="en-US" b="0"/>
              <a:t>‘</a:t>
            </a:r>
            <a:r>
              <a:rPr lang="en-GB" altLang="en-US" b="0">
                <a:solidFill>
                  <a:srgbClr val="FF6600"/>
                </a:solidFill>
              </a:rPr>
              <a:t>agreement in writing</a:t>
            </a:r>
            <a:r>
              <a:rPr lang="en-GB" altLang="en-US" b="0"/>
              <a:t> shall include an arbitral clause in a contract or an arbitration agreement, signed by the parties or contained in an exchange of letters or telegrams.’</a:t>
            </a: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19729E2-8C32-45A3-8500-7E69BF4401D4}"/>
              </a:ext>
            </a:extLst>
          </p:cNvPr>
          <p:cNvSpPr>
            <a:spLocks noGrp="1" noChangeArrowheads="1"/>
          </p:cNvSpPr>
          <p:nvPr>
            <p:ph type="title"/>
          </p:nvPr>
        </p:nvSpPr>
        <p:spPr>
          <a:xfrm>
            <a:off x="1116013" y="33338"/>
            <a:ext cx="7793037" cy="1462087"/>
          </a:xfrm>
        </p:spPr>
        <p:txBody>
          <a:bodyPr/>
          <a:lstStyle/>
          <a:p>
            <a:pPr eaLnBrk="1" hangingPunct="1"/>
            <a:r>
              <a:rPr lang="en-US" altLang="en-US"/>
              <a:t>A complex interaction of laws</a:t>
            </a:r>
          </a:p>
        </p:txBody>
      </p:sp>
      <p:sp>
        <p:nvSpPr>
          <p:cNvPr id="29699" name="Rectangle 3">
            <a:extLst>
              <a:ext uri="{FF2B5EF4-FFF2-40B4-BE49-F238E27FC236}">
                <a16:creationId xmlns:a16="http://schemas.microsoft.com/office/drawing/2014/main" id="{678DC1EA-2A87-4CA6-8F2C-3733606A0B71}"/>
              </a:ext>
            </a:extLst>
          </p:cNvPr>
          <p:cNvSpPr>
            <a:spLocks noGrp="1" noChangeArrowheads="1"/>
          </p:cNvSpPr>
          <p:nvPr>
            <p:ph type="body" idx="1"/>
          </p:nvPr>
        </p:nvSpPr>
        <p:spPr>
          <a:xfrm>
            <a:off x="1060450" y="1700213"/>
            <a:ext cx="7021513" cy="3241675"/>
          </a:xfrm>
        </p:spPr>
        <p:txBody>
          <a:bodyPr/>
          <a:lstStyle/>
          <a:p>
            <a:pPr eaLnBrk="1" hangingPunct="1">
              <a:lnSpc>
                <a:spcPct val="85000"/>
              </a:lnSpc>
              <a:spcBef>
                <a:spcPct val="15000"/>
              </a:spcBef>
            </a:pPr>
            <a:r>
              <a:rPr lang="en-US" altLang="en-US" dirty="0">
                <a:solidFill>
                  <a:srgbClr val="000000"/>
                </a:solidFill>
              </a:rPr>
              <a:t>Arbitration law of the seat of arbitration (the </a:t>
            </a:r>
            <a:r>
              <a:rPr lang="en-US" altLang="en-US" i="1" dirty="0">
                <a:solidFill>
                  <a:srgbClr val="000000"/>
                </a:solidFill>
              </a:rPr>
              <a:t>lex </a:t>
            </a:r>
            <a:r>
              <a:rPr lang="en-US" altLang="en-US" i="1" dirty="0" err="1">
                <a:solidFill>
                  <a:srgbClr val="000000"/>
                </a:solidFill>
              </a:rPr>
              <a:t>arbitri</a:t>
            </a:r>
            <a:r>
              <a:rPr lang="en-US" altLang="en-US" dirty="0">
                <a:solidFill>
                  <a:srgbClr val="000000"/>
                </a:solidFill>
              </a:rPr>
              <a:t>) </a:t>
            </a:r>
          </a:p>
          <a:p>
            <a:pPr eaLnBrk="1" hangingPunct="1">
              <a:lnSpc>
                <a:spcPct val="85000"/>
              </a:lnSpc>
              <a:spcBef>
                <a:spcPct val="15000"/>
              </a:spcBef>
            </a:pPr>
            <a:r>
              <a:rPr lang="en-US" altLang="en-US" dirty="0"/>
              <a:t>Law governing:</a:t>
            </a:r>
          </a:p>
          <a:p>
            <a:pPr lvl="1" eaLnBrk="1" hangingPunct="1">
              <a:lnSpc>
                <a:spcPct val="85000"/>
              </a:lnSpc>
              <a:spcBef>
                <a:spcPct val="15000"/>
              </a:spcBef>
            </a:pPr>
            <a:r>
              <a:rPr lang="en-US" altLang="en-US" dirty="0"/>
              <a:t>*Arbitration Agreement and performance thereof*</a:t>
            </a:r>
          </a:p>
          <a:p>
            <a:pPr lvl="1" eaLnBrk="1" hangingPunct="1">
              <a:lnSpc>
                <a:spcPct val="85000"/>
              </a:lnSpc>
              <a:spcBef>
                <a:spcPct val="15000"/>
              </a:spcBef>
            </a:pPr>
            <a:r>
              <a:rPr lang="en-US" altLang="en-US" dirty="0"/>
              <a:t>Proceedings of Arbitral Tribunal</a:t>
            </a:r>
          </a:p>
          <a:p>
            <a:pPr lvl="1" eaLnBrk="1" hangingPunct="1">
              <a:lnSpc>
                <a:spcPct val="85000"/>
              </a:lnSpc>
              <a:spcBef>
                <a:spcPct val="15000"/>
              </a:spcBef>
            </a:pPr>
            <a:r>
              <a:rPr lang="en-US" altLang="en-US" dirty="0"/>
              <a:t>Wider agreement/merits of the dispute</a:t>
            </a:r>
          </a:p>
          <a:p>
            <a:pPr marL="0" indent="0" eaLnBrk="1" hangingPunct="1">
              <a:lnSpc>
                <a:spcPct val="85000"/>
              </a:lnSpc>
              <a:spcBef>
                <a:spcPct val="15000"/>
              </a:spcBef>
              <a:buNone/>
            </a:pPr>
            <a:endParaRPr lang="en-US" altLang="en-US" dirty="0"/>
          </a:p>
        </p:txBody>
      </p:sp>
      <p:sp>
        <p:nvSpPr>
          <p:cNvPr id="29700" name="Rectangle 4">
            <a:extLst>
              <a:ext uri="{FF2B5EF4-FFF2-40B4-BE49-F238E27FC236}">
                <a16:creationId xmlns:a16="http://schemas.microsoft.com/office/drawing/2014/main" id="{263A68F7-1958-4C8E-AC96-D77CD99B0676}"/>
              </a:ext>
            </a:extLst>
          </p:cNvPr>
          <p:cNvSpPr>
            <a:spLocks noChangeArrowheads="1"/>
          </p:cNvSpPr>
          <p:nvPr/>
        </p:nvSpPr>
        <p:spPr bwMode="auto">
          <a:xfrm>
            <a:off x="858838" y="5734050"/>
            <a:ext cx="7426325" cy="647700"/>
          </a:xfrm>
          <a:prstGeom prst="rect">
            <a:avLst/>
          </a:prstGeom>
          <a:solidFill>
            <a:schemeClr val="hlink">
              <a:alpha val="20000"/>
            </a:schemeClr>
          </a:solidFill>
          <a:ln w="9525">
            <a:solidFill>
              <a:schemeClr val="hlink"/>
            </a:solidFill>
            <a:miter lim="800000"/>
            <a:headEnd/>
            <a:tailEnd/>
          </a:ln>
        </p:spPr>
        <p:txBody>
          <a:bodyPr/>
          <a:lstStyle>
            <a:lvl1pPr marL="365125" indent="-365125">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eaLnBrk="1" hangingPunct="1">
              <a:lnSpc>
                <a:spcPct val="85000"/>
              </a:lnSpc>
              <a:spcBef>
                <a:spcPct val="15000"/>
              </a:spcBef>
              <a:buFont typeface="Arial" panose="020B0604020202020204" pitchFamily="34" charset="0"/>
              <a:buNone/>
            </a:pPr>
            <a:r>
              <a:rPr lang="en-US" altLang="en-US" b="0" dirty="0"/>
              <a:t>* Relevant for this lecture</a:t>
            </a: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116013" y="188913"/>
            <a:ext cx="7793037" cy="1246187"/>
          </a:xfrm>
        </p:spPr>
        <p:txBody>
          <a:bodyPr/>
          <a:lstStyle/>
          <a:p>
            <a:pPr eaLnBrk="1" hangingPunct="1"/>
            <a:r>
              <a:rPr lang="en-US" altLang="en-US" dirty="0"/>
              <a:t>Law governing  Arbitration Agreement</a:t>
            </a:r>
          </a:p>
        </p:txBody>
      </p:sp>
      <p:sp>
        <p:nvSpPr>
          <p:cNvPr id="31747" name="Rectangle 3"/>
          <p:cNvSpPr>
            <a:spLocks noGrp="1" noChangeArrowheads="1"/>
          </p:cNvSpPr>
          <p:nvPr>
            <p:ph type="body" idx="1"/>
          </p:nvPr>
        </p:nvSpPr>
        <p:spPr>
          <a:xfrm>
            <a:off x="966788" y="1916113"/>
            <a:ext cx="7210425" cy="4267200"/>
          </a:xfrm>
        </p:spPr>
        <p:txBody>
          <a:bodyPr/>
          <a:lstStyle/>
          <a:p>
            <a:pPr algn="ctr" eaLnBrk="1" hangingPunct="1">
              <a:spcBef>
                <a:spcPct val="30000"/>
              </a:spcBef>
              <a:buNone/>
            </a:pPr>
            <a:r>
              <a:rPr lang="en-US" altLang="en-US" i="1" dirty="0"/>
              <a:t>Enka v Chubb</a:t>
            </a:r>
            <a:r>
              <a:rPr lang="en-US" altLang="en-US" b="1" dirty="0"/>
              <a:t> </a:t>
            </a:r>
            <a:r>
              <a:rPr lang="en-GB" dirty="0"/>
              <a:t>[2020] UKSC 38</a:t>
            </a:r>
            <a:endParaRPr lang="en-US" altLang="en-US" b="1" dirty="0"/>
          </a:p>
          <a:p>
            <a:r>
              <a:rPr lang="en-GB" sz="2000" dirty="0"/>
              <a:t>Enka was a subcontractor for the construction of a power plant in Russia. The contract contained an arbitration agreement which provided for ICC arbitration in London but did not specify the law governing the arbitration agreement.  The parties’ contract did not expressly specify the governing law for the contract itself.</a:t>
            </a:r>
          </a:p>
          <a:p>
            <a:r>
              <a:rPr lang="en-GB" sz="2000" dirty="0"/>
              <a:t>In 2016, a fire occurred at the power plant and Chubb paid out US$400 million to its insured in respect of damage caused by the fire. Chubb became subrogated to the insured’s rights and asserted that the fire had been caused by Enka’s defective works.</a:t>
            </a:r>
          </a:p>
          <a:p>
            <a:pPr eaLnBrk="1" hangingPunct="1">
              <a:spcBef>
                <a:spcPct val="30000"/>
              </a:spcBef>
            </a:pPr>
            <a:endParaRPr lang="en-US" altLang="en-US" dirty="0"/>
          </a:p>
        </p:txBody>
      </p:sp>
    </p:spTree>
    <p:extLst>
      <p:ext uri="{BB962C8B-B14F-4D97-AF65-F5344CB8AC3E}">
        <p14:creationId xmlns:p14="http://schemas.microsoft.com/office/powerpoint/2010/main" val="4129841320"/>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116013" y="188913"/>
            <a:ext cx="7793037" cy="1246187"/>
          </a:xfrm>
        </p:spPr>
        <p:txBody>
          <a:bodyPr/>
          <a:lstStyle/>
          <a:p>
            <a:pPr eaLnBrk="1" hangingPunct="1"/>
            <a:r>
              <a:rPr lang="en-US" altLang="en-US"/>
              <a:t>Law governing  arbitration agmt</a:t>
            </a:r>
          </a:p>
        </p:txBody>
      </p:sp>
      <p:sp>
        <p:nvSpPr>
          <p:cNvPr id="31747" name="Rectangle 3"/>
          <p:cNvSpPr>
            <a:spLocks noGrp="1" noChangeArrowheads="1"/>
          </p:cNvSpPr>
          <p:nvPr>
            <p:ph type="body" idx="1"/>
          </p:nvPr>
        </p:nvSpPr>
        <p:spPr>
          <a:xfrm>
            <a:off x="966788" y="1916113"/>
            <a:ext cx="7210425" cy="4267200"/>
          </a:xfrm>
        </p:spPr>
        <p:txBody>
          <a:bodyPr/>
          <a:lstStyle/>
          <a:p>
            <a:pPr algn="ctr" eaLnBrk="1" hangingPunct="1">
              <a:spcBef>
                <a:spcPct val="30000"/>
              </a:spcBef>
              <a:buNone/>
            </a:pPr>
            <a:r>
              <a:rPr lang="en-US" altLang="en-US" i="1" dirty="0"/>
              <a:t>Enka v Chubb</a:t>
            </a:r>
            <a:r>
              <a:rPr lang="en-US" altLang="en-US" b="1" dirty="0"/>
              <a:t> </a:t>
            </a:r>
            <a:r>
              <a:rPr lang="en-GB" dirty="0"/>
              <a:t>[2020] UKSC 38</a:t>
            </a:r>
            <a:endParaRPr lang="en-US" altLang="en-US" b="1" dirty="0"/>
          </a:p>
          <a:p>
            <a:r>
              <a:rPr lang="en-GB" sz="2000" dirty="0"/>
              <a:t>On 25 May 2019, Chubb filed claims against Enka and 10 other parties with the Moscow </a:t>
            </a:r>
            <a:r>
              <a:rPr lang="en-GB" sz="2000" dirty="0" err="1"/>
              <a:t>Arbitrazh</a:t>
            </a:r>
            <a:r>
              <a:rPr lang="en-GB" sz="2000" dirty="0"/>
              <a:t> Court (Russian Proceedings). Chubb’s claims were accepted by the Moscow </a:t>
            </a:r>
            <a:r>
              <a:rPr lang="en-GB" sz="2000" dirty="0" err="1"/>
              <a:t>Arbitrazh</a:t>
            </a:r>
            <a:r>
              <a:rPr lang="en-GB" sz="2000" dirty="0"/>
              <a:t> Court on 3 September 2019.</a:t>
            </a:r>
          </a:p>
          <a:p>
            <a:r>
              <a:rPr lang="en-GB" sz="2000" dirty="0"/>
              <a:t>On 16 September 2019, Enka issued proceedings in the English Commercial Court, seeking an anti-suit injunction restraining Chubb from continuing the Russian Proceedings and requiring it to discontinue those proceedings. Additionally, Enka (a) sought a declaration that Chubb was bound by the arbitration agreement which covered Chubb’s claims and (b) filed a motion with the Moscow </a:t>
            </a:r>
            <a:r>
              <a:rPr lang="en-GB" sz="2000" dirty="0" err="1"/>
              <a:t>Arbitrazh</a:t>
            </a:r>
            <a:r>
              <a:rPr lang="en-GB" sz="2000" dirty="0"/>
              <a:t> Court on 17 September 2019, seeking dismissal of Chubb’s claims on the basis of the arbitration agreement.</a:t>
            </a:r>
          </a:p>
          <a:p>
            <a:pPr eaLnBrk="1" hangingPunct="1">
              <a:spcBef>
                <a:spcPct val="30000"/>
              </a:spcBef>
            </a:pPr>
            <a:endParaRPr lang="en-US" altLang="en-US" dirty="0"/>
          </a:p>
        </p:txBody>
      </p:sp>
    </p:spTree>
    <p:extLst>
      <p:ext uri="{BB962C8B-B14F-4D97-AF65-F5344CB8AC3E}">
        <p14:creationId xmlns:p14="http://schemas.microsoft.com/office/powerpoint/2010/main" val="1369666010"/>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116013" y="188913"/>
            <a:ext cx="7793037" cy="1246187"/>
          </a:xfrm>
        </p:spPr>
        <p:txBody>
          <a:bodyPr/>
          <a:lstStyle/>
          <a:p>
            <a:pPr eaLnBrk="1" hangingPunct="1"/>
            <a:r>
              <a:rPr lang="en-US" altLang="en-US"/>
              <a:t>Law governing  arbitration agmt</a:t>
            </a:r>
          </a:p>
        </p:txBody>
      </p:sp>
      <p:sp>
        <p:nvSpPr>
          <p:cNvPr id="31747" name="Rectangle 3"/>
          <p:cNvSpPr>
            <a:spLocks noGrp="1" noChangeArrowheads="1"/>
          </p:cNvSpPr>
          <p:nvPr>
            <p:ph type="body" idx="1"/>
          </p:nvPr>
        </p:nvSpPr>
        <p:spPr>
          <a:xfrm>
            <a:off x="966788" y="1916113"/>
            <a:ext cx="7210425" cy="4267200"/>
          </a:xfrm>
        </p:spPr>
        <p:txBody>
          <a:bodyPr/>
          <a:lstStyle/>
          <a:p>
            <a:pPr algn="ctr" eaLnBrk="1" hangingPunct="1">
              <a:spcBef>
                <a:spcPct val="30000"/>
              </a:spcBef>
              <a:buNone/>
            </a:pPr>
            <a:r>
              <a:rPr lang="en-US" altLang="en-US" i="1" dirty="0"/>
              <a:t>Enka v Chubb</a:t>
            </a:r>
            <a:r>
              <a:rPr lang="en-US" altLang="en-US" b="1" dirty="0"/>
              <a:t> </a:t>
            </a:r>
            <a:r>
              <a:rPr lang="en-GB" dirty="0"/>
              <a:t>[2020] UKSC 38 – Practical Implications of the Decision I</a:t>
            </a:r>
            <a:endParaRPr lang="en-US" altLang="en-US" b="1" dirty="0"/>
          </a:p>
          <a:p>
            <a:r>
              <a:rPr lang="en-GB" sz="2000" dirty="0"/>
              <a:t>If the arbitration agreement in your contract expressly specifies the law which governs the arbitration agreement, this law governs the arbitration agreement.</a:t>
            </a:r>
          </a:p>
          <a:p>
            <a:r>
              <a:rPr lang="en-GB" sz="2000" dirty="0"/>
              <a:t>If the arbitration agreement in your contract does not specify the applicable governing law, the English court will apply common law principles of interpretation to interpret the contract (including the arbitration agreement) as a whole. Generally speaking, the law governing the main contract will also govern the arbitration agreement.</a:t>
            </a:r>
          </a:p>
          <a:p>
            <a:pPr eaLnBrk="1" hangingPunct="1">
              <a:spcBef>
                <a:spcPct val="30000"/>
              </a:spcBef>
            </a:pPr>
            <a:endParaRPr lang="en-US" altLang="en-US" dirty="0"/>
          </a:p>
        </p:txBody>
      </p:sp>
    </p:spTree>
    <p:extLst>
      <p:ext uri="{BB962C8B-B14F-4D97-AF65-F5344CB8AC3E}">
        <p14:creationId xmlns:p14="http://schemas.microsoft.com/office/powerpoint/2010/main" val="816192803"/>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116013" y="188913"/>
            <a:ext cx="7793037" cy="1246187"/>
          </a:xfrm>
        </p:spPr>
        <p:txBody>
          <a:bodyPr/>
          <a:lstStyle/>
          <a:p>
            <a:pPr eaLnBrk="1" hangingPunct="1"/>
            <a:r>
              <a:rPr lang="en-US" altLang="en-US"/>
              <a:t>Law governing  arbitration agmt</a:t>
            </a:r>
          </a:p>
        </p:txBody>
      </p:sp>
      <p:sp>
        <p:nvSpPr>
          <p:cNvPr id="31747" name="Rectangle 3"/>
          <p:cNvSpPr>
            <a:spLocks noGrp="1" noChangeArrowheads="1"/>
          </p:cNvSpPr>
          <p:nvPr>
            <p:ph type="body" idx="1"/>
          </p:nvPr>
        </p:nvSpPr>
        <p:spPr>
          <a:xfrm>
            <a:off x="966788" y="1916113"/>
            <a:ext cx="7210425" cy="4267200"/>
          </a:xfrm>
        </p:spPr>
        <p:txBody>
          <a:bodyPr/>
          <a:lstStyle/>
          <a:p>
            <a:pPr algn="ctr" eaLnBrk="1" hangingPunct="1">
              <a:spcBef>
                <a:spcPct val="30000"/>
              </a:spcBef>
              <a:buNone/>
            </a:pPr>
            <a:r>
              <a:rPr lang="en-US" altLang="en-US" i="1" dirty="0"/>
              <a:t>Enka v Chubb</a:t>
            </a:r>
            <a:r>
              <a:rPr lang="en-US" altLang="en-US" b="1" dirty="0"/>
              <a:t> </a:t>
            </a:r>
            <a:r>
              <a:rPr lang="en-GB" dirty="0"/>
              <a:t>[2020] UKSC 38 – Practical Implications of the Decision II</a:t>
            </a:r>
            <a:endParaRPr lang="en-US" altLang="en-US" b="1" dirty="0"/>
          </a:p>
          <a:p>
            <a:r>
              <a:rPr lang="en-GB" sz="2000" dirty="0"/>
              <a:t>If neither the arbitration agreement nor the main contract expressly identifies governing laws, the contract and the arbitration agreement will be governed by the laws with which they are most closely connected. In this instance, the inference arising is that the law of the seat will govern the arbitration agreement.</a:t>
            </a:r>
          </a:p>
          <a:p>
            <a:r>
              <a:rPr lang="en-GB" sz="2000" dirty="0"/>
              <a:t>If you have nominated England as the seat for your arbitration, the English court is prepared to exercise its supervisory powers to grant an anti-suit injunction against any attempt to circumvent the arbitration agreement by commencing and pursuing court proceedings. It will do so irrespective of the law governing the main contract or indeed the arbitration agreement.</a:t>
            </a:r>
          </a:p>
          <a:p>
            <a:endParaRPr lang="en-US" altLang="en-US" dirty="0"/>
          </a:p>
        </p:txBody>
      </p:sp>
    </p:spTree>
    <p:extLst>
      <p:ext uri="{BB962C8B-B14F-4D97-AF65-F5344CB8AC3E}">
        <p14:creationId xmlns:p14="http://schemas.microsoft.com/office/powerpoint/2010/main" val="3539351233"/>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94135-03D7-31A8-2802-35CBAF7112AB}"/>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83EB5E85-BBB7-4379-D528-88671A91B8F6}"/>
              </a:ext>
            </a:extLst>
          </p:cNvPr>
          <p:cNvSpPr>
            <a:spLocks noGrp="1" noChangeArrowheads="1"/>
          </p:cNvSpPr>
          <p:nvPr>
            <p:ph type="title"/>
          </p:nvPr>
        </p:nvSpPr>
        <p:spPr>
          <a:xfrm>
            <a:off x="1116013" y="188913"/>
            <a:ext cx="7793037" cy="1246187"/>
          </a:xfrm>
        </p:spPr>
        <p:txBody>
          <a:bodyPr/>
          <a:lstStyle/>
          <a:p>
            <a:pPr eaLnBrk="1" hangingPunct="1"/>
            <a:r>
              <a:rPr lang="en-US" altLang="en-US"/>
              <a:t>Law governing  arbitration agmt</a:t>
            </a:r>
          </a:p>
        </p:txBody>
      </p:sp>
      <p:sp>
        <p:nvSpPr>
          <p:cNvPr id="31747" name="Rectangle 3">
            <a:extLst>
              <a:ext uri="{FF2B5EF4-FFF2-40B4-BE49-F238E27FC236}">
                <a16:creationId xmlns:a16="http://schemas.microsoft.com/office/drawing/2014/main" id="{CC2670AF-1BD0-2946-0E40-D7F1816CF30C}"/>
              </a:ext>
            </a:extLst>
          </p:cNvPr>
          <p:cNvSpPr>
            <a:spLocks noGrp="1" noChangeArrowheads="1"/>
          </p:cNvSpPr>
          <p:nvPr>
            <p:ph type="body" idx="1"/>
          </p:nvPr>
        </p:nvSpPr>
        <p:spPr>
          <a:xfrm>
            <a:off x="966788" y="1916113"/>
            <a:ext cx="7210425" cy="4267200"/>
          </a:xfrm>
        </p:spPr>
        <p:txBody>
          <a:bodyPr/>
          <a:lstStyle/>
          <a:p>
            <a:pPr algn="just" eaLnBrk="1" hangingPunct="1">
              <a:spcBef>
                <a:spcPct val="30000"/>
              </a:spcBef>
              <a:buNone/>
            </a:pPr>
            <a:r>
              <a:rPr lang="en-US" altLang="en-US" b="1" dirty="0"/>
              <a:t>Section 1(2) of the Arbitration Act 2025 inserts Section 6A into the Arbitration Act 1996</a:t>
            </a:r>
          </a:p>
          <a:p>
            <a:pPr marL="0" indent="0" algn="l">
              <a:buNone/>
            </a:pPr>
            <a:r>
              <a:rPr lang="en-GB" sz="2400" b="1" i="0" u="none" strike="noStrike" dirty="0">
                <a:solidFill>
                  <a:srgbClr val="000000"/>
                </a:solidFill>
                <a:effectLst/>
                <a:latin typeface="arial" panose="020B0604020202020204" pitchFamily="34" charset="0"/>
              </a:rPr>
              <a:t>	6A Law applicable to arbitration 	agreement</a:t>
            </a:r>
          </a:p>
          <a:p>
            <a:pPr marL="0" indent="0" algn="l">
              <a:buNone/>
            </a:pPr>
            <a:r>
              <a:rPr lang="en-GB" sz="2400" b="0" i="0" u="none" strike="noStrike" dirty="0">
                <a:solidFill>
                  <a:srgbClr val="1E1E1E"/>
                </a:solidFill>
                <a:effectLst/>
                <a:latin typeface="arial" panose="020B0604020202020204" pitchFamily="34" charset="0"/>
              </a:rPr>
              <a:t>	(1)The law applicable to an arbitration 	agreement is—</a:t>
            </a:r>
          </a:p>
          <a:p>
            <a:pPr marL="0" indent="0" algn="l">
              <a:buNone/>
            </a:pPr>
            <a:r>
              <a:rPr lang="en-GB" sz="2400" b="0" i="0" u="none" strike="noStrike" dirty="0">
                <a:solidFill>
                  <a:srgbClr val="1E1E1E"/>
                </a:solidFill>
                <a:effectLst/>
                <a:latin typeface="arial" panose="020B0604020202020204" pitchFamily="34" charset="0"/>
              </a:rPr>
              <a:t>	(a)the law that the parties expressly agree 	applies to the arbitration agreement, or</a:t>
            </a:r>
          </a:p>
          <a:p>
            <a:pPr marL="0" indent="0" algn="l">
              <a:buNone/>
            </a:pPr>
            <a:r>
              <a:rPr lang="en-GB" sz="2400" b="0" i="0" u="none" strike="noStrike" dirty="0">
                <a:solidFill>
                  <a:srgbClr val="1E1E1E"/>
                </a:solidFill>
                <a:effectLst/>
                <a:latin typeface="arial" panose="020B0604020202020204" pitchFamily="34" charset="0"/>
              </a:rPr>
              <a:t>	(b)where no such agreement is made, the 	law of the seat of the arbitration in question.</a:t>
            </a:r>
          </a:p>
          <a:p>
            <a:endParaRPr lang="en-US" altLang="en-US" dirty="0"/>
          </a:p>
        </p:txBody>
      </p:sp>
    </p:spTree>
    <p:extLst>
      <p:ext uri="{BB962C8B-B14F-4D97-AF65-F5344CB8AC3E}">
        <p14:creationId xmlns:p14="http://schemas.microsoft.com/office/powerpoint/2010/main" val="694075243"/>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D25F29C-8910-458F-B4F8-5F915B4FB46A}"/>
              </a:ext>
            </a:extLst>
          </p:cNvPr>
          <p:cNvSpPr>
            <a:spLocks noGrp="1" noChangeArrowheads="1"/>
          </p:cNvSpPr>
          <p:nvPr>
            <p:ph type="title" idx="4294967295"/>
          </p:nvPr>
        </p:nvSpPr>
        <p:spPr>
          <a:xfrm>
            <a:off x="1116013" y="-26988"/>
            <a:ext cx="7793037" cy="1462088"/>
          </a:xfrm>
        </p:spPr>
        <p:txBody>
          <a:bodyPr/>
          <a:lstStyle/>
          <a:p>
            <a:pPr eaLnBrk="1" hangingPunct="1"/>
            <a:r>
              <a:rPr lang="en-US" altLang="en-US"/>
              <a:t>Law governing  arbitration agmt </a:t>
            </a:r>
          </a:p>
        </p:txBody>
      </p:sp>
      <p:sp>
        <p:nvSpPr>
          <p:cNvPr id="43011" name="Rectangle 3">
            <a:extLst>
              <a:ext uri="{FF2B5EF4-FFF2-40B4-BE49-F238E27FC236}">
                <a16:creationId xmlns:a16="http://schemas.microsoft.com/office/drawing/2014/main" id="{A50F013B-1CE2-49A9-B39D-C3DAD2B0BC0B}"/>
              </a:ext>
            </a:extLst>
          </p:cNvPr>
          <p:cNvSpPr>
            <a:spLocks noGrp="1" noChangeArrowheads="1"/>
          </p:cNvSpPr>
          <p:nvPr>
            <p:ph type="body" idx="4294967295"/>
          </p:nvPr>
        </p:nvSpPr>
        <p:spPr>
          <a:xfrm>
            <a:off x="395288" y="1484313"/>
            <a:ext cx="8351837" cy="4708525"/>
          </a:xfrm>
        </p:spPr>
        <p:txBody>
          <a:bodyPr/>
          <a:lstStyle/>
          <a:p>
            <a:pPr algn="ctr" eaLnBrk="1" hangingPunct="1">
              <a:buFont typeface="Arial" panose="020B0604020202020204" pitchFamily="34" charset="0"/>
              <a:buNone/>
            </a:pPr>
            <a:r>
              <a:rPr lang="en-US" altLang="en-US" b="1"/>
              <a:t>Scotland Arbitration Act 2010, Section 6: </a:t>
            </a:r>
          </a:p>
          <a:p>
            <a:pPr eaLnBrk="1" hangingPunct="1">
              <a:buFont typeface="Arial" panose="020B0604020202020204" pitchFamily="34" charset="0"/>
              <a:buNone/>
            </a:pPr>
            <a:r>
              <a:rPr lang="en-US" altLang="en-US"/>
              <a:t>Law governing arbitration agreement</a:t>
            </a:r>
          </a:p>
          <a:p>
            <a:pPr eaLnBrk="1" hangingPunct="1">
              <a:buFont typeface="Arial" panose="020B0604020202020204" pitchFamily="34" charset="0"/>
              <a:buNone/>
            </a:pPr>
            <a:r>
              <a:rPr lang="en-US" altLang="en-US"/>
              <a:t>Where—</a:t>
            </a:r>
          </a:p>
          <a:p>
            <a:pPr eaLnBrk="1" hangingPunct="1">
              <a:buFont typeface="Arial" panose="020B0604020202020204" pitchFamily="34" charset="0"/>
              <a:buNone/>
            </a:pPr>
            <a:r>
              <a:rPr lang="en-US" altLang="en-US"/>
              <a:t>(a)the parties to an arbitration agreement agree that an arbitration under that agreement is to be seated in Scotland, but</a:t>
            </a:r>
          </a:p>
          <a:p>
            <a:pPr eaLnBrk="1" hangingPunct="1">
              <a:buFont typeface="Arial" panose="020B0604020202020204" pitchFamily="34" charset="0"/>
              <a:buNone/>
            </a:pPr>
            <a:r>
              <a:rPr lang="en-US" altLang="en-US"/>
              <a:t>(b)the arbitration agreement </a:t>
            </a:r>
            <a:r>
              <a:rPr lang="en-US" altLang="en-US" u="sng"/>
              <a:t>does not specify the law which is to govern it</a:t>
            </a:r>
            <a:r>
              <a:rPr lang="en-US" altLang="en-US"/>
              <a:t>,</a:t>
            </a:r>
          </a:p>
          <a:p>
            <a:pPr algn="ctr" eaLnBrk="1" hangingPunct="1">
              <a:buFont typeface="Arial" panose="020B0604020202020204" pitchFamily="34" charset="0"/>
              <a:buNone/>
            </a:pPr>
            <a:r>
              <a:rPr lang="en-US" altLang="en-US" b="1"/>
              <a:t>then, unless parties otherwise agree, </a:t>
            </a:r>
            <a:r>
              <a:rPr lang="en-US" altLang="en-US" b="1" u="sng"/>
              <a:t>arbitration agreement is to be governed by Scots law</a:t>
            </a:r>
            <a:r>
              <a:rPr lang="en-US" altLang="en-US" b="1"/>
              <a:t>.</a:t>
            </a: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722EDF0-0002-4DAC-AD5B-9F4C682ED21C}"/>
              </a:ext>
            </a:extLst>
          </p:cNvPr>
          <p:cNvSpPr>
            <a:spLocks noGrp="1" noChangeArrowheads="1"/>
          </p:cNvSpPr>
          <p:nvPr>
            <p:ph type="title"/>
          </p:nvPr>
        </p:nvSpPr>
        <p:spPr>
          <a:xfrm>
            <a:off x="1116013" y="33338"/>
            <a:ext cx="7793037" cy="1462087"/>
          </a:xfrm>
        </p:spPr>
        <p:txBody>
          <a:bodyPr/>
          <a:lstStyle/>
          <a:p>
            <a:pPr eaLnBrk="1" hangingPunct="1"/>
            <a:r>
              <a:rPr lang="en-US" altLang="en-US"/>
              <a:t>Law governing  arbitration agmt </a:t>
            </a:r>
          </a:p>
        </p:txBody>
      </p:sp>
      <p:sp>
        <p:nvSpPr>
          <p:cNvPr id="40963" name="Rectangle 3">
            <a:extLst>
              <a:ext uri="{FF2B5EF4-FFF2-40B4-BE49-F238E27FC236}">
                <a16:creationId xmlns:a16="http://schemas.microsoft.com/office/drawing/2014/main" id="{D56DF7D4-8791-4DF7-B96D-3C4BDF07D7BC}"/>
              </a:ext>
            </a:extLst>
          </p:cNvPr>
          <p:cNvSpPr>
            <a:spLocks noGrp="1" noChangeArrowheads="1"/>
          </p:cNvSpPr>
          <p:nvPr>
            <p:ph type="body" idx="1"/>
          </p:nvPr>
        </p:nvSpPr>
        <p:spPr>
          <a:xfrm>
            <a:off x="571500" y="1557338"/>
            <a:ext cx="8001000" cy="4760912"/>
          </a:xfrm>
        </p:spPr>
        <p:txBody>
          <a:bodyPr/>
          <a:lstStyle/>
          <a:p>
            <a:pPr marL="0" indent="0" algn="ctr" eaLnBrk="1" hangingPunct="1">
              <a:lnSpc>
                <a:spcPct val="95000"/>
              </a:lnSpc>
              <a:spcBef>
                <a:spcPct val="15000"/>
              </a:spcBef>
              <a:buFont typeface="Arial" panose="020B0604020202020204" pitchFamily="34" charset="0"/>
              <a:buNone/>
            </a:pPr>
            <a:r>
              <a:rPr lang="en-US" altLang="en-US" b="1"/>
              <a:t>Combining several approaches</a:t>
            </a:r>
          </a:p>
          <a:p>
            <a:pPr marL="0" indent="0" algn="ctr" eaLnBrk="1" hangingPunct="1">
              <a:lnSpc>
                <a:spcPct val="95000"/>
              </a:lnSpc>
              <a:spcBef>
                <a:spcPct val="15000"/>
              </a:spcBef>
              <a:buFont typeface="Arial" panose="020B0604020202020204" pitchFamily="34" charset="0"/>
              <a:buNone/>
            </a:pPr>
            <a:r>
              <a:rPr lang="en-US" altLang="en-US"/>
              <a:t>Art 178 of the Swiss Federal Statute of Private International Law:</a:t>
            </a:r>
          </a:p>
          <a:p>
            <a:pPr marL="0" indent="0" algn="ctr" eaLnBrk="1" hangingPunct="1">
              <a:lnSpc>
                <a:spcPct val="95000"/>
              </a:lnSpc>
              <a:spcBef>
                <a:spcPct val="15000"/>
              </a:spcBef>
              <a:buFont typeface="Arial" panose="020B0604020202020204" pitchFamily="34" charset="0"/>
              <a:buNone/>
            </a:pPr>
            <a:endParaRPr lang="en-US" altLang="en-US"/>
          </a:p>
          <a:p>
            <a:pPr marL="0" indent="0" eaLnBrk="1" hangingPunct="1">
              <a:lnSpc>
                <a:spcPct val="95000"/>
              </a:lnSpc>
              <a:spcBef>
                <a:spcPct val="15000"/>
              </a:spcBef>
            </a:pPr>
            <a:endParaRPr lang="en-US" altLang="en-US"/>
          </a:p>
          <a:p>
            <a:pPr marL="892175" lvl="1" indent="-261938" eaLnBrk="1" hangingPunct="1">
              <a:lnSpc>
                <a:spcPct val="95000"/>
              </a:lnSpc>
              <a:spcBef>
                <a:spcPct val="15000"/>
              </a:spcBef>
            </a:pPr>
            <a:endParaRPr lang="en-US" altLang="en-US"/>
          </a:p>
          <a:p>
            <a:pPr marL="892175" lvl="1" indent="-261938" eaLnBrk="1" hangingPunct="1">
              <a:lnSpc>
                <a:spcPct val="95000"/>
              </a:lnSpc>
              <a:spcBef>
                <a:spcPct val="15000"/>
              </a:spcBef>
            </a:pPr>
            <a:endParaRPr lang="en-US" altLang="en-US"/>
          </a:p>
          <a:p>
            <a:pPr marL="892175" lvl="1" indent="-261938" eaLnBrk="1" hangingPunct="1">
              <a:lnSpc>
                <a:spcPct val="95000"/>
              </a:lnSpc>
              <a:spcBef>
                <a:spcPct val="15000"/>
              </a:spcBef>
            </a:pPr>
            <a:endParaRPr lang="en-US" altLang="en-US"/>
          </a:p>
          <a:p>
            <a:pPr marL="892175" lvl="1" indent="-261938" eaLnBrk="1" hangingPunct="1">
              <a:lnSpc>
                <a:spcPct val="95000"/>
              </a:lnSpc>
              <a:spcBef>
                <a:spcPct val="15000"/>
              </a:spcBef>
            </a:pPr>
            <a:endParaRPr lang="en-US" altLang="en-US"/>
          </a:p>
          <a:p>
            <a:pPr marL="0" indent="0" algn="ctr" eaLnBrk="1" hangingPunct="1">
              <a:lnSpc>
                <a:spcPct val="95000"/>
              </a:lnSpc>
              <a:spcBef>
                <a:spcPct val="15000"/>
              </a:spcBef>
              <a:buFont typeface="Arial" panose="020B0604020202020204" pitchFamily="34" charset="0"/>
              <a:buNone/>
            </a:pPr>
            <a:r>
              <a:rPr lang="en-US" altLang="en-US"/>
              <a:t>Facultative approach avoids applicable law trap </a:t>
            </a:r>
          </a:p>
        </p:txBody>
      </p:sp>
      <p:sp>
        <p:nvSpPr>
          <p:cNvPr id="40964" name="Rectangle 4">
            <a:extLst>
              <a:ext uri="{FF2B5EF4-FFF2-40B4-BE49-F238E27FC236}">
                <a16:creationId xmlns:a16="http://schemas.microsoft.com/office/drawing/2014/main" id="{8C55978C-1751-4105-AA4C-CBBC881F827A}"/>
              </a:ext>
            </a:extLst>
          </p:cNvPr>
          <p:cNvSpPr>
            <a:spLocks noChangeArrowheads="1"/>
          </p:cNvSpPr>
          <p:nvPr/>
        </p:nvSpPr>
        <p:spPr bwMode="auto">
          <a:xfrm>
            <a:off x="719138" y="3068638"/>
            <a:ext cx="7704137" cy="2592387"/>
          </a:xfrm>
          <a:prstGeom prst="rect">
            <a:avLst/>
          </a:prstGeom>
          <a:solidFill>
            <a:schemeClr val="hlink">
              <a:alpha val="20000"/>
            </a:schemeClr>
          </a:solidFill>
          <a:ln w="9525">
            <a:solidFill>
              <a:schemeClr val="hlink"/>
            </a:solidFill>
            <a:miter lim="800000"/>
            <a:headEnd/>
            <a:tailEnd/>
          </a:ln>
        </p:spPr>
        <p:txBody>
          <a:bodyPr anchor="ctr" anchorCtr="1"/>
          <a:lstStyle>
            <a:lvl1pPr>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534988" indent="-35560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eaLnBrk="1" hangingPunct="1">
              <a:lnSpc>
                <a:spcPct val="95000"/>
              </a:lnSpc>
              <a:spcBef>
                <a:spcPct val="15000"/>
              </a:spcBef>
              <a:buFont typeface="Arial" panose="020B0604020202020204" pitchFamily="34" charset="0"/>
              <a:buNone/>
            </a:pPr>
            <a:r>
              <a:rPr lang="en-US" altLang="en-US" b="0"/>
              <a:t>‘As regards its substance, the arbitration agreement shall be valid if it conforms either with:</a:t>
            </a:r>
          </a:p>
          <a:p>
            <a:pPr lvl="1" eaLnBrk="1" hangingPunct="1">
              <a:lnSpc>
                <a:spcPct val="95000"/>
              </a:lnSpc>
              <a:spcBef>
                <a:spcPct val="15000"/>
              </a:spcBef>
              <a:buClr>
                <a:schemeClr val="bg2"/>
              </a:buClr>
              <a:buSzTx/>
              <a:buFont typeface="Arial" panose="020B0604020202020204" pitchFamily="34" charset="0"/>
              <a:buChar char="►"/>
            </a:pPr>
            <a:r>
              <a:rPr lang="en-US" altLang="en-US" b="0"/>
              <a:t>the law chosen by the parties, or</a:t>
            </a:r>
          </a:p>
          <a:p>
            <a:pPr lvl="1" eaLnBrk="1" hangingPunct="1">
              <a:lnSpc>
                <a:spcPct val="95000"/>
              </a:lnSpc>
              <a:spcBef>
                <a:spcPct val="15000"/>
              </a:spcBef>
              <a:buClr>
                <a:schemeClr val="bg2"/>
              </a:buClr>
              <a:buSzTx/>
              <a:buFont typeface="Arial" panose="020B0604020202020204" pitchFamily="34" charset="0"/>
              <a:buChar char="►"/>
            </a:pPr>
            <a:r>
              <a:rPr lang="en-US" altLang="en-US" b="0"/>
              <a:t>the law governing the subject-matter of the dispute, </a:t>
            </a:r>
          </a:p>
          <a:p>
            <a:pPr lvl="1" eaLnBrk="1" hangingPunct="1">
              <a:lnSpc>
                <a:spcPct val="95000"/>
              </a:lnSpc>
              <a:spcBef>
                <a:spcPct val="15000"/>
              </a:spcBef>
              <a:buClr>
                <a:schemeClr val="bg2"/>
              </a:buClr>
              <a:buSzTx/>
              <a:buFont typeface="Arial" panose="020B0604020202020204" pitchFamily="34" charset="0"/>
              <a:buChar char="►"/>
            </a:pPr>
            <a:r>
              <a:rPr lang="en-US" altLang="en-US" b="0"/>
              <a:t>the Swiss law.’ </a:t>
            </a: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7A7F4F4-1E35-4DCD-B70E-12A94EE18C16}"/>
              </a:ext>
            </a:extLst>
          </p:cNvPr>
          <p:cNvSpPr>
            <a:spLocks noGrp="1" noChangeArrowheads="1"/>
          </p:cNvSpPr>
          <p:nvPr>
            <p:ph type="title"/>
          </p:nvPr>
        </p:nvSpPr>
        <p:spPr/>
        <p:txBody>
          <a:bodyPr/>
          <a:lstStyle/>
          <a:p>
            <a:pPr eaLnBrk="1" hangingPunct="1"/>
            <a:r>
              <a:rPr lang="en-US" altLang="en-US"/>
              <a:t>The law governing the arbitration procedure</a:t>
            </a:r>
          </a:p>
        </p:txBody>
      </p:sp>
      <p:sp>
        <p:nvSpPr>
          <p:cNvPr id="44035" name="Rectangle 3">
            <a:extLst>
              <a:ext uri="{FF2B5EF4-FFF2-40B4-BE49-F238E27FC236}">
                <a16:creationId xmlns:a16="http://schemas.microsoft.com/office/drawing/2014/main" id="{B303E0D1-1947-49EE-BEBA-4D75788DC458}"/>
              </a:ext>
            </a:extLst>
          </p:cNvPr>
          <p:cNvSpPr>
            <a:spLocks noGrp="1" noChangeArrowheads="1"/>
          </p:cNvSpPr>
          <p:nvPr>
            <p:ph type="body" idx="1"/>
          </p:nvPr>
        </p:nvSpPr>
        <p:spPr>
          <a:xfrm>
            <a:off x="1200150" y="2060575"/>
            <a:ext cx="6742113" cy="2211388"/>
          </a:xfrm>
        </p:spPr>
        <p:txBody>
          <a:bodyPr/>
          <a:lstStyle/>
          <a:p>
            <a:pPr marL="0" indent="0" eaLnBrk="1" hangingPunct="1">
              <a:buFont typeface="Arial" panose="020B0604020202020204" pitchFamily="34" charset="0"/>
              <a:buNone/>
            </a:pPr>
            <a:r>
              <a:rPr lang="en-US" altLang="en-US" sz="3000">
                <a:sym typeface="Wingdings" panose="05000000000000000000" pitchFamily="2" charset="2"/>
              </a:rPr>
              <a:t>Consequence: by choosing</a:t>
            </a:r>
            <a:r>
              <a:rPr lang="en-US" altLang="en-US" sz="3000">
                <a:solidFill>
                  <a:schemeClr val="hlink"/>
                </a:solidFill>
                <a:sym typeface="Wingdings" panose="05000000000000000000" pitchFamily="2" charset="2"/>
              </a:rPr>
              <a:t> </a:t>
            </a:r>
            <a:r>
              <a:rPr lang="en-US" altLang="en-US" sz="3000">
                <a:sym typeface="Wingdings" panose="05000000000000000000" pitchFamily="2" charset="2"/>
              </a:rPr>
              <a:t>one place as the seat of the arbitration the parties may have to face important and unintended consequences. For instance:</a:t>
            </a:r>
          </a:p>
        </p:txBody>
      </p:sp>
      <p:sp>
        <p:nvSpPr>
          <p:cNvPr id="44036" name="Rectangle 4">
            <a:extLst>
              <a:ext uri="{FF2B5EF4-FFF2-40B4-BE49-F238E27FC236}">
                <a16:creationId xmlns:a16="http://schemas.microsoft.com/office/drawing/2014/main" id="{F49C12A3-9527-40BD-8733-E549371EE0AA}"/>
              </a:ext>
            </a:extLst>
          </p:cNvPr>
          <p:cNvSpPr>
            <a:spLocks noChangeArrowheads="1"/>
          </p:cNvSpPr>
          <p:nvPr/>
        </p:nvSpPr>
        <p:spPr bwMode="auto">
          <a:xfrm>
            <a:off x="1474788" y="4467225"/>
            <a:ext cx="6192837" cy="1809750"/>
          </a:xfrm>
          <a:prstGeom prst="rect">
            <a:avLst/>
          </a:prstGeom>
          <a:solidFill>
            <a:schemeClr val="hlink">
              <a:alpha val="20000"/>
            </a:schemeClr>
          </a:solidFill>
          <a:ln w="9525">
            <a:solidFill>
              <a:schemeClr val="hlink"/>
            </a:solidFill>
            <a:miter lim="800000"/>
            <a:headEnd/>
            <a:tailEnd/>
          </a:ln>
        </p:spPr>
        <p:txBody>
          <a:bodyPr anchor="ctr" anchorCtr="1">
            <a:spAutoFit/>
          </a:bodyPr>
          <a:lstStyle>
            <a:lvl1pPr>
              <a:spcBef>
                <a:spcPct val="20000"/>
              </a:spcBef>
              <a:buClr>
                <a:schemeClr val="bg2"/>
              </a:buClr>
              <a:buFont typeface="Arial" panose="020B0604020202020204" pitchFamily="34" charset="0"/>
              <a:buChar char="►"/>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accent1"/>
              </a:buClr>
              <a:buSzPct val="80000"/>
              <a:buFont typeface="Wingdings" panose="05000000000000000000" pitchFamily="2" charset="2"/>
              <a:buChar char="§"/>
              <a:defRPr sz="28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8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800">
                <a:solidFill>
                  <a:schemeClr val="tx1"/>
                </a:solidFill>
                <a:latin typeface="Calibri" panose="020F0502020204030204" pitchFamily="34" charset="0"/>
              </a:defRPr>
            </a:lvl9pPr>
          </a:lstStyle>
          <a:p>
            <a:pPr algn="ctr" eaLnBrk="1" hangingPunct="1">
              <a:buFont typeface="Arial" panose="020B0604020202020204" pitchFamily="34" charset="0"/>
              <a:buNone/>
            </a:pPr>
            <a:r>
              <a:rPr lang="en-US" altLang="en-US" b="0"/>
              <a:t>The concept of </a:t>
            </a:r>
            <a:r>
              <a:rPr lang="en-US" altLang="en-US" b="0" u="sng"/>
              <a:t>arbitrability</a:t>
            </a:r>
            <a:r>
              <a:rPr lang="en-US" altLang="en-US" b="0"/>
              <a:t> differs depending on the country:</a:t>
            </a:r>
            <a:endParaRPr lang="en-CA" altLang="en-US" sz="3200" b="0"/>
          </a:p>
          <a:p>
            <a:pPr algn="ctr" eaLnBrk="1" hangingPunct="1">
              <a:spcBef>
                <a:spcPct val="0"/>
              </a:spcBef>
              <a:buFont typeface="Arial" panose="020B0604020202020204" pitchFamily="34" charset="0"/>
              <a:buNone/>
            </a:pPr>
            <a:r>
              <a:rPr lang="en-CA" altLang="en-US" b="0"/>
              <a:t>Is dispute amenable to settlement by arbitration under the applicable law? </a:t>
            </a:r>
            <a:endParaRPr lang="en-US" altLang="en-US" b="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6218122-9523-41C3-B9F1-9AB6C53096FA}"/>
              </a:ext>
            </a:extLst>
          </p:cNvPr>
          <p:cNvSpPr>
            <a:spLocks noGrp="1" noChangeArrowheads="1"/>
          </p:cNvSpPr>
          <p:nvPr>
            <p:ph type="title"/>
          </p:nvPr>
        </p:nvSpPr>
        <p:spPr>
          <a:xfrm>
            <a:off x="0" y="333375"/>
            <a:ext cx="7245350" cy="820738"/>
          </a:xfrm>
        </p:spPr>
        <p:txBody>
          <a:bodyPr/>
          <a:lstStyle/>
          <a:p>
            <a:pPr eaLnBrk="1" hangingPunct="1"/>
            <a:r>
              <a:rPr lang="en-US" altLang="en-US"/>
              <a:t>Arbitrability</a:t>
            </a:r>
          </a:p>
        </p:txBody>
      </p:sp>
      <p:sp>
        <p:nvSpPr>
          <p:cNvPr id="46083" name="Rectangle 3">
            <a:extLst>
              <a:ext uri="{FF2B5EF4-FFF2-40B4-BE49-F238E27FC236}">
                <a16:creationId xmlns:a16="http://schemas.microsoft.com/office/drawing/2014/main" id="{07510DB2-E9B9-4531-AEE8-75E62AA1268B}"/>
              </a:ext>
            </a:extLst>
          </p:cNvPr>
          <p:cNvSpPr>
            <a:spLocks noGrp="1" noChangeArrowheads="1"/>
          </p:cNvSpPr>
          <p:nvPr>
            <p:ph type="body" sz="half" idx="1"/>
          </p:nvPr>
        </p:nvSpPr>
        <p:spPr>
          <a:xfrm>
            <a:off x="363538" y="1763713"/>
            <a:ext cx="8416925" cy="4635500"/>
          </a:xfrm>
        </p:spPr>
        <p:txBody>
          <a:bodyPr/>
          <a:lstStyle/>
          <a:p>
            <a:pPr marL="365125" indent="-365125" eaLnBrk="1" hangingPunct="1">
              <a:lnSpc>
                <a:spcPct val="95000"/>
              </a:lnSpc>
            </a:pPr>
            <a:r>
              <a:rPr lang="en-CA" altLang="en-US"/>
              <a:t>Some types of dispute reserved for state </a:t>
            </a:r>
            <a:r>
              <a:rPr lang="en-CA" altLang="en-US">
                <a:solidFill>
                  <a:srgbClr val="FF6600"/>
                </a:solidFill>
              </a:rPr>
              <a:t>courts</a:t>
            </a:r>
            <a:r>
              <a:rPr lang="en-CA" altLang="en-US"/>
              <a:t> by national policy, be it political, social or economic, e.g.</a:t>
            </a:r>
          </a:p>
          <a:p>
            <a:pPr marL="900113" lvl="1" indent="-355600" eaLnBrk="1" hangingPunct="1">
              <a:lnSpc>
                <a:spcPct val="95000"/>
              </a:lnSpc>
            </a:pPr>
            <a:r>
              <a:rPr lang="en-CA" altLang="en-US"/>
              <a:t>criminal matters or matters of status (all over)</a:t>
            </a:r>
          </a:p>
          <a:p>
            <a:pPr marL="900113" lvl="1" indent="-355600" eaLnBrk="1" hangingPunct="1">
              <a:lnSpc>
                <a:spcPct val="95000"/>
              </a:lnSpc>
            </a:pPr>
            <a:r>
              <a:rPr lang="en-CA" altLang="en-US"/>
              <a:t>controversy over arbitration in consumer contracts (US and EU)</a:t>
            </a:r>
          </a:p>
          <a:p>
            <a:pPr marL="900113" lvl="1" indent="-355600" eaLnBrk="1" hangingPunct="1">
              <a:lnSpc>
                <a:spcPct val="95000"/>
              </a:lnSpc>
            </a:pPr>
            <a:r>
              <a:rPr lang="en-CA" altLang="en-US"/>
              <a:t>contracts between foreign corporation and local agent (in Arab states)</a:t>
            </a:r>
          </a:p>
          <a:p>
            <a:pPr marL="365125" indent="-365125" eaLnBrk="1" hangingPunct="1">
              <a:lnSpc>
                <a:spcPct val="95000"/>
              </a:lnSpc>
            </a:pPr>
            <a:r>
              <a:rPr lang="en-CA" altLang="en-US"/>
              <a:t>Desire to promote trade, commerce and settlement of disputes may persuade </a:t>
            </a:r>
            <a:r>
              <a:rPr lang="en-CA" altLang="en-US">
                <a:solidFill>
                  <a:srgbClr val="FF6600"/>
                </a:solidFill>
              </a:rPr>
              <a:t>courts</a:t>
            </a:r>
            <a:r>
              <a:rPr lang="en-CA" altLang="en-US"/>
              <a:t> to treat certain types of dispute as arbitrable</a:t>
            </a:r>
          </a:p>
        </p:txBody>
      </p:sp>
      <p:pic>
        <p:nvPicPr>
          <p:cNvPr id="46084" name="Picture 4" descr="MCj03342860000[1]">
            <a:extLst>
              <a:ext uri="{FF2B5EF4-FFF2-40B4-BE49-F238E27FC236}">
                <a16:creationId xmlns:a16="http://schemas.microsoft.com/office/drawing/2014/main" id="{1310E976-8A1B-45B1-99F5-AFDF89767C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21600" y="188913"/>
            <a:ext cx="1225550"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EE6CC85-E43B-428C-B39A-905E06F52034}"/>
              </a:ext>
            </a:extLst>
          </p:cNvPr>
          <p:cNvSpPr>
            <a:spLocks noGrp="1" noChangeArrowheads="1"/>
          </p:cNvSpPr>
          <p:nvPr>
            <p:ph type="title"/>
          </p:nvPr>
        </p:nvSpPr>
        <p:spPr>
          <a:xfrm>
            <a:off x="1258888" y="139700"/>
            <a:ext cx="7543800" cy="1250950"/>
          </a:xfrm>
        </p:spPr>
        <p:txBody>
          <a:bodyPr/>
          <a:lstStyle/>
          <a:p>
            <a:pPr eaLnBrk="1" hangingPunct="1"/>
            <a:r>
              <a:rPr lang="en-GB" altLang="en-US"/>
              <a:t>Arbitrability, applicable law, r/e </a:t>
            </a:r>
            <a:endParaRPr lang="en-US" altLang="en-US"/>
          </a:p>
        </p:txBody>
      </p:sp>
      <p:sp>
        <p:nvSpPr>
          <p:cNvPr id="47107" name="Rectangle 3">
            <a:extLst>
              <a:ext uri="{FF2B5EF4-FFF2-40B4-BE49-F238E27FC236}">
                <a16:creationId xmlns:a16="http://schemas.microsoft.com/office/drawing/2014/main" id="{9C407D13-F026-4E46-8AF5-9ACE09B5925D}"/>
              </a:ext>
            </a:extLst>
          </p:cNvPr>
          <p:cNvSpPr>
            <a:spLocks noGrp="1" noChangeArrowheads="1"/>
          </p:cNvSpPr>
          <p:nvPr>
            <p:ph type="body" sz="half" idx="1"/>
          </p:nvPr>
        </p:nvSpPr>
        <p:spPr>
          <a:xfrm>
            <a:off x="574675" y="1844675"/>
            <a:ext cx="7993063" cy="4057650"/>
          </a:xfrm>
        </p:spPr>
        <p:txBody>
          <a:bodyPr/>
          <a:lstStyle/>
          <a:p>
            <a:pPr eaLnBrk="1" hangingPunct="1">
              <a:lnSpc>
                <a:spcPct val="95000"/>
              </a:lnSpc>
            </a:pPr>
            <a:r>
              <a:rPr lang="en-CA" altLang="en-US" sz="3000"/>
              <a:t>Dispute may be </a:t>
            </a:r>
            <a:r>
              <a:rPr lang="en-CA" altLang="en-US"/>
              <a:t>within</a:t>
            </a:r>
            <a:r>
              <a:rPr lang="en-CA" altLang="en-US" sz="3000"/>
              <a:t> scope of a.agmnt, but be non-arbitrable because issue is reserved for </a:t>
            </a:r>
            <a:r>
              <a:rPr lang="en-CA" altLang="en-US" sz="3000">
                <a:solidFill>
                  <a:srgbClr val="FF6600"/>
                </a:solidFill>
              </a:rPr>
              <a:t>courts </a:t>
            </a:r>
            <a:r>
              <a:rPr lang="en-CA" altLang="en-US" sz="3000"/>
              <a:t>under applicable law – Art II(1), Art V(2)(a) NYC </a:t>
            </a:r>
          </a:p>
          <a:p>
            <a:pPr eaLnBrk="1" hangingPunct="1">
              <a:lnSpc>
                <a:spcPct val="95000"/>
              </a:lnSpc>
            </a:pPr>
            <a:r>
              <a:rPr lang="en-ZA" altLang="en-US" sz="3000">
                <a:solidFill>
                  <a:srgbClr val="FF6600"/>
                </a:solidFill>
              </a:rPr>
              <a:t>Court</a:t>
            </a:r>
            <a:r>
              <a:rPr lang="en-ZA" altLang="en-US" sz="3000" b="1">
                <a:solidFill>
                  <a:srgbClr val="FF6600"/>
                </a:solidFill>
              </a:rPr>
              <a:t> </a:t>
            </a:r>
            <a:r>
              <a:rPr lang="en-ZA" altLang="en-US" sz="3000"/>
              <a:t>may refuse of its own motion to enforce a.awrd if subject matter of dispute is incapable of settlement by arbitration under law of that country </a:t>
            </a:r>
            <a:r>
              <a:rPr lang="en-CA" altLang="en-US" sz="3000"/>
              <a:t>–</a:t>
            </a:r>
            <a:r>
              <a:rPr lang="en-ZA" altLang="en-US" sz="3000"/>
              <a:t>  Art V(2)(a) NYC</a:t>
            </a:r>
          </a:p>
          <a:p>
            <a:pPr eaLnBrk="1" hangingPunct="1">
              <a:lnSpc>
                <a:spcPct val="95000"/>
              </a:lnSpc>
            </a:pPr>
            <a:r>
              <a:rPr lang="en-ZA" altLang="en-US" sz="3000"/>
              <a:t>When issue of arbitrability arises, issue of applicable law arises</a:t>
            </a: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a:extLst>
              <a:ext uri="{FF2B5EF4-FFF2-40B4-BE49-F238E27FC236}">
                <a16:creationId xmlns:a16="http://schemas.microsoft.com/office/drawing/2014/main" id="{EA12451A-6063-4A7F-9260-682895B0FB6C}"/>
              </a:ext>
            </a:extLst>
          </p:cNvPr>
          <p:cNvPicPr>
            <a:picLocks noChangeAspect="1" noChangeArrowheads="1"/>
          </p:cNvPicPr>
          <p:nvPr/>
        </p:nvPicPr>
        <p:blipFill>
          <a:blip r:embed="rId2" cstate="print">
            <a:clrChange>
              <a:clrFrom>
                <a:srgbClr val="000000"/>
              </a:clrFrom>
              <a:clrTo>
                <a:srgbClr val="000000">
                  <a:alpha val="0"/>
                </a:srgbClr>
              </a:clrTo>
            </a:clrChange>
            <a:lum bright="60000"/>
            <a:extLst>
              <a:ext uri="{28A0092B-C50C-407E-A947-70E740481C1C}">
                <a14:useLocalDpi xmlns:a14="http://schemas.microsoft.com/office/drawing/2010/main" val="0"/>
              </a:ext>
            </a:extLst>
          </a:blip>
          <a:srcRect/>
          <a:stretch>
            <a:fillRect/>
          </a:stretch>
        </p:blipFill>
        <p:spPr bwMode="auto">
          <a:xfrm>
            <a:off x="4024313" y="5157788"/>
            <a:ext cx="1093787"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1" name="Picture 3" descr="new-3">
            <a:extLst>
              <a:ext uri="{FF2B5EF4-FFF2-40B4-BE49-F238E27FC236}">
                <a16:creationId xmlns:a16="http://schemas.microsoft.com/office/drawing/2014/main" id="{1B2B6299-606C-45ED-81EB-76D55720B35B}"/>
              </a:ext>
            </a:extLst>
          </p:cNvPr>
          <p:cNvPicPr>
            <a:picLocks noChangeAspect="1" noChangeArrowheads="1"/>
          </p:cNvPicPr>
          <p:nvPr/>
        </p:nvPicPr>
        <p:blipFill>
          <a:blip r:embed="rId3">
            <a:clrChange>
              <a:clrFrom>
                <a:srgbClr val="EA7C7B"/>
              </a:clrFrom>
              <a:clrTo>
                <a:srgbClr val="EA7C7B">
                  <a:alpha val="0"/>
                </a:srgbClr>
              </a:clrTo>
            </a:clrChange>
            <a:lum bright="70000"/>
            <a:extLst>
              <a:ext uri="{28A0092B-C50C-407E-A947-70E740481C1C}">
                <a14:useLocalDpi xmlns:a14="http://schemas.microsoft.com/office/drawing/2010/main" val="0"/>
              </a:ext>
            </a:extLst>
          </a:blip>
          <a:srcRect/>
          <a:stretch>
            <a:fillRect/>
          </a:stretch>
        </p:blipFill>
        <p:spPr bwMode="auto">
          <a:xfrm>
            <a:off x="2951163" y="3024188"/>
            <a:ext cx="136048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2" name="Picture 4" descr="new-3">
            <a:extLst>
              <a:ext uri="{FF2B5EF4-FFF2-40B4-BE49-F238E27FC236}">
                <a16:creationId xmlns:a16="http://schemas.microsoft.com/office/drawing/2014/main" id="{BBF67931-FE8E-4622-9A5C-29BE8ED661C2}"/>
              </a:ext>
            </a:extLst>
          </p:cNvPr>
          <p:cNvPicPr>
            <a:picLocks noChangeAspect="1" noChangeArrowheads="1"/>
          </p:cNvPicPr>
          <p:nvPr/>
        </p:nvPicPr>
        <p:blipFill>
          <a:blip r:embed="rId3">
            <a:clrChange>
              <a:clrFrom>
                <a:srgbClr val="EA7C7B"/>
              </a:clrFrom>
              <a:clrTo>
                <a:srgbClr val="EA7C7B">
                  <a:alpha val="0"/>
                </a:srgbClr>
              </a:clrTo>
            </a:clrChange>
            <a:lum bright="70000"/>
            <a:extLst>
              <a:ext uri="{28A0092B-C50C-407E-A947-70E740481C1C}">
                <a14:useLocalDpi xmlns:a14="http://schemas.microsoft.com/office/drawing/2010/main" val="0"/>
              </a:ext>
            </a:extLst>
          </a:blip>
          <a:srcRect/>
          <a:stretch>
            <a:fillRect/>
          </a:stretch>
        </p:blipFill>
        <p:spPr bwMode="auto">
          <a:xfrm>
            <a:off x="5832475" y="4014788"/>
            <a:ext cx="1360488"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Rectangle 5">
            <a:extLst>
              <a:ext uri="{FF2B5EF4-FFF2-40B4-BE49-F238E27FC236}">
                <a16:creationId xmlns:a16="http://schemas.microsoft.com/office/drawing/2014/main" id="{2E681379-19C8-4316-8157-93B3E473538C}"/>
              </a:ext>
            </a:extLst>
          </p:cNvPr>
          <p:cNvSpPr>
            <a:spLocks noGrp="1" noChangeArrowheads="1"/>
          </p:cNvSpPr>
          <p:nvPr>
            <p:ph type="title"/>
          </p:nvPr>
        </p:nvSpPr>
        <p:spPr>
          <a:xfrm>
            <a:off x="2124075" y="188913"/>
            <a:ext cx="6488113" cy="987425"/>
          </a:xfrm>
        </p:spPr>
        <p:txBody>
          <a:bodyPr/>
          <a:lstStyle/>
          <a:p>
            <a:pPr eaLnBrk="1" hangingPunct="1"/>
            <a:r>
              <a:rPr lang="en-GB" altLang="en-US" sz="4800"/>
              <a:t>Arbitrability of claim</a:t>
            </a:r>
            <a:endParaRPr lang="en-US" altLang="en-US" sz="4800"/>
          </a:p>
        </p:txBody>
      </p:sp>
      <p:sp>
        <p:nvSpPr>
          <p:cNvPr id="48134" name="Rectangle 6">
            <a:extLst>
              <a:ext uri="{FF2B5EF4-FFF2-40B4-BE49-F238E27FC236}">
                <a16:creationId xmlns:a16="http://schemas.microsoft.com/office/drawing/2014/main" id="{225D5976-5A6A-4F32-B21B-2A5C3F83DBAB}"/>
              </a:ext>
            </a:extLst>
          </p:cNvPr>
          <p:cNvSpPr>
            <a:spLocks noGrp="1" noChangeArrowheads="1"/>
          </p:cNvSpPr>
          <p:nvPr>
            <p:ph type="body" sz="half" idx="1"/>
          </p:nvPr>
        </p:nvSpPr>
        <p:spPr>
          <a:xfrm>
            <a:off x="900113" y="2060575"/>
            <a:ext cx="7343775" cy="4451350"/>
          </a:xfrm>
        </p:spPr>
        <p:txBody>
          <a:bodyPr/>
          <a:lstStyle/>
          <a:p>
            <a:pPr marL="469900" indent="-469900" algn="ctr" eaLnBrk="1" hangingPunct="1">
              <a:buFont typeface="Arial" panose="020B0604020202020204" pitchFamily="34" charset="0"/>
              <a:buNone/>
            </a:pPr>
            <a:r>
              <a:rPr lang="en-GB" altLang="en-US"/>
              <a:t>Possibility of a conflict of applicable laws on the arbitrability of a claim:</a:t>
            </a:r>
          </a:p>
          <a:p>
            <a:pPr marL="469900" indent="-469900" eaLnBrk="1" hangingPunct="1"/>
            <a:r>
              <a:rPr lang="en-GB" altLang="en-US"/>
              <a:t>Arbitrable under law governing arbitration agreement</a:t>
            </a:r>
          </a:p>
          <a:p>
            <a:pPr marL="469900" indent="-469900" eaLnBrk="1" hangingPunct="1"/>
            <a:endParaRPr lang="en-GB" altLang="en-US"/>
          </a:p>
          <a:p>
            <a:pPr marL="469900" indent="-469900" eaLnBrk="1" hangingPunct="1"/>
            <a:r>
              <a:rPr lang="en-GB" altLang="en-US"/>
              <a:t>Arbitrable under the </a:t>
            </a:r>
            <a:r>
              <a:rPr lang="en-GB" altLang="en-US" i="1"/>
              <a:t>lex arbitri</a:t>
            </a:r>
            <a:r>
              <a:rPr lang="en-GB" altLang="en-US"/>
              <a:t> </a:t>
            </a:r>
          </a:p>
          <a:p>
            <a:pPr marL="469900" indent="-469900" eaLnBrk="1" hangingPunct="1"/>
            <a:endParaRPr lang="en-GB" altLang="en-US"/>
          </a:p>
          <a:p>
            <a:pPr marL="469900" indent="-469900" eaLnBrk="1" hangingPunct="1"/>
            <a:r>
              <a:rPr lang="en-GB" altLang="en-US"/>
              <a:t>Unenforceable under the law of place of enforcement (not ratified NYC) </a:t>
            </a: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a:extLst>
              <a:ext uri="{FF2B5EF4-FFF2-40B4-BE49-F238E27FC236}">
                <a16:creationId xmlns:a16="http://schemas.microsoft.com/office/drawing/2014/main" id="{BEADEEFD-DFE2-4FEC-8E25-687163200560}"/>
              </a:ext>
            </a:extLst>
          </p:cNvPr>
          <p:cNvSpPr>
            <a:spLocks noGrp="1" noChangeArrowheads="1"/>
          </p:cNvSpPr>
          <p:nvPr>
            <p:ph type="body" sz="half" idx="1"/>
          </p:nvPr>
        </p:nvSpPr>
        <p:spPr>
          <a:xfrm>
            <a:off x="469900" y="1628775"/>
            <a:ext cx="8204200" cy="4456113"/>
          </a:xfrm>
        </p:spPr>
        <p:txBody>
          <a:bodyPr/>
          <a:lstStyle/>
          <a:p>
            <a:pPr marL="631825" indent="-631825" eaLnBrk="1" hangingPunct="1">
              <a:spcBef>
                <a:spcPct val="15000"/>
              </a:spcBef>
            </a:pPr>
            <a:r>
              <a:rPr lang="en-GB" altLang="en-US" sz="2400" b="1" dirty="0"/>
              <a:t>Section 30 of the Arbitration Act 1996</a:t>
            </a:r>
          </a:p>
          <a:p>
            <a:pPr marL="0" indent="0" algn="l">
              <a:buNone/>
            </a:pPr>
            <a:r>
              <a:rPr lang="en-GB" sz="2400" b="1" i="0" u="none" strike="noStrike" dirty="0">
                <a:solidFill>
                  <a:srgbClr val="000000"/>
                </a:solidFill>
                <a:effectLst/>
                <a:latin typeface="arial" panose="020B0604020202020204" pitchFamily="34" charset="0"/>
              </a:rPr>
              <a:t>Competence of tribunal to rule on its own jurisdiction.</a:t>
            </a:r>
          </a:p>
          <a:p>
            <a:pPr marL="0" indent="0" algn="l">
              <a:buNone/>
            </a:pPr>
            <a:r>
              <a:rPr lang="en-GB" sz="2400" b="0" i="0" u="none" strike="noStrike" dirty="0">
                <a:solidFill>
                  <a:srgbClr val="1E1E1E"/>
                </a:solidFill>
                <a:effectLst/>
                <a:latin typeface="arial" panose="020B0604020202020204" pitchFamily="34" charset="0"/>
              </a:rPr>
              <a:t>(1)Unless otherwise agreed by the parties, the arbitral tribunal may rule on its own substantive jurisdiction, that is, as to—</a:t>
            </a:r>
          </a:p>
          <a:p>
            <a:pPr marL="0" indent="0" algn="l">
              <a:buNone/>
            </a:pPr>
            <a:r>
              <a:rPr lang="en-GB" sz="2400" b="0" i="0" u="none" strike="noStrike" dirty="0">
                <a:solidFill>
                  <a:srgbClr val="1E1E1E"/>
                </a:solidFill>
                <a:effectLst/>
                <a:latin typeface="arial" panose="020B0604020202020204" pitchFamily="34" charset="0"/>
              </a:rPr>
              <a:t>(a)whether there is a valid arbitration agreement,</a:t>
            </a:r>
          </a:p>
          <a:p>
            <a:pPr marL="0" indent="0" algn="l">
              <a:buNone/>
            </a:pPr>
            <a:r>
              <a:rPr lang="en-GB" sz="2400" b="0" i="0" u="none" strike="noStrike" dirty="0">
                <a:solidFill>
                  <a:srgbClr val="1E1E1E"/>
                </a:solidFill>
                <a:effectLst/>
                <a:latin typeface="arial" panose="020B0604020202020204" pitchFamily="34" charset="0"/>
              </a:rPr>
              <a:t>(b)whether the tribunal is properly constituted, and</a:t>
            </a:r>
          </a:p>
          <a:p>
            <a:pPr marL="0" indent="0" algn="l">
              <a:buNone/>
            </a:pPr>
            <a:r>
              <a:rPr lang="en-GB" sz="2400" b="0" i="0" u="none" strike="noStrike" dirty="0">
                <a:solidFill>
                  <a:srgbClr val="1E1E1E"/>
                </a:solidFill>
                <a:effectLst/>
                <a:latin typeface="arial" panose="020B0604020202020204" pitchFamily="34" charset="0"/>
              </a:rPr>
              <a:t>(c)what matters have been submitted to arbitration in accordance with the arbitration agreement.</a:t>
            </a:r>
          </a:p>
          <a:p>
            <a:r>
              <a:rPr lang="en-GB" sz="2400" dirty="0">
                <a:solidFill>
                  <a:srgbClr val="1E1E1E"/>
                </a:solidFill>
                <a:latin typeface="arial" panose="020B0604020202020204" pitchFamily="34" charset="0"/>
              </a:rPr>
              <a:t>Scope for court challenge to arbitral jurisdiction under Section 32 of the Arbitration Act 1996 </a:t>
            </a:r>
            <a:endParaRPr lang="en-GB" sz="2400" b="0" i="0" u="none" strike="noStrike" dirty="0">
              <a:solidFill>
                <a:srgbClr val="1E1E1E"/>
              </a:solidFill>
              <a:effectLst/>
              <a:latin typeface="arial" panose="020B0604020202020204" pitchFamily="34" charset="0"/>
            </a:endParaRPr>
          </a:p>
        </p:txBody>
      </p:sp>
      <p:pic>
        <p:nvPicPr>
          <p:cNvPr id="56324" name="Picture 6" descr="http://www.yujenes.com/Union-Jack--C10290200.jpg/Union-Jack--C10290200-large.jpg">
            <a:extLst>
              <a:ext uri="{FF2B5EF4-FFF2-40B4-BE49-F238E27FC236}">
                <a16:creationId xmlns:a16="http://schemas.microsoft.com/office/drawing/2014/main" id="{B34F7E8B-3DC8-4A09-B755-B9857B1C3D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6550" y="142875"/>
            <a:ext cx="2220913"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B0780D89-2367-D0BD-C691-A24CCE6E95CE}"/>
              </a:ext>
            </a:extLst>
          </p:cNvPr>
          <p:cNvSpPr>
            <a:spLocks noGrp="1"/>
          </p:cNvSpPr>
          <p:nvPr>
            <p:ph type="title"/>
          </p:nvPr>
        </p:nvSpPr>
        <p:spPr>
          <a:xfrm>
            <a:off x="1116013" y="44450"/>
            <a:ext cx="5400203" cy="1462088"/>
          </a:xfrm>
        </p:spPr>
        <p:txBody>
          <a:bodyPr/>
          <a:lstStyle/>
          <a:p>
            <a:r>
              <a:rPr lang="en-US" dirty="0"/>
              <a:t>Competence-competence</a:t>
            </a:r>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4" descr="BOOK031">
            <a:extLst>
              <a:ext uri="{FF2B5EF4-FFF2-40B4-BE49-F238E27FC236}">
                <a16:creationId xmlns:a16="http://schemas.microsoft.com/office/drawing/2014/main" id="{224F4A6F-A6C7-4010-9F72-F250B80CF7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6588" y="4292600"/>
            <a:ext cx="2789237"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theme/theme1.xml><?xml version="1.0" encoding="utf-8"?>
<a:theme xmlns:a="http://schemas.openxmlformats.org/drawingml/2006/main" name="Blends">
  <a:themeElements>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Blends">
      <a:majorFont>
        <a:latin typeface="Dotum"/>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l" defTabSz="914400" rtl="0" eaLnBrk="1" fontAlgn="base" latinLnBrk="0" hangingPunct="1">
          <a:lnSpc>
            <a:spcPct val="70000"/>
          </a:lnSpc>
          <a:spcBef>
            <a:spcPct val="0"/>
          </a:spcBef>
          <a:spcAft>
            <a:spcPct val="0"/>
          </a:spcAft>
          <a:buClrTx/>
          <a:buSzTx/>
          <a:buFontTx/>
          <a:buNone/>
          <a:tabLst/>
          <a:defRPr kumimoji="0" lang="en-GB" sz="100" b="1" i="0" u="none" strike="noStrike" cap="none" normalizeH="0" baseline="0" smtClean="0">
            <a:ln>
              <a:noFill/>
            </a:ln>
            <a:solidFill>
              <a:schemeClr val="tx2"/>
            </a:solidFill>
            <a:effectLst/>
            <a:latin typeface="Calibri"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l" defTabSz="914400" rtl="0" eaLnBrk="1" fontAlgn="base" latinLnBrk="0" hangingPunct="1">
          <a:lnSpc>
            <a:spcPct val="70000"/>
          </a:lnSpc>
          <a:spcBef>
            <a:spcPct val="0"/>
          </a:spcBef>
          <a:spcAft>
            <a:spcPct val="0"/>
          </a:spcAft>
          <a:buClrTx/>
          <a:buSzTx/>
          <a:buFontTx/>
          <a:buNone/>
          <a:tabLst/>
          <a:defRPr kumimoji="0" lang="en-GB" sz="100" b="1" i="0" u="none" strike="noStrike" cap="none" normalizeH="0" baseline="0" smtClean="0">
            <a:ln>
              <a:noFill/>
            </a:ln>
            <a:solidFill>
              <a:schemeClr val="tx2"/>
            </a:solidFill>
            <a:effectLst/>
            <a:latin typeface="Calibri"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642</TotalTime>
  <Words>2226</Words>
  <Application>Microsoft Macintosh PowerPoint</Application>
  <PresentationFormat>On-screen Show (4:3)</PresentationFormat>
  <Paragraphs>175</Paragraphs>
  <Slides>32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Dotum</vt:lpstr>
      <vt:lpstr>Arial</vt:lpstr>
      <vt:lpstr>Arial</vt:lpstr>
      <vt:lpstr>Calibri</vt:lpstr>
      <vt:lpstr>Wingdings</vt:lpstr>
      <vt:lpstr>Wingdings 2</vt:lpstr>
      <vt:lpstr>Blends</vt:lpstr>
      <vt:lpstr>Introduction to International Commercial Arbitration</vt:lpstr>
      <vt:lpstr>Lecture Outline</vt:lpstr>
      <vt:lpstr>NYC contemplates 2 basic actions</vt:lpstr>
      <vt:lpstr>NYC contemplates 2 basic actions</vt:lpstr>
      <vt:lpstr>Judicial support of arbitration process</vt:lpstr>
      <vt:lpstr>Mechanisms for judicial support of Arbitration Agreements </vt:lpstr>
      <vt:lpstr>Be cautious  </vt:lpstr>
      <vt:lpstr>Justifiable judicial interference </vt:lpstr>
      <vt:lpstr>Arbitration is not self-sufficient mechanism </vt:lpstr>
      <vt:lpstr>Significance of seat: dualism </vt:lpstr>
      <vt:lpstr>Reason for duality</vt:lpstr>
      <vt:lpstr>The law governing the arbitration procedure</vt:lpstr>
      <vt:lpstr>Attractions of the seat</vt:lpstr>
      <vt:lpstr>Arbitrators’ jurisdiction test</vt:lpstr>
      <vt:lpstr>Article II(3) NYC</vt:lpstr>
      <vt:lpstr>NYC 1958 Article II(3), Section 9 of Arbitration Act 1996, UNCITRAL Model Law Article 8</vt:lpstr>
      <vt:lpstr>Article II(2) NYC 1958</vt:lpstr>
      <vt:lpstr>A complex interaction of laws</vt:lpstr>
      <vt:lpstr>Law governing  Arbitration Agreement</vt:lpstr>
      <vt:lpstr>Law governing  arbitration agmt</vt:lpstr>
      <vt:lpstr>Law governing  arbitration agmt</vt:lpstr>
      <vt:lpstr>Law governing  arbitration agmt</vt:lpstr>
      <vt:lpstr>Law governing  arbitration agmt</vt:lpstr>
      <vt:lpstr>Law governing  arbitration agmt </vt:lpstr>
      <vt:lpstr>Law governing  arbitration agmt </vt:lpstr>
      <vt:lpstr>The law governing the arbitration procedure</vt:lpstr>
      <vt:lpstr>Arbitrability</vt:lpstr>
      <vt:lpstr>Arbitrability, applicable law, r/e </vt:lpstr>
      <vt:lpstr>Arbitrability of claim</vt:lpstr>
      <vt:lpstr>PowerPoint Presentation</vt:lpstr>
      <vt:lpstr>Competence-competence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and Antiquities Title Issues</dc:title>
  <dc:creator>David</dc:creator>
  <cp:lastModifiedBy>Ahmed, Mukarrum</cp:lastModifiedBy>
  <cp:revision>337</cp:revision>
  <dcterms:created xsi:type="dcterms:W3CDTF">2010-11-09T18:33:38Z</dcterms:created>
  <dcterms:modified xsi:type="dcterms:W3CDTF">2026-01-19T22:41:14Z</dcterms:modified>
</cp:coreProperties>
</file>