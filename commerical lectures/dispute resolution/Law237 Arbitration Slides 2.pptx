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Lst>
  <p:notesMasterIdLst>
    <p:notesMasterId r:id="rId18"/>
  </p:notesMasterIdLst>
  <p:sldIdLst>
    <p:sldId id="259" r:id="rId3"/>
    <p:sldId id="293" r:id="rId4"/>
    <p:sldId id="296" r:id="rId5"/>
    <p:sldId id="297" r:id="rId6"/>
    <p:sldId id="298" r:id="rId7"/>
    <p:sldId id="276" r:id="rId8"/>
    <p:sldId id="277" r:id="rId9"/>
    <p:sldId id="278" r:id="rId10"/>
    <p:sldId id="295" r:id="rId11"/>
    <p:sldId id="288" r:id="rId12"/>
    <p:sldId id="289" r:id="rId13"/>
    <p:sldId id="290" r:id="rId14"/>
    <p:sldId id="291" r:id="rId15"/>
    <p:sldId id="292" r:id="rId16"/>
    <p:sldId id="267" r:id="rId17"/>
  </p:sldIdLst>
  <p:sldSz cx="9144000" cy="6858000" type="screen4x3"/>
  <p:notesSz cx="6858000" cy="9144000"/>
  <p:embeddedFontLst>
    <p:embeddedFont>
      <p:font typeface="Calibri" panose="020F0502020204030204" pitchFamily="34" charset="0"/>
      <p:regular r:id="rId19"/>
      <p:bold r:id="rId20"/>
      <p:italic r:id="rId21"/>
      <p:boldItalic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61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5121B"/>
    <a:srgbClr val="666666"/>
    <a:srgbClr val="D52B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autoAdjust="0"/>
    <p:restoredTop sz="96327" autoAdjust="0"/>
  </p:normalViewPr>
  <p:slideViewPr>
    <p:cSldViewPr>
      <p:cViewPr varScale="1">
        <p:scale>
          <a:sx n="123" d="100"/>
          <a:sy n="123" d="100"/>
        </p:scale>
        <p:origin x="1856" y="192"/>
      </p:cViewPr>
      <p:guideLst>
        <p:guide orient="horz" pos="2160"/>
        <p:guide pos="612"/>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font" Target="fonts/font3.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font" Target="fonts/font1.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02CDB6F-9360-4AC5-A1A4-B746F8B27D7E}" type="datetimeFigureOut">
              <a:rPr lang="en-GB" smtClean="0"/>
              <a:pPr/>
              <a:t>11/02/2023</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C8AF62-0413-459D-A055-9BD345497D1F}" type="slidenum">
              <a:rPr lang="en-GB" smtClean="0"/>
              <a:pPr/>
              <a:t>‹#›</a:t>
            </a:fld>
            <a:endParaRPr lang="en-GB"/>
          </a:p>
        </p:txBody>
      </p:sp>
    </p:spTree>
    <p:extLst>
      <p:ext uri="{BB962C8B-B14F-4D97-AF65-F5344CB8AC3E}">
        <p14:creationId xmlns:p14="http://schemas.microsoft.com/office/powerpoint/2010/main" val="3773165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pPr eaLnBrk="1" hangingPunct="1"/>
            <a:r>
              <a:rPr lang="en-US" sz="1200" b="1" kern="1200" dirty="0">
                <a:solidFill>
                  <a:schemeClr val="tx1"/>
                </a:solidFill>
                <a:latin typeface="Lucida Grande" pitchFamily="80" charset="0"/>
                <a:ea typeface="ＭＳ Ｐゴシック" charset="-128"/>
                <a:cs typeface="+mn-cs"/>
              </a:rPr>
              <a:t>LANCASTER UNIVERSITY POWERPOINT TEMPLATES</a:t>
            </a:r>
          </a:p>
          <a:p>
            <a:pPr eaLnBrk="1" hangingPunct="1"/>
            <a:r>
              <a:rPr lang="en-US" sz="1200" kern="1200" baseline="0" dirty="0">
                <a:solidFill>
                  <a:schemeClr val="tx1"/>
                </a:solidFill>
                <a:latin typeface="Lucida Grande" pitchFamily="80" charset="0"/>
                <a:ea typeface="ＭＳ Ｐゴシック" charset="-128"/>
                <a:cs typeface="+mn-cs"/>
              </a:rPr>
              <a:t>These PowerPoint templates are for use by all Lancaster University staff. Please see below for further information regarding the use of these templates. Should you have any further queries, please contact the marketing team via marketing-services@lancaster.ac.uk</a:t>
            </a:r>
          </a:p>
          <a:p>
            <a:pPr eaLnBrk="1" hangingPunct="1"/>
            <a:endParaRPr lang="en-US" sz="1200" kern="1200" dirty="0">
              <a:solidFill>
                <a:srgbClr val="731F43"/>
              </a:solidFill>
              <a:latin typeface="Lucida Grande" pitchFamily="80" charset="0"/>
              <a:ea typeface="ＭＳ Ｐゴシック" charset="-128"/>
              <a:cs typeface="+mn-cs"/>
            </a:endParaRPr>
          </a:p>
          <a:p>
            <a:pPr eaLnBrk="1" hangingPunct="1"/>
            <a:r>
              <a:rPr lang="en-US" sz="1200" b="1" kern="1200" dirty="0">
                <a:solidFill>
                  <a:srgbClr val="731F43"/>
                </a:solidFill>
                <a:latin typeface="Lucida Grande" pitchFamily="80" charset="0"/>
                <a:ea typeface="ＭＳ Ｐゴシック" charset="-128"/>
                <a:cs typeface="+mn-cs"/>
              </a:rPr>
              <a:t>Template slide 3: Insert a new slide</a:t>
            </a:r>
          </a:p>
          <a:p>
            <a:pPr eaLnBrk="1" hangingPunct="1"/>
            <a:r>
              <a:rPr lang="en-US" sz="1200" kern="1200" dirty="0">
                <a:solidFill>
                  <a:srgbClr val="731F43"/>
                </a:solidFill>
                <a:latin typeface="Lucida Grande" pitchFamily="80" charset="0"/>
                <a:ea typeface="ＭＳ Ｐゴシック" charset="-128"/>
                <a:cs typeface="+mn-cs"/>
              </a:rPr>
              <a:t>If you need to insert a new slide, from </a:t>
            </a:r>
            <a:r>
              <a:rPr lang="en-US" sz="1200" kern="1200" baseline="0" dirty="0">
                <a:solidFill>
                  <a:srgbClr val="666666"/>
                </a:solidFill>
                <a:latin typeface="Lucida Grande" pitchFamily="80" charset="0"/>
                <a:ea typeface="ＭＳ Ｐゴシック" charset="-128"/>
                <a:cs typeface="+mn-cs"/>
              </a:rPr>
              <a:t>the ‘home’ toolbar, click on ‘new slide’ and select from the templates the style you require from the dropdown box.</a:t>
            </a:r>
            <a:endParaRPr lang="en-US" sz="1200" kern="1200" dirty="0">
              <a:solidFill>
                <a:srgbClr val="731F43"/>
              </a:solidFill>
              <a:latin typeface="Lucida Grande" pitchFamily="80" charset="0"/>
              <a:ea typeface="ＭＳ Ｐゴシック" charset="-128"/>
              <a:cs typeface="+mn-cs"/>
            </a:endParaRPr>
          </a:p>
          <a:p>
            <a:pPr eaLnBrk="1" hangingPunct="1"/>
            <a:endParaRPr lang="en-US" sz="1200" kern="1200" dirty="0">
              <a:solidFill>
                <a:srgbClr val="731F43"/>
              </a:solidFill>
              <a:latin typeface="Lucida Grande" pitchFamily="80" charset="0"/>
              <a:ea typeface="ＭＳ Ｐゴシック" charset="-128"/>
              <a:cs typeface="+mn-cs"/>
            </a:endParaRPr>
          </a:p>
          <a:p>
            <a:pPr eaLnBrk="1" hangingPunct="1"/>
            <a:r>
              <a:rPr lang="en-US" sz="1200" b="1" kern="1200" dirty="0">
                <a:solidFill>
                  <a:srgbClr val="731F43"/>
                </a:solidFill>
                <a:latin typeface="Lucida Grande" pitchFamily="80" charset="0"/>
                <a:ea typeface="ＭＳ Ｐゴシック" charset="-128"/>
                <a:cs typeface="+mn-cs"/>
              </a:rPr>
              <a:t>Template slide 4: </a:t>
            </a:r>
            <a:r>
              <a:rPr lang="en-US" sz="1200" b="1" kern="1200" baseline="0" dirty="0">
                <a:solidFill>
                  <a:schemeClr val="tx1"/>
                </a:solidFill>
                <a:latin typeface="Lucida Grande" pitchFamily="80" charset="0"/>
                <a:ea typeface="ＭＳ Ｐゴシック" charset="-128"/>
                <a:cs typeface="+mn-cs"/>
              </a:rPr>
              <a:t>Typing new text and copying text from another document</a:t>
            </a:r>
          </a:p>
          <a:p>
            <a:pPr eaLnBrk="1" hangingPunct="1"/>
            <a:r>
              <a:rPr lang="en-US" sz="1200" kern="1200" baseline="0" dirty="0">
                <a:solidFill>
                  <a:schemeClr val="tx1"/>
                </a:solidFill>
                <a:latin typeface="Lucida Grande" pitchFamily="80" charset="0"/>
                <a:ea typeface="ＭＳ Ｐゴシック" charset="-128"/>
                <a:cs typeface="+mn-cs"/>
              </a:rPr>
              <a:t>New text</a:t>
            </a:r>
            <a:r>
              <a:rPr lang="en-US" sz="1200" kern="1200" dirty="0">
                <a:solidFill>
                  <a:schemeClr val="tx1"/>
                </a:solidFill>
                <a:latin typeface="Lucida Grande" pitchFamily="80" charset="0"/>
                <a:ea typeface="ＭＳ Ｐゴシック" charset="-128"/>
                <a:cs typeface="+mn-cs"/>
              </a:rPr>
              <a:t> should be typed over the</a:t>
            </a:r>
            <a:r>
              <a:rPr lang="en-US" sz="1200" kern="1200" baseline="0" dirty="0">
                <a:solidFill>
                  <a:schemeClr val="tx1"/>
                </a:solidFill>
                <a:latin typeface="Lucida Grande" pitchFamily="80" charset="0"/>
                <a:ea typeface="ＭＳ Ｐゴシック" charset="-128"/>
                <a:cs typeface="+mn-cs"/>
              </a:rPr>
              <a:t> text </a:t>
            </a:r>
            <a:r>
              <a:rPr lang="en-US" sz="1200" kern="1200" dirty="0">
                <a:solidFill>
                  <a:schemeClr val="tx1"/>
                </a:solidFill>
                <a:latin typeface="Lucida Grande" pitchFamily="80" charset="0"/>
                <a:ea typeface="ＭＳ Ｐゴシック" charset="-128"/>
                <a:cs typeface="+mn-cs"/>
              </a:rPr>
              <a:t>in the appropriate template. Copy and pasting text from another document will result in changing the style of the typography and layout. This is unavoidable as it is part of the Microsoft</a:t>
            </a:r>
            <a:r>
              <a:rPr lang="en-US" sz="1200" kern="1200" baseline="0" dirty="0">
                <a:solidFill>
                  <a:schemeClr val="tx1"/>
                </a:solidFill>
                <a:latin typeface="Lucida Grande" pitchFamily="80" charset="0"/>
                <a:ea typeface="ＭＳ Ｐゴシック" charset="-128"/>
                <a:cs typeface="+mn-cs"/>
              </a:rPr>
              <a:t> software</a:t>
            </a:r>
            <a:r>
              <a:rPr lang="en-US" sz="1200" kern="1200" dirty="0">
                <a:solidFill>
                  <a:schemeClr val="tx1"/>
                </a:solidFill>
                <a:latin typeface="Lucida Grande" pitchFamily="80" charset="0"/>
                <a:ea typeface="ＭＳ Ｐゴシック" charset="-128"/>
                <a:cs typeface="+mn-cs"/>
              </a:rPr>
              <a:t>. We</a:t>
            </a:r>
            <a:r>
              <a:rPr lang="en-US" sz="1200" kern="1200" baseline="0" dirty="0">
                <a:solidFill>
                  <a:schemeClr val="tx1"/>
                </a:solidFill>
                <a:latin typeface="Lucida Grande" pitchFamily="80" charset="0"/>
                <a:ea typeface="ＭＳ Ｐゴシック" charset="-128"/>
                <a:cs typeface="+mn-cs"/>
              </a:rPr>
              <a:t> appreciate that in sometimes you will need to copy text from another document into this template. Once you have pasted the existing text into the template, you will need to change the formatting so that they typefaces, sizes, </a:t>
            </a:r>
            <a:r>
              <a:rPr lang="en-US" sz="1200" kern="1200" baseline="0" dirty="0" err="1">
                <a:solidFill>
                  <a:schemeClr val="tx1"/>
                </a:solidFill>
                <a:latin typeface="Lucida Grande" pitchFamily="80" charset="0"/>
                <a:ea typeface="ＭＳ Ｐゴシック" charset="-128"/>
                <a:cs typeface="+mn-cs"/>
              </a:rPr>
              <a:t>colour</a:t>
            </a:r>
            <a:r>
              <a:rPr lang="en-US" sz="1200" kern="1200" baseline="0" dirty="0">
                <a:solidFill>
                  <a:schemeClr val="tx1"/>
                </a:solidFill>
                <a:latin typeface="Lucida Grande" pitchFamily="80" charset="0"/>
                <a:ea typeface="ＭＳ Ｐゴシック" charset="-128"/>
                <a:cs typeface="+mn-cs"/>
              </a:rPr>
              <a:t>, line spacing and alignment are consistent with the rest of the template.</a:t>
            </a:r>
            <a:endParaRPr lang="en-US" sz="1200" kern="1200" dirty="0">
              <a:solidFill>
                <a:schemeClr val="tx1"/>
              </a:solidFill>
              <a:latin typeface="Lucida Grande" pitchFamily="80" charset="0"/>
              <a:ea typeface="ＭＳ Ｐゴシック" charset="-128"/>
              <a:cs typeface="+mn-cs"/>
            </a:endParaRPr>
          </a:p>
          <a:p>
            <a:pPr eaLnBrk="1" hangingPunct="1"/>
            <a:endParaRPr lang="en-US" sz="1200" kern="1200" dirty="0">
              <a:solidFill>
                <a:srgbClr val="731F43"/>
              </a:solidFill>
              <a:latin typeface="Lucida Grande" pitchFamily="80" charset="0"/>
              <a:ea typeface="ＭＳ Ｐゴシック" charset="-128"/>
              <a:cs typeface="+mn-cs"/>
            </a:endParaRPr>
          </a:p>
          <a:p>
            <a:pPr eaLnBrk="1" hangingPunct="1"/>
            <a:r>
              <a:rPr lang="en-US" sz="1200" b="1" kern="1200" dirty="0">
                <a:solidFill>
                  <a:srgbClr val="731F43"/>
                </a:solidFill>
                <a:latin typeface="Lucida Grande" pitchFamily="80" charset="0"/>
                <a:ea typeface="ＭＳ Ｐゴシック" charset="-128"/>
                <a:cs typeface="+mn-cs"/>
              </a:rPr>
              <a:t>Template slide 5: Inserting images</a:t>
            </a:r>
          </a:p>
          <a:p>
            <a:pPr marL="0" marR="0" indent="0" algn="l" defTabSz="914400" rtl="0" eaLnBrk="1" fontAlgn="base" latinLnBrk="0" hangingPunct="1">
              <a:lnSpc>
                <a:spcPct val="100000"/>
              </a:lnSpc>
              <a:spcBef>
                <a:spcPct val="30000"/>
              </a:spcBef>
              <a:spcAft>
                <a:spcPct val="0"/>
              </a:spcAft>
              <a:buClrTx/>
              <a:buSzTx/>
              <a:buFontTx/>
              <a:buNone/>
              <a:tabLst/>
              <a:defRPr/>
            </a:pPr>
            <a:r>
              <a:rPr lang="en-US" sz="1200" baseline="0" dirty="0">
                <a:solidFill>
                  <a:srgbClr val="666666"/>
                </a:solidFill>
                <a:latin typeface="Calibri" pitchFamily="80" charset="0"/>
              </a:rPr>
              <a:t>There are three choices of templates with images already inserted. Please use the template with the relevant image size and positioning. </a:t>
            </a:r>
            <a:r>
              <a:rPr lang="en-US" sz="1200" kern="1200" dirty="0">
                <a:solidFill>
                  <a:srgbClr val="731F43"/>
                </a:solidFill>
                <a:latin typeface="Lucida Grande" pitchFamily="80" charset="0"/>
                <a:ea typeface="ＭＳ Ｐゴシック" charset="-128"/>
                <a:cs typeface="+mn-cs"/>
              </a:rPr>
              <a:t>To</a:t>
            </a:r>
            <a:r>
              <a:rPr lang="en-US" sz="1200" kern="1200" baseline="0" dirty="0">
                <a:solidFill>
                  <a:srgbClr val="731F43"/>
                </a:solidFill>
                <a:latin typeface="Lucida Grande" pitchFamily="80" charset="0"/>
                <a:ea typeface="ＭＳ Ｐゴシック" charset="-128"/>
                <a:cs typeface="+mn-cs"/>
              </a:rPr>
              <a:t> insert an i</a:t>
            </a:r>
            <a:r>
              <a:rPr lang="en-US" sz="1200" kern="1200" dirty="0">
                <a:solidFill>
                  <a:srgbClr val="731F43"/>
                </a:solidFill>
                <a:latin typeface="Lucida Grande" pitchFamily="80" charset="0"/>
                <a:ea typeface="ＭＳ Ｐゴシック" charset="-128"/>
                <a:cs typeface="+mn-cs"/>
              </a:rPr>
              <a:t>mage,</a:t>
            </a:r>
            <a:r>
              <a:rPr lang="en-US" sz="1200" kern="1200" baseline="0" dirty="0">
                <a:solidFill>
                  <a:srgbClr val="731F43"/>
                </a:solidFill>
                <a:latin typeface="Lucida Grande" pitchFamily="80" charset="0"/>
                <a:ea typeface="ＭＳ Ｐゴシック" charset="-128"/>
                <a:cs typeface="+mn-cs"/>
              </a:rPr>
              <a:t> please go to ‘insert’ then ‘picture’ and find your image, highlight it and ‘insert’. Resize the image and position as per the example template.</a:t>
            </a:r>
            <a:endParaRPr lang="en-US" sz="1200" kern="1200" dirty="0">
              <a:solidFill>
                <a:srgbClr val="731F43"/>
              </a:solidFill>
              <a:latin typeface="Lucida Grande" pitchFamily="80" charset="0"/>
              <a:ea typeface="ＭＳ Ｐゴシック" charset="-128"/>
              <a:cs typeface="+mn-cs"/>
            </a:endParaRPr>
          </a:p>
          <a:p>
            <a:pPr eaLnBrk="1" hangingPunct="1"/>
            <a:endParaRPr lang="en-US" sz="1200" kern="1200" dirty="0">
              <a:solidFill>
                <a:srgbClr val="731F43"/>
              </a:solidFill>
              <a:latin typeface="Lucida Grande" pitchFamily="80" charset="0"/>
              <a:ea typeface="ＭＳ Ｐゴシック" charset="-128"/>
              <a:cs typeface="+mn-cs"/>
            </a:endParaRPr>
          </a:p>
          <a:p>
            <a:pPr eaLnBrk="1" hangingPunct="1"/>
            <a:r>
              <a:rPr lang="en-US" sz="1200" b="1" kern="1200" dirty="0">
                <a:solidFill>
                  <a:srgbClr val="731F43"/>
                </a:solidFill>
                <a:latin typeface="Lucida Grande" pitchFamily="80" charset="0"/>
                <a:ea typeface="ＭＳ Ｐゴシック" charset="-128"/>
                <a:cs typeface="+mn-cs"/>
              </a:rPr>
              <a:t>Template slide 6: </a:t>
            </a:r>
            <a:r>
              <a:rPr lang="en-GB" sz="1200" b="1" kern="1200" dirty="0">
                <a:solidFill>
                  <a:schemeClr val="tx1"/>
                </a:solidFill>
                <a:latin typeface="Lucida Grande" pitchFamily="80" charset="0"/>
                <a:ea typeface="ＭＳ Ｐゴシック" charset="-128"/>
                <a:cs typeface="+mn-cs"/>
              </a:rPr>
              <a:t>Text boxes</a:t>
            </a:r>
          </a:p>
          <a:p>
            <a:pPr eaLnBrk="1" hangingPunct="1"/>
            <a:r>
              <a:rPr lang="en-GB" sz="1200" kern="1200" dirty="0">
                <a:solidFill>
                  <a:schemeClr val="tx1"/>
                </a:solidFill>
                <a:latin typeface="Lucida Grande" pitchFamily="80" charset="0"/>
                <a:ea typeface="ＭＳ Ｐゴシック" charset="-128"/>
                <a:cs typeface="+mn-cs"/>
              </a:rPr>
              <a:t>If</a:t>
            </a:r>
            <a:r>
              <a:rPr lang="en-GB" sz="1200" kern="1200" baseline="0" dirty="0">
                <a:solidFill>
                  <a:schemeClr val="tx1"/>
                </a:solidFill>
                <a:latin typeface="Lucida Grande" pitchFamily="80" charset="0"/>
                <a:ea typeface="ＭＳ Ｐゴシック" charset="-128"/>
                <a:cs typeface="+mn-cs"/>
              </a:rPr>
              <a:t> a text box is deleted, either insert a new slide (using the appropriate template) or go to another slide and copy a text box. To select a text box for copying, please click on the outer edge of the text box so that the line goes solid (not dashed). Right click your mouse and select ‘copy’, then go back and ‘paste’ it into the slide where the text box is missing which should paste into the correct position on the slide.</a:t>
            </a:r>
          </a:p>
          <a:p>
            <a:pPr eaLnBrk="1" hangingPunct="1"/>
            <a:endParaRPr lang="en-US" sz="1200" kern="1200" dirty="0">
              <a:solidFill>
                <a:srgbClr val="731F43"/>
              </a:solidFill>
              <a:latin typeface="Lucida Grande" pitchFamily="80" charset="0"/>
              <a:ea typeface="ＭＳ Ｐゴシック" charset="-128"/>
              <a:cs typeface="+mn-cs"/>
            </a:endParaRPr>
          </a:p>
          <a:p>
            <a:pPr eaLnBrk="1" hangingPunct="1"/>
            <a:r>
              <a:rPr lang="en-US" sz="1200" b="1" kern="1200" dirty="0">
                <a:solidFill>
                  <a:srgbClr val="731F43"/>
                </a:solidFill>
                <a:latin typeface="Lucida Grande" pitchFamily="80" charset="0"/>
                <a:ea typeface="ＭＳ Ｐゴシック" charset="-128"/>
                <a:cs typeface="+mn-cs"/>
              </a:rPr>
              <a:t>Template slide 7: Other information</a:t>
            </a:r>
          </a:p>
          <a:p>
            <a:pPr eaLnBrk="1" hangingPunct="1"/>
            <a:endParaRPr lang="en-US" sz="1200" kern="1200" dirty="0">
              <a:solidFill>
                <a:srgbClr val="731F43"/>
              </a:solidFill>
              <a:latin typeface="Lucida Grande" pitchFamily="80" charset="0"/>
              <a:ea typeface="ＭＳ Ｐゴシック" charset="-128"/>
              <a:cs typeface="+mn-cs"/>
            </a:endParaRPr>
          </a:p>
          <a:p>
            <a:pPr eaLnBrk="1" hangingPunct="1"/>
            <a:r>
              <a:rPr lang="en-GB" sz="1200" b="1" kern="1200" dirty="0">
                <a:solidFill>
                  <a:schemeClr val="tx1"/>
                </a:solidFill>
                <a:latin typeface="Lucida Grande" pitchFamily="80" charset="0"/>
                <a:ea typeface="ＭＳ Ｐゴシック" charset="-128"/>
                <a:cs typeface="+mn-cs"/>
              </a:rPr>
              <a:t>Typefaces, sizes</a:t>
            </a:r>
            <a:r>
              <a:rPr lang="en-GB" sz="1200" b="1" kern="1200" baseline="0" dirty="0">
                <a:solidFill>
                  <a:schemeClr val="tx1"/>
                </a:solidFill>
                <a:latin typeface="Lucida Grande" pitchFamily="80" charset="0"/>
                <a:ea typeface="ＭＳ Ｐゴシック" charset="-128"/>
                <a:cs typeface="+mn-cs"/>
              </a:rPr>
              <a:t> and colours</a:t>
            </a:r>
            <a:br>
              <a:rPr lang="en-GB" sz="1200" kern="1200" dirty="0">
                <a:solidFill>
                  <a:schemeClr val="tx1"/>
                </a:solidFill>
                <a:latin typeface="Lucida Grande" pitchFamily="80" charset="0"/>
                <a:ea typeface="ＭＳ Ｐゴシック" charset="-128"/>
                <a:cs typeface="+mn-cs"/>
              </a:rPr>
            </a:br>
            <a:r>
              <a:rPr lang="en-GB" sz="1200" kern="1200" dirty="0">
                <a:solidFill>
                  <a:schemeClr val="tx1"/>
                </a:solidFill>
                <a:latin typeface="Lucida Grande" pitchFamily="80" charset="0"/>
                <a:ea typeface="ＭＳ Ｐゴシック" charset="-128"/>
                <a:cs typeface="+mn-cs"/>
              </a:rPr>
              <a:t>All copy is Calibri.</a:t>
            </a:r>
          </a:p>
          <a:p>
            <a:pPr eaLnBrk="1" hangingPunct="1"/>
            <a:endParaRPr lang="en-GB" sz="1200" kern="1200" dirty="0">
              <a:solidFill>
                <a:schemeClr val="tx1"/>
              </a:solidFill>
              <a:latin typeface="Lucida Grande" pitchFamily="80" charset="0"/>
              <a:ea typeface="ＭＳ Ｐゴシック" charset="-128"/>
              <a:cs typeface="+mn-cs"/>
            </a:endParaRPr>
          </a:p>
          <a:p>
            <a:pPr eaLnBrk="1" hangingPunct="1"/>
            <a:r>
              <a:rPr lang="en-GB" sz="1200" kern="1200" dirty="0">
                <a:solidFill>
                  <a:schemeClr val="tx1"/>
                </a:solidFill>
                <a:latin typeface="Lucida Grande" pitchFamily="80" charset="0"/>
                <a:ea typeface="ＭＳ Ｐゴシック" charset="-128"/>
                <a:cs typeface="+mn-cs"/>
              </a:rPr>
              <a:t>Slide</a:t>
            </a:r>
            <a:r>
              <a:rPr lang="en-GB" sz="1200" kern="1200" baseline="0" dirty="0">
                <a:solidFill>
                  <a:schemeClr val="tx1"/>
                </a:solidFill>
                <a:latin typeface="Lucida Grande" pitchFamily="80" charset="0"/>
                <a:ea typeface="ＭＳ Ｐゴシック" charset="-128"/>
                <a:cs typeface="+mn-cs"/>
              </a:rPr>
              <a:t> title</a:t>
            </a:r>
            <a:r>
              <a:rPr lang="en-GB" sz="1200" kern="1200" dirty="0">
                <a:solidFill>
                  <a:schemeClr val="tx1"/>
                </a:solidFill>
                <a:latin typeface="Lucida Grande" pitchFamily="80" charset="0"/>
                <a:ea typeface="ＭＳ Ｐゴシック" charset="-128"/>
                <a:cs typeface="+mn-cs"/>
              </a:rPr>
              <a:t> copy throughout:</a:t>
            </a:r>
          </a:p>
          <a:p>
            <a:pPr eaLnBrk="1" hangingPunct="1"/>
            <a:r>
              <a:rPr lang="en-GB" sz="1200" i="1" kern="1200" dirty="0">
                <a:solidFill>
                  <a:schemeClr val="tx1"/>
                </a:solidFill>
                <a:latin typeface="Lucida Grande" pitchFamily="80" charset="0"/>
                <a:ea typeface="ＭＳ Ｐゴシック" charset="-128"/>
                <a:cs typeface="+mn-cs"/>
              </a:rPr>
              <a:t>Size:  </a:t>
            </a:r>
            <a:r>
              <a:rPr lang="en-GB" sz="1200" i="0" kern="1200" dirty="0">
                <a:solidFill>
                  <a:schemeClr val="tx1"/>
                </a:solidFill>
                <a:latin typeface="Lucida Grande" pitchFamily="80" charset="0"/>
                <a:ea typeface="ＭＳ Ｐゴシック" charset="-128"/>
                <a:cs typeface="+mn-cs"/>
              </a:rPr>
              <a:t>36 point</a:t>
            </a:r>
            <a:endParaRPr lang="en-GB" sz="1200" kern="1200" dirty="0">
              <a:solidFill>
                <a:schemeClr val="tx1"/>
              </a:solidFill>
              <a:latin typeface="Lucida Grande" pitchFamily="80" charset="0"/>
              <a:ea typeface="ＭＳ Ｐゴシック" charset="-128"/>
              <a:cs typeface="+mn-cs"/>
            </a:endParaRPr>
          </a:p>
          <a:p>
            <a:pPr eaLnBrk="1" hangingPunct="1"/>
            <a:r>
              <a:rPr lang="en-GB" sz="1200" i="1" kern="1200" dirty="0">
                <a:solidFill>
                  <a:schemeClr val="tx1"/>
                </a:solidFill>
                <a:latin typeface="Lucida Grande" pitchFamily="80" charset="0"/>
                <a:ea typeface="ＭＳ Ｐゴシック" charset="-128"/>
                <a:cs typeface="+mn-cs"/>
              </a:rPr>
              <a:t>Colour Lancaster University red:  </a:t>
            </a:r>
            <a:r>
              <a:rPr lang="en-GB" sz="1200" kern="1200" dirty="0">
                <a:solidFill>
                  <a:schemeClr val="tx1"/>
                </a:solidFill>
                <a:latin typeface="Lucida Grande" pitchFamily="80" charset="0"/>
                <a:ea typeface="ＭＳ Ｐゴシック" charset="-128"/>
                <a:cs typeface="+mn-cs"/>
              </a:rPr>
              <a:t>(RGB) R: 181 G: 18 B: 27 (recent</a:t>
            </a:r>
            <a:r>
              <a:rPr lang="en-GB" sz="1200" kern="1200" baseline="0" dirty="0">
                <a:solidFill>
                  <a:schemeClr val="tx1"/>
                </a:solidFill>
                <a:latin typeface="Lucida Grande" pitchFamily="80" charset="0"/>
                <a:ea typeface="ＭＳ Ｐゴシック" charset="-128"/>
                <a:cs typeface="+mn-cs"/>
              </a:rPr>
              <a:t> colours on PowerPoint)</a:t>
            </a:r>
            <a:br>
              <a:rPr lang="en-GB" sz="1200" kern="1200" dirty="0">
                <a:solidFill>
                  <a:schemeClr val="tx1"/>
                </a:solidFill>
                <a:latin typeface="Lucida Grande" pitchFamily="80" charset="0"/>
                <a:ea typeface="ＭＳ Ｐゴシック" charset="-128"/>
                <a:cs typeface="+mn-cs"/>
              </a:rPr>
            </a:br>
            <a:br>
              <a:rPr lang="en-GB" sz="1200" kern="1200" dirty="0">
                <a:solidFill>
                  <a:schemeClr val="tx1"/>
                </a:solidFill>
                <a:latin typeface="Lucida Grande" pitchFamily="80" charset="0"/>
                <a:ea typeface="ＭＳ Ｐゴシック" charset="-128"/>
                <a:cs typeface="+mn-cs"/>
              </a:rPr>
            </a:br>
            <a:r>
              <a:rPr lang="en-GB" sz="1200" kern="1200" dirty="0">
                <a:solidFill>
                  <a:schemeClr val="tx1"/>
                </a:solidFill>
                <a:latin typeface="Lucida Grande" pitchFamily="80" charset="0"/>
                <a:ea typeface="ＭＳ Ｐゴシック" charset="-128"/>
                <a:cs typeface="+mn-cs"/>
              </a:rPr>
              <a:t>Small copy on first and last slide:</a:t>
            </a:r>
            <a:br>
              <a:rPr lang="en-GB" sz="1200" kern="1200" dirty="0">
                <a:solidFill>
                  <a:schemeClr val="tx1"/>
                </a:solidFill>
                <a:latin typeface="Lucida Grande" pitchFamily="80" charset="0"/>
                <a:ea typeface="ＭＳ Ｐゴシック" charset="-128"/>
                <a:cs typeface="+mn-cs"/>
              </a:rPr>
            </a:br>
            <a:r>
              <a:rPr lang="en-GB" sz="1200" i="1" kern="1200" dirty="0">
                <a:solidFill>
                  <a:schemeClr val="tx1"/>
                </a:solidFill>
                <a:latin typeface="Lucida Grande" pitchFamily="80" charset="0"/>
                <a:ea typeface="ＭＳ Ｐゴシック" charset="-128"/>
                <a:cs typeface="+mn-cs"/>
              </a:rPr>
              <a:t>Size:  </a:t>
            </a:r>
            <a:r>
              <a:rPr lang="en-GB" sz="1200" kern="1200" dirty="0">
                <a:solidFill>
                  <a:schemeClr val="tx1"/>
                </a:solidFill>
                <a:latin typeface="Lucida Grande" pitchFamily="80" charset="0"/>
                <a:ea typeface="ＭＳ Ｐゴシック" charset="-128"/>
                <a:cs typeface="+mn-cs"/>
              </a:rPr>
              <a:t>16 point</a:t>
            </a:r>
            <a:br>
              <a:rPr lang="en-GB" sz="1200" kern="1200" dirty="0">
                <a:solidFill>
                  <a:schemeClr val="tx1"/>
                </a:solidFill>
                <a:latin typeface="Lucida Grande" pitchFamily="80" charset="0"/>
                <a:ea typeface="ＭＳ Ｐゴシック" charset="-128"/>
                <a:cs typeface="+mn-cs"/>
              </a:rPr>
            </a:br>
            <a:r>
              <a:rPr lang="en-GB" sz="1200" i="1" kern="1200" dirty="0">
                <a:solidFill>
                  <a:schemeClr val="tx1"/>
                </a:solidFill>
                <a:latin typeface="Lucida Grande" pitchFamily="80" charset="0"/>
                <a:ea typeface="ＭＳ Ｐゴシック" charset="-128"/>
                <a:cs typeface="+mn-cs"/>
              </a:rPr>
              <a:t>Colour</a:t>
            </a:r>
            <a:r>
              <a:rPr lang="en-GB" sz="1200" i="1" kern="1200" baseline="0" dirty="0">
                <a:solidFill>
                  <a:schemeClr val="tx1"/>
                </a:solidFill>
                <a:latin typeface="Lucida Grande" pitchFamily="80" charset="0"/>
                <a:ea typeface="ＭＳ Ｐゴシック" charset="-128"/>
                <a:cs typeface="+mn-cs"/>
              </a:rPr>
              <a:t> </a:t>
            </a:r>
            <a:r>
              <a:rPr lang="en-GB" sz="1200" i="1" kern="1200" dirty="0">
                <a:solidFill>
                  <a:schemeClr val="tx1"/>
                </a:solidFill>
                <a:latin typeface="Lucida Grande" pitchFamily="80" charset="0"/>
                <a:ea typeface="ＭＳ Ｐゴシック" charset="-128"/>
                <a:cs typeface="+mn-cs"/>
              </a:rPr>
              <a:t>grey:  </a:t>
            </a:r>
            <a:r>
              <a:rPr lang="en-GB" sz="1200" kern="1200" dirty="0">
                <a:solidFill>
                  <a:schemeClr val="tx1"/>
                </a:solidFill>
                <a:latin typeface="Lucida Grande" pitchFamily="80" charset="0"/>
                <a:ea typeface="ＭＳ Ｐゴシック" charset="-128"/>
                <a:cs typeface="+mn-cs"/>
              </a:rPr>
              <a:t>(RGB) R: 102 G: 102 B: 102 (recent</a:t>
            </a:r>
            <a:r>
              <a:rPr lang="en-GB" sz="1200" kern="1200" baseline="0" dirty="0">
                <a:solidFill>
                  <a:schemeClr val="tx1"/>
                </a:solidFill>
                <a:latin typeface="Lucida Grande" pitchFamily="80" charset="0"/>
                <a:ea typeface="ＭＳ Ｐゴシック" charset="-128"/>
                <a:cs typeface="+mn-cs"/>
              </a:rPr>
              <a:t> colours on PowerPoint)</a:t>
            </a:r>
            <a:br>
              <a:rPr lang="en-GB" sz="1200" kern="1200" dirty="0">
                <a:solidFill>
                  <a:schemeClr val="tx1"/>
                </a:solidFill>
                <a:latin typeface="Lucida Grande" pitchFamily="80" charset="0"/>
                <a:ea typeface="ＭＳ Ｐゴシック" charset="-128"/>
                <a:cs typeface="+mn-cs"/>
              </a:rPr>
            </a:br>
            <a:endParaRPr lang="en-GB" sz="1200" kern="1200" dirty="0">
              <a:solidFill>
                <a:schemeClr val="tx1"/>
              </a:solidFill>
              <a:latin typeface="Lucida Grande" pitchFamily="80" charset="0"/>
              <a:ea typeface="ＭＳ Ｐゴシック" charset="-128"/>
              <a:cs typeface="+mn-cs"/>
            </a:endParaRPr>
          </a:p>
          <a:p>
            <a:pPr eaLnBrk="1" hangingPunct="1"/>
            <a:r>
              <a:rPr lang="en-GB" sz="1200" kern="1200" dirty="0">
                <a:solidFill>
                  <a:schemeClr val="tx1"/>
                </a:solidFill>
                <a:latin typeface="Lucida Grande" pitchFamily="80" charset="0"/>
                <a:ea typeface="ＭＳ Ｐゴシック" charset="-128"/>
                <a:cs typeface="+mn-cs"/>
              </a:rPr>
              <a:t>Sub-heading</a:t>
            </a:r>
            <a:r>
              <a:rPr lang="en-GB" sz="1200" kern="1200" baseline="0" dirty="0">
                <a:solidFill>
                  <a:schemeClr val="tx1"/>
                </a:solidFill>
                <a:latin typeface="Lucida Grande" pitchFamily="80" charset="0"/>
                <a:ea typeface="ＭＳ Ｐゴシック" charset="-128"/>
                <a:cs typeface="+mn-cs"/>
              </a:rPr>
              <a:t>s</a:t>
            </a:r>
            <a:r>
              <a:rPr lang="en-GB" sz="1200" kern="1200" dirty="0">
                <a:solidFill>
                  <a:schemeClr val="tx1"/>
                </a:solidFill>
                <a:latin typeface="Lucida Grande" pitchFamily="80" charset="0"/>
                <a:ea typeface="ＭＳ Ｐゴシック" charset="-128"/>
                <a:cs typeface="+mn-cs"/>
              </a:rPr>
              <a:t>:</a:t>
            </a:r>
            <a:br>
              <a:rPr lang="en-GB" sz="1200" kern="1200" dirty="0">
                <a:solidFill>
                  <a:schemeClr val="tx1"/>
                </a:solidFill>
                <a:latin typeface="Lucida Grande" pitchFamily="80" charset="0"/>
                <a:ea typeface="ＭＳ Ｐゴシック" charset="-128"/>
                <a:cs typeface="+mn-cs"/>
              </a:rPr>
            </a:br>
            <a:r>
              <a:rPr lang="en-GB" sz="1200" i="1" kern="1200" dirty="0">
                <a:solidFill>
                  <a:schemeClr val="tx1"/>
                </a:solidFill>
                <a:latin typeface="Lucida Grande" pitchFamily="80" charset="0"/>
                <a:ea typeface="ＭＳ Ｐゴシック" charset="-128"/>
                <a:cs typeface="+mn-cs"/>
              </a:rPr>
              <a:t>Size:  </a:t>
            </a:r>
            <a:r>
              <a:rPr lang="en-GB" sz="1200" i="0" kern="1200" dirty="0">
                <a:solidFill>
                  <a:schemeClr val="tx1"/>
                </a:solidFill>
                <a:latin typeface="Lucida Grande" pitchFamily="80" charset="0"/>
                <a:ea typeface="ＭＳ Ｐゴシック" charset="-128"/>
                <a:cs typeface="+mn-cs"/>
              </a:rPr>
              <a:t>24 point – italics</a:t>
            </a:r>
            <a:br>
              <a:rPr lang="en-GB" sz="1200" kern="1200" dirty="0">
                <a:solidFill>
                  <a:schemeClr val="tx1"/>
                </a:solidFill>
                <a:latin typeface="Lucida Grande" pitchFamily="80" charset="0"/>
                <a:ea typeface="ＭＳ Ｐゴシック" charset="-128"/>
                <a:cs typeface="+mn-cs"/>
              </a:rPr>
            </a:br>
            <a:r>
              <a:rPr lang="en-GB" sz="1200" i="1" kern="1200" dirty="0">
                <a:solidFill>
                  <a:schemeClr val="tx1"/>
                </a:solidFill>
                <a:latin typeface="Lucida Grande" pitchFamily="80" charset="0"/>
                <a:ea typeface="ＭＳ Ｐゴシック" charset="-128"/>
                <a:cs typeface="+mn-cs"/>
              </a:rPr>
              <a:t>Colour</a:t>
            </a:r>
            <a:r>
              <a:rPr lang="en-GB" sz="1200" i="1" kern="1200" baseline="0" dirty="0">
                <a:solidFill>
                  <a:schemeClr val="tx1"/>
                </a:solidFill>
                <a:latin typeface="Lucida Grande" pitchFamily="80" charset="0"/>
                <a:ea typeface="ＭＳ Ｐゴシック" charset="-128"/>
                <a:cs typeface="+mn-cs"/>
              </a:rPr>
              <a:t> </a:t>
            </a:r>
            <a:r>
              <a:rPr lang="en-GB" sz="1200" i="1" kern="1200" dirty="0">
                <a:solidFill>
                  <a:schemeClr val="tx1"/>
                </a:solidFill>
                <a:latin typeface="Lucida Grande" pitchFamily="80" charset="0"/>
                <a:ea typeface="ＭＳ Ｐゴシック" charset="-128"/>
                <a:cs typeface="+mn-cs"/>
              </a:rPr>
              <a:t>grey:  </a:t>
            </a:r>
            <a:r>
              <a:rPr lang="en-GB" sz="1200" kern="1200" dirty="0">
                <a:solidFill>
                  <a:schemeClr val="tx1"/>
                </a:solidFill>
                <a:latin typeface="Lucida Grande" pitchFamily="80" charset="0"/>
                <a:ea typeface="ＭＳ Ｐゴシック" charset="-128"/>
                <a:cs typeface="+mn-cs"/>
              </a:rPr>
              <a:t>(RGB) R: 102 G: 102 B: 102 (recent</a:t>
            </a:r>
            <a:r>
              <a:rPr lang="en-GB" sz="1200" kern="1200" baseline="0" dirty="0">
                <a:solidFill>
                  <a:schemeClr val="tx1"/>
                </a:solidFill>
                <a:latin typeface="Lucida Grande" pitchFamily="80" charset="0"/>
                <a:ea typeface="ＭＳ Ｐゴシック" charset="-128"/>
                <a:cs typeface="+mn-cs"/>
              </a:rPr>
              <a:t> colours on PowerPoint)</a:t>
            </a:r>
            <a:endParaRPr lang="en-GB" sz="1200" kern="1200" dirty="0">
              <a:solidFill>
                <a:schemeClr val="tx1"/>
              </a:solidFill>
              <a:latin typeface="Lucida Grande" pitchFamily="80" charset="0"/>
              <a:ea typeface="ＭＳ Ｐゴシック" charset="-128"/>
              <a:cs typeface="+mn-cs"/>
            </a:endParaRPr>
          </a:p>
          <a:p>
            <a:pPr marL="0" marR="0" indent="0" algn="l" defTabSz="914400" rtl="0" eaLnBrk="1" fontAlgn="base" latinLnBrk="0" hangingPunct="1">
              <a:lnSpc>
                <a:spcPct val="100000"/>
              </a:lnSpc>
              <a:spcBef>
                <a:spcPct val="30000"/>
              </a:spcBef>
              <a:spcAft>
                <a:spcPct val="0"/>
              </a:spcAft>
              <a:buClrTx/>
              <a:buSzTx/>
              <a:buFontTx/>
              <a:buNone/>
              <a:tabLst/>
              <a:defRPr/>
            </a:pPr>
            <a:br>
              <a:rPr lang="en-GB" sz="1200" kern="1200" dirty="0">
                <a:solidFill>
                  <a:schemeClr val="tx1"/>
                </a:solidFill>
                <a:latin typeface="Lucida Grande" pitchFamily="80" charset="0"/>
                <a:ea typeface="ＭＳ Ｐゴシック" charset="-128"/>
                <a:cs typeface="+mn-cs"/>
              </a:rPr>
            </a:br>
            <a:r>
              <a:rPr lang="en-GB" sz="1200" kern="1200" dirty="0">
                <a:solidFill>
                  <a:schemeClr val="tx1"/>
                </a:solidFill>
                <a:latin typeface="Lucida Grande" pitchFamily="80" charset="0"/>
                <a:ea typeface="ＭＳ Ｐゴシック" charset="-128"/>
                <a:cs typeface="+mn-cs"/>
              </a:rPr>
              <a:t>Bullets copy and body copy:</a:t>
            </a:r>
            <a:br>
              <a:rPr lang="en-GB" sz="1200" kern="1200" dirty="0">
                <a:solidFill>
                  <a:schemeClr val="tx1"/>
                </a:solidFill>
                <a:latin typeface="Lucida Grande" pitchFamily="80" charset="0"/>
                <a:ea typeface="ＭＳ Ｐゴシック" charset="-128"/>
                <a:cs typeface="+mn-cs"/>
              </a:rPr>
            </a:br>
            <a:r>
              <a:rPr lang="en-GB" sz="1200" i="1" kern="1200" dirty="0">
                <a:solidFill>
                  <a:schemeClr val="tx1"/>
                </a:solidFill>
                <a:latin typeface="Lucida Grande" pitchFamily="80" charset="0"/>
                <a:ea typeface="ＭＳ Ｐゴシック" charset="-128"/>
                <a:cs typeface="+mn-cs"/>
              </a:rPr>
              <a:t>Size:</a:t>
            </a:r>
            <a:r>
              <a:rPr lang="en-GB" sz="1200" i="1" kern="1200" baseline="0" dirty="0">
                <a:solidFill>
                  <a:schemeClr val="tx1"/>
                </a:solidFill>
                <a:latin typeface="Lucida Grande" pitchFamily="80" charset="0"/>
                <a:ea typeface="ＭＳ Ｐゴシック" charset="-128"/>
                <a:cs typeface="+mn-cs"/>
              </a:rPr>
              <a:t>  </a:t>
            </a:r>
            <a:r>
              <a:rPr lang="en-GB" sz="1200" kern="1200" dirty="0">
                <a:solidFill>
                  <a:schemeClr val="tx1"/>
                </a:solidFill>
                <a:latin typeface="Lucida Grande" pitchFamily="80" charset="0"/>
                <a:ea typeface="ＭＳ Ｐゴシック" charset="-128"/>
                <a:cs typeface="+mn-cs"/>
              </a:rPr>
              <a:t>24 point</a:t>
            </a:r>
            <a:r>
              <a:rPr lang="en-GB" sz="1200" kern="1200" baseline="0" dirty="0">
                <a:solidFill>
                  <a:schemeClr val="tx1"/>
                </a:solidFill>
                <a:latin typeface="Lucida Grande" pitchFamily="80" charset="0"/>
                <a:ea typeface="ＭＳ Ｐゴシック" charset="-128"/>
                <a:cs typeface="+mn-cs"/>
              </a:rPr>
              <a:t> </a:t>
            </a:r>
            <a:r>
              <a:rPr lang="en-GB" sz="1200" kern="1200" dirty="0">
                <a:solidFill>
                  <a:schemeClr val="tx1"/>
                </a:solidFill>
                <a:latin typeface="Lucida Grande" pitchFamily="80" charset="0"/>
                <a:ea typeface="ＭＳ Ｐゴシック" charset="-128"/>
                <a:cs typeface="+mn-cs"/>
              </a:rPr>
              <a:t>(see below for a further option)</a:t>
            </a:r>
            <a:br>
              <a:rPr lang="en-GB" sz="1200" kern="1200" dirty="0">
                <a:solidFill>
                  <a:schemeClr val="tx1"/>
                </a:solidFill>
                <a:latin typeface="Lucida Grande" pitchFamily="80" charset="0"/>
                <a:ea typeface="ＭＳ Ｐゴシック" charset="-128"/>
                <a:cs typeface="+mn-cs"/>
              </a:rPr>
            </a:br>
            <a:r>
              <a:rPr lang="en-GB" sz="1200" i="1" kern="1200" dirty="0">
                <a:solidFill>
                  <a:schemeClr val="tx1"/>
                </a:solidFill>
                <a:latin typeface="Lucida Grande" pitchFamily="80" charset="0"/>
                <a:ea typeface="ＭＳ Ｐゴシック" charset="-128"/>
                <a:cs typeface="+mn-cs"/>
              </a:rPr>
              <a:t>Colour grey:  </a:t>
            </a:r>
            <a:r>
              <a:rPr lang="en-GB" sz="1200" kern="1200" dirty="0">
                <a:solidFill>
                  <a:schemeClr val="tx1"/>
                </a:solidFill>
                <a:latin typeface="Lucida Grande" pitchFamily="80" charset="0"/>
                <a:ea typeface="ＭＳ Ｐゴシック" charset="-128"/>
                <a:cs typeface="+mn-cs"/>
              </a:rPr>
              <a:t>(RGB) R: 102 G: 102 B: 102 (recent</a:t>
            </a:r>
            <a:r>
              <a:rPr lang="en-GB" sz="1200" kern="1200" baseline="0" dirty="0">
                <a:solidFill>
                  <a:schemeClr val="tx1"/>
                </a:solidFill>
                <a:latin typeface="Lucida Grande" pitchFamily="80" charset="0"/>
                <a:ea typeface="ＭＳ Ｐゴシック" charset="-128"/>
                <a:cs typeface="+mn-cs"/>
              </a:rPr>
              <a:t> colours on PowerPoint)</a:t>
            </a:r>
            <a:endParaRPr lang="en-GB" sz="1200" kern="1200" dirty="0">
              <a:solidFill>
                <a:schemeClr val="tx1"/>
              </a:solidFill>
              <a:latin typeface="Lucida Grande" pitchFamily="80" charset="0"/>
              <a:ea typeface="ＭＳ Ｐゴシック" charset="-128"/>
              <a:cs typeface="+mn-cs"/>
            </a:endParaRPr>
          </a:p>
          <a:p>
            <a:pPr eaLnBrk="1" hangingPunct="1"/>
            <a:r>
              <a:rPr lang="en-GB" sz="1200" kern="1200" dirty="0">
                <a:solidFill>
                  <a:schemeClr val="tx1"/>
                </a:solidFill>
                <a:latin typeface="Lucida Grande" pitchFamily="80" charset="0"/>
                <a:ea typeface="ＭＳ Ｐゴシック" charset="-128"/>
                <a:cs typeface="+mn-cs"/>
              </a:rPr>
              <a:t>It</a:t>
            </a:r>
            <a:r>
              <a:rPr lang="en-GB" sz="1200" kern="1200" baseline="0" dirty="0">
                <a:solidFill>
                  <a:schemeClr val="tx1"/>
                </a:solidFill>
                <a:latin typeface="Lucida Grande" pitchFamily="80" charset="0"/>
                <a:ea typeface="ＭＳ Ｐゴシック" charset="-128"/>
                <a:cs typeface="+mn-cs"/>
              </a:rPr>
              <a:t> isn’t advisable to have too much text on a slide, however on rare occasions it may be necessary, therefore there is a slide using 20 point bullet pointed text.</a:t>
            </a:r>
            <a:endParaRPr lang="en-US" sz="1200" kern="1200" dirty="0">
              <a:solidFill>
                <a:schemeClr val="tx1"/>
              </a:solidFill>
              <a:latin typeface="Lucida Grande" pitchFamily="80" charset="0"/>
              <a:ea typeface="ＭＳ Ｐゴシック" charset="-128"/>
              <a:cs typeface="+mn-cs"/>
            </a:endParaRPr>
          </a:p>
          <a:p>
            <a:pPr eaLnBrk="1" hangingPunct="1"/>
            <a:endParaRPr lang="en-US" sz="1200" kern="1200" dirty="0">
              <a:solidFill>
                <a:schemeClr val="tx1"/>
              </a:solidFill>
              <a:latin typeface="Lucida Grande" pitchFamily="80" charset="0"/>
              <a:ea typeface="ＭＳ Ｐゴシック" charset="-128"/>
              <a:cs typeface="+mn-cs"/>
            </a:endParaRPr>
          </a:p>
          <a:p>
            <a:pPr eaLnBrk="1" hangingPunct="1"/>
            <a:r>
              <a:rPr lang="en-US" sz="1200" b="1" kern="1200" dirty="0">
                <a:solidFill>
                  <a:schemeClr val="tx1"/>
                </a:solidFill>
                <a:latin typeface="Lucida Grande" pitchFamily="80" charset="0"/>
                <a:ea typeface="ＭＳ Ｐゴシック" charset="-128"/>
                <a:cs typeface="+mn-cs"/>
              </a:rPr>
              <a:t>Line</a:t>
            </a:r>
            <a:r>
              <a:rPr lang="en-US" sz="1200" b="1" kern="1200" baseline="0" dirty="0">
                <a:solidFill>
                  <a:schemeClr val="tx1"/>
                </a:solidFill>
                <a:latin typeface="Lucida Grande" pitchFamily="80" charset="0"/>
                <a:ea typeface="ＭＳ Ｐゴシック" charset="-128"/>
                <a:cs typeface="+mn-cs"/>
              </a:rPr>
              <a:t> spacing and alignment</a:t>
            </a:r>
          </a:p>
          <a:p>
            <a:pPr eaLnBrk="1" hangingPunct="1"/>
            <a:r>
              <a:rPr lang="en-US" sz="1200" kern="1200" baseline="0" dirty="0">
                <a:solidFill>
                  <a:schemeClr val="tx1"/>
                </a:solidFill>
                <a:latin typeface="Lucida Grande" pitchFamily="80" charset="0"/>
                <a:ea typeface="ＭＳ Ｐゴシック" charset="-128"/>
                <a:cs typeface="+mn-cs"/>
              </a:rPr>
              <a:t>Single line spacing (apart from the main headings which is ‘exactly 35 point’)</a:t>
            </a:r>
          </a:p>
          <a:p>
            <a:pPr eaLnBrk="1" hangingPunct="1"/>
            <a:r>
              <a:rPr lang="en-US" sz="1200" kern="1200" baseline="0" dirty="0">
                <a:solidFill>
                  <a:schemeClr val="tx1"/>
                </a:solidFill>
                <a:latin typeface="Lucida Grande" pitchFamily="80" charset="0"/>
                <a:ea typeface="ＭＳ Ｐゴシック" charset="-128"/>
                <a:cs typeface="+mn-cs"/>
              </a:rPr>
              <a:t>All text is aligned left</a:t>
            </a:r>
            <a:endParaRPr lang="en-US" sz="1200" kern="1200" dirty="0">
              <a:solidFill>
                <a:schemeClr val="tx1"/>
              </a:solidFill>
              <a:latin typeface="Lucida Grande" pitchFamily="80" charset="0"/>
              <a:ea typeface="ＭＳ Ｐゴシック" charset="-128"/>
              <a:cs typeface="+mn-cs"/>
            </a:endParaRPr>
          </a:p>
          <a:p>
            <a:pPr eaLnBrk="1" hangingPunct="1"/>
            <a:endParaRPr lang="en-US" sz="1200" kern="1200" dirty="0">
              <a:solidFill>
                <a:srgbClr val="731F43"/>
              </a:solidFill>
              <a:latin typeface="Lucida Grande" pitchFamily="80" charset="0"/>
              <a:ea typeface="ＭＳ Ｐゴシック" charset="-128"/>
              <a:cs typeface="+mn-cs"/>
            </a:endParaRPr>
          </a:p>
          <a:p>
            <a:pPr eaLnBrk="1" hangingPunct="1"/>
            <a:r>
              <a:rPr lang="en-US" sz="1200" b="1" kern="1200" baseline="0" dirty="0">
                <a:solidFill>
                  <a:srgbClr val="731F43"/>
                </a:solidFill>
                <a:latin typeface="Lucida Grande" pitchFamily="80" charset="0"/>
                <a:ea typeface="ＭＳ Ｐゴシック" charset="-128"/>
                <a:cs typeface="+mn-cs"/>
              </a:rPr>
              <a:t>Slide title options</a:t>
            </a:r>
          </a:p>
          <a:p>
            <a:pPr eaLnBrk="1" hangingPunct="1"/>
            <a:r>
              <a:rPr lang="en-US" sz="1200" kern="1200" baseline="0" dirty="0">
                <a:solidFill>
                  <a:srgbClr val="731F43"/>
                </a:solidFill>
                <a:latin typeface="Lucida Grande" pitchFamily="80" charset="0"/>
                <a:ea typeface="ＭＳ Ｐゴシック" charset="-128"/>
                <a:cs typeface="+mn-cs"/>
              </a:rPr>
              <a:t>There are two options for titles on the slides – one line or two lines for longer titles. Ideally, the one line title should be used, however on rare occasions a two line title maybe needed.</a:t>
            </a:r>
            <a:endParaRPr lang="en-US" sz="1200" kern="1200" dirty="0">
              <a:solidFill>
                <a:srgbClr val="731F43"/>
              </a:solidFill>
              <a:latin typeface="Lucida Grande" pitchFamily="80" charset="0"/>
              <a:ea typeface="ＭＳ Ｐゴシック" charset="-128"/>
              <a:cs typeface="+mn-cs"/>
            </a:endParaRPr>
          </a:p>
        </p:txBody>
      </p:sp>
      <p:sp>
        <p:nvSpPr>
          <p:cNvPr id="4" name="Slide Number Placeholder 3"/>
          <p:cNvSpPr>
            <a:spLocks noGrp="1"/>
          </p:cNvSpPr>
          <p:nvPr>
            <p:ph type="sldNum" sz="quarter" idx="10"/>
          </p:nvPr>
        </p:nvSpPr>
        <p:spPr/>
        <p:txBody>
          <a:bodyPr/>
          <a:lstStyle/>
          <a:p>
            <a:fld id="{0EC8AF62-0413-459D-A055-9BD345497D1F}" type="slidenum">
              <a:rPr lang="en-GB" smtClean="0"/>
              <a:pPr/>
              <a:t>1</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1: presentation title">
    <p:spTree>
      <p:nvGrpSpPr>
        <p:cNvPr id="1" name=""/>
        <p:cNvGrpSpPr/>
        <p:nvPr/>
      </p:nvGrpSpPr>
      <p:grpSpPr>
        <a:xfrm>
          <a:off x="0" y="0"/>
          <a:ext cx="0" cy="0"/>
          <a:chOff x="0" y="0"/>
          <a:chExt cx="0" cy="0"/>
        </a:xfrm>
      </p:grpSpPr>
      <p:sp>
        <p:nvSpPr>
          <p:cNvPr id="2" name="Title 1"/>
          <p:cNvSpPr>
            <a:spLocks noGrp="1"/>
          </p:cNvSpPr>
          <p:nvPr>
            <p:ph type="ctrTitle"/>
          </p:nvPr>
        </p:nvSpPr>
        <p:spPr>
          <a:xfrm>
            <a:off x="467544" y="1556792"/>
            <a:ext cx="8208912" cy="1010543"/>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3" name="Subtitle 2"/>
          <p:cNvSpPr>
            <a:spLocks noGrp="1"/>
          </p:cNvSpPr>
          <p:nvPr>
            <p:ph type="subTitle" idx="1"/>
          </p:nvPr>
        </p:nvSpPr>
        <p:spPr>
          <a:xfrm>
            <a:off x="467544" y="2852936"/>
            <a:ext cx="8208912" cy="720080"/>
          </a:xfrm>
          <a:prstGeom prst="rect">
            <a:avLst/>
          </a:prstGeom>
        </p:spPr>
        <p:txBody>
          <a:bodyPr/>
          <a:lstStyle>
            <a:lvl1pPr marL="0" indent="0" algn="l">
              <a:spcBef>
                <a:spcPts val="0"/>
              </a:spcBef>
              <a:buNone/>
              <a:defRPr sz="1600">
                <a:solidFill>
                  <a:srgbClr val="666666"/>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lide 9: discussion">
    <p:spTree>
      <p:nvGrpSpPr>
        <p:cNvPr id="1" name=""/>
        <p:cNvGrpSpPr/>
        <p:nvPr/>
      </p:nvGrpSpPr>
      <p:grpSpPr>
        <a:xfrm>
          <a:off x="0" y="0"/>
          <a:ext cx="0" cy="0"/>
          <a:chOff x="0" y="0"/>
          <a:chExt cx="0" cy="0"/>
        </a:xfrm>
      </p:grpSpPr>
      <p:sp>
        <p:nvSpPr>
          <p:cNvPr id="2" name="Title 1"/>
          <p:cNvSpPr>
            <a:spLocks noGrp="1"/>
          </p:cNvSpPr>
          <p:nvPr>
            <p:ph type="ctrTitle"/>
          </p:nvPr>
        </p:nvSpPr>
        <p:spPr>
          <a:xfrm>
            <a:off x="467544" y="1556792"/>
            <a:ext cx="8208912" cy="1010543"/>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3" name="Subtitle 2"/>
          <p:cNvSpPr>
            <a:spLocks noGrp="1"/>
          </p:cNvSpPr>
          <p:nvPr>
            <p:ph type="subTitle" idx="1"/>
          </p:nvPr>
        </p:nvSpPr>
        <p:spPr>
          <a:xfrm>
            <a:off x="467544" y="2852936"/>
            <a:ext cx="8208912" cy="720080"/>
          </a:xfrm>
          <a:prstGeom prst="rect">
            <a:avLst/>
          </a:prstGeom>
        </p:spPr>
        <p:txBody>
          <a:bodyPr/>
          <a:lstStyle>
            <a:lvl1pPr marL="0" indent="0" algn="l">
              <a:spcBef>
                <a:spcPts val="0"/>
              </a:spcBef>
              <a:buNone/>
              <a:defRPr sz="1600">
                <a:solidFill>
                  <a:srgbClr val="666666"/>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 2: text only">
    <p:spTree>
      <p:nvGrpSpPr>
        <p:cNvPr id="1" name=""/>
        <p:cNvGrpSpPr/>
        <p:nvPr/>
      </p:nvGrpSpPr>
      <p:grpSpPr>
        <a:xfrm>
          <a:off x="0" y="0"/>
          <a:ext cx="0" cy="0"/>
          <a:chOff x="0" y="0"/>
          <a:chExt cx="0" cy="0"/>
        </a:xfrm>
      </p:grpSpPr>
      <p:sp>
        <p:nvSpPr>
          <p:cNvPr id="2" name="Title 1"/>
          <p:cNvSpPr>
            <a:spLocks noGrp="1"/>
          </p:cNvSpPr>
          <p:nvPr>
            <p:ph type="ctrTitle"/>
          </p:nvPr>
        </p:nvSpPr>
        <p:spPr>
          <a:xfrm>
            <a:off x="395536" y="548680"/>
            <a:ext cx="6768752" cy="1152128"/>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4" name="Text Placeholder 7"/>
          <p:cNvSpPr>
            <a:spLocks noGrp="1"/>
          </p:cNvSpPr>
          <p:nvPr>
            <p:ph type="body" sz="quarter" idx="14"/>
          </p:nvPr>
        </p:nvSpPr>
        <p:spPr>
          <a:xfrm>
            <a:off x="395288" y="1844675"/>
            <a:ext cx="8425184" cy="4752975"/>
          </a:xfrm>
          <a:prstGeom prst="rect">
            <a:avLst/>
          </a:prstGeom>
        </p:spPr>
        <p:txBody>
          <a:bodyPr vert="horz"/>
          <a:lstStyle>
            <a:lvl1pPr>
              <a:defRPr sz="2400">
                <a:solidFill>
                  <a:srgbClr val="666666"/>
                </a:solidFill>
              </a:defRPr>
            </a:lvl1pPr>
            <a:lvl2pPr>
              <a:defRPr sz="2200">
                <a:solidFill>
                  <a:srgbClr val="666666"/>
                </a:solidFill>
              </a:defRPr>
            </a:lvl2pPr>
            <a:lvl3pPr>
              <a:defRPr sz="2000">
                <a:solidFill>
                  <a:srgbClr val="666666"/>
                </a:solidFill>
              </a:defRPr>
            </a:lvl3pPr>
            <a:lvl4pPr>
              <a:defRPr sz="1800">
                <a:solidFill>
                  <a:srgbClr val="666666"/>
                </a:solidFill>
              </a:defRPr>
            </a:lvl4pPr>
            <a:lvl5pPr>
              <a:defRPr sz="1600">
                <a:solidFill>
                  <a:srgbClr val="666666"/>
                </a:solidFill>
              </a:defRPr>
            </a:lvl5pPr>
          </a:lstStyle>
          <a:p>
            <a:pPr lvl="0"/>
            <a:r>
              <a:rPr lang="en-GB" dirty="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 3: text using bullet points">
    <p:spTree>
      <p:nvGrpSpPr>
        <p:cNvPr id="1" name=""/>
        <p:cNvGrpSpPr/>
        <p:nvPr/>
      </p:nvGrpSpPr>
      <p:grpSpPr>
        <a:xfrm>
          <a:off x="0" y="0"/>
          <a:ext cx="0" cy="0"/>
          <a:chOff x="0" y="0"/>
          <a:chExt cx="0" cy="0"/>
        </a:xfrm>
      </p:grpSpPr>
      <p:sp>
        <p:nvSpPr>
          <p:cNvPr id="4" name="Title 1"/>
          <p:cNvSpPr>
            <a:spLocks noGrp="1"/>
          </p:cNvSpPr>
          <p:nvPr>
            <p:ph type="ctrTitle"/>
          </p:nvPr>
        </p:nvSpPr>
        <p:spPr>
          <a:xfrm>
            <a:off x="395536" y="548680"/>
            <a:ext cx="6768752" cy="1152128"/>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5" name="Text Placeholder 7"/>
          <p:cNvSpPr>
            <a:spLocks noGrp="1"/>
          </p:cNvSpPr>
          <p:nvPr>
            <p:ph type="body" sz="quarter" idx="14"/>
          </p:nvPr>
        </p:nvSpPr>
        <p:spPr>
          <a:xfrm>
            <a:off x="395288" y="1844675"/>
            <a:ext cx="8425184" cy="4752975"/>
          </a:xfrm>
          <a:prstGeom prst="rect">
            <a:avLst/>
          </a:prstGeom>
        </p:spPr>
        <p:txBody>
          <a:bodyPr vert="horz"/>
          <a:lstStyle>
            <a:lvl1pPr>
              <a:defRPr sz="2400">
                <a:solidFill>
                  <a:srgbClr val="666666"/>
                </a:solidFill>
              </a:defRPr>
            </a:lvl1pPr>
            <a:lvl2pPr>
              <a:defRPr sz="2200">
                <a:solidFill>
                  <a:srgbClr val="666666"/>
                </a:solidFill>
              </a:defRPr>
            </a:lvl2pPr>
            <a:lvl3pPr>
              <a:defRPr sz="2000">
                <a:solidFill>
                  <a:srgbClr val="666666"/>
                </a:solidFill>
              </a:defRPr>
            </a:lvl3pPr>
            <a:lvl4pPr>
              <a:defRPr sz="1800">
                <a:solidFill>
                  <a:srgbClr val="666666"/>
                </a:solidFill>
              </a:defRPr>
            </a:lvl4pPr>
            <a:lvl5pPr>
              <a:defRPr sz="1600">
                <a:solidFill>
                  <a:srgbClr val="666666"/>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lide 4: smaller text using bullet points">
    <p:spTree>
      <p:nvGrpSpPr>
        <p:cNvPr id="1" name=""/>
        <p:cNvGrpSpPr/>
        <p:nvPr/>
      </p:nvGrpSpPr>
      <p:grpSpPr>
        <a:xfrm>
          <a:off x="0" y="0"/>
          <a:ext cx="0" cy="0"/>
          <a:chOff x="0" y="0"/>
          <a:chExt cx="0" cy="0"/>
        </a:xfrm>
      </p:grpSpPr>
      <p:sp>
        <p:nvSpPr>
          <p:cNvPr id="4" name="Title 1"/>
          <p:cNvSpPr>
            <a:spLocks noGrp="1"/>
          </p:cNvSpPr>
          <p:nvPr>
            <p:ph type="ctrTitle"/>
          </p:nvPr>
        </p:nvSpPr>
        <p:spPr>
          <a:xfrm>
            <a:off x="395536" y="548680"/>
            <a:ext cx="6768752" cy="1152128"/>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5" name="Text Placeholder 7"/>
          <p:cNvSpPr>
            <a:spLocks noGrp="1"/>
          </p:cNvSpPr>
          <p:nvPr>
            <p:ph type="body" sz="quarter" idx="14"/>
          </p:nvPr>
        </p:nvSpPr>
        <p:spPr>
          <a:xfrm>
            <a:off x="395288" y="1844675"/>
            <a:ext cx="8425184" cy="4752975"/>
          </a:xfrm>
          <a:prstGeom prst="rect">
            <a:avLst/>
          </a:prstGeom>
        </p:spPr>
        <p:txBody>
          <a:bodyPr vert="horz"/>
          <a:lstStyle>
            <a:lvl1pPr>
              <a:defRPr sz="2400">
                <a:solidFill>
                  <a:srgbClr val="666666"/>
                </a:solidFill>
              </a:defRPr>
            </a:lvl1pPr>
            <a:lvl2pPr>
              <a:defRPr sz="2200">
                <a:solidFill>
                  <a:srgbClr val="666666"/>
                </a:solidFill>
              </a:defRPr>
            </a:lvl2pPr>
            <a:lvl3pPr>
              <a:defRPr sz="2000">
                <a:solidFill>
                  <a:srgbClr val="666666"/>
                </a:solidFill>
              </a:defRPr>
            </a:lvl3pPr>
            <a:lvl4pPr>
              <a:defRPr sz="1800">
                <a:solidFill>
                  <a:srgbClr val="666666"/>
                </a:solidFill>
              </a:defRPr>
            </a:lvl4pPr>
            <a:lvl5pPr>
              <a:defRPr sz="1600">
                <a:solidFill>
                  <a:srgbClr val="666666"/>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lide 5: text with bullet points &amp; 1 image">
    <p:spTree>
      <p:nvGrpSpPr>
        <p:cNvPr id="1" name=""/>
        <p:cNvGrpSpPr/>
        <p:nvPr/>
      </p:nvGrpSpPr>
      <p:grpSpPr>
        <a:xfrm>
          <a:off x="0" y="0"/>
          <a:ext cx="0" cy="0"/>
          <a:chOff x="0" y="0"/>
          <a:chExt cx="0" cy="0"/>
        </a:xfrm>
      </p:grpSpPr>
      <p:sp>
        <p:nvSpPr>
          <p:cNvPr id="4" name="Title 1"/>
          <p:cNvSpPr>
            <a:spLocks noGrp="1"/>
          </p:cNvSpPr>
          <p:nvPr>
            <p:ph type="ctrTitle"/>
          </p:nvPr>
        </p:nvSpPr>
        <p:spPr>
          <a:xfrm>
            <a:off x="395536" y="548680"/>
            <a:ext cx="6768752" cy="1152128"/>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5" name="Text Placeholder 7"/>
          <p:cNvSpPr>
            <a:spLocks noGrp="1"/>
          </p:cNvSpPr>
          <p:nvPr>
            <p:ph type="body" sz="quarter" idx="14"/>
          </p:nvPr>
        </p:nvSpPr>
        <p:spPr>
          <a:xfrm>
            <a:off x="395289" y="1844675"/>
            <a:ext cx="5400847" cy="4752975"/>
          </a:xfrm>
          <a:prstGeom prst="rect">
            <a:avLst/>
          </a:prstGeom>
        </p:spPr>
        <p:txBody>
          <a:bodyPr vert="horz"/>
          <a:lstStyle>
            <a:lvl1pPr>
              <a:defRPr sz="2400">
                <a:solidFill>
                  <a:srgbClr val="666666"/>
                </a:solidFill>
              </a:defRPr>
            </a:lvl1pPr>
            <a:lvl2pPr>
              <a:defRPr sz="2200">
                <a:solidFill>
                  <a:srgbClr val="666666"/>
                </a:solidFill>
              </a:defRPr>
            </a:lvl2pPr>
            <a:lvl3pPr>
              <a:defRPr sz="2000">
                <a:solidFill>
                  <a:srgbClr val="666666"/>
                </a:solidFill>
              </a:defRPr>
            </a:lvl3pPr>
            <a:lvl4pPr>
              <a:defRPr sz="1800">
                <a:solidFill>
                  <a:srgbClr val="666666"/>
                </a:solidFill>
              </a:defRPr>
            </a:lvl4pPr>
            <a:lvl5pPr>
              <a:defRPr sz="1600">
                <a:solidFill>
                  <a:srgbClr val="666666"/>
                </a:solidFill>
              </a:defRPr>
            </a:lvl5pPr>
          </a:lstStyle>
          <a:p>
            <a:pPr lvl="0"/>
            <a:r>
              <a:rPr lang="en-GB" dirty="0"/>
              <a:t>Click to edit Master text styles</a:t>
            </a:r>
          </a:p>
        </p:txBody>
      </p:sp>
      <p:sp>
        <p:nvSpPr>
          <p:cNvPr id="2" name="TextBox 1"/>
          <p:cNvSpPr txBox="1"/>
          <p:nvPr userDrawn="1"/>
        </p:nvSpPr>
        <p:spPr>
          <a:xfrm>
            <a:off x="3234022" y="3660229"/>
            <a:ext cx="184666" cy="369332"/>
          </a:xfrm>
          <a:prstGeom prst="rect">
            <a:avLst/>
          </a:prstGeom>
          <a:noFill/>
        </p:spPr>
        <p:txBody>
          <a:bodyPr wrap="none" rtlCol="0">
            <a:spAutoFit/>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lide 6: text with bullet points &amp; 2 images">
    <p:spTree>
      <p:nvGrpSpPr>
        <p:cNvPr id="1" name=""/>
        <p:cNvGrpSpPr/>
        <p:nvPr/>
      </p:nvGrpSpPr>
      <p:grpSpPr>
        <a:xfrm>
          <a:off x="0" y="0"/>
          <a:ext cx="0" cy="0"/>
          <a:chOff x="0" y="0"/>
          <a:chExt cx="0" cy="0"/>
        </a:xfrm>
      </p:grpSpPr>
      <p:sp>
        <p:nvSpPr>
          <p:cNvPr id="4" name="Title 1"/>
          <p:cNvSpPr>
            <a:spLocks noGrp="1"/>
          </p:cNvSpPr>
          <p:nvPr>
            <p:ph type="ctrTitle"/>
          </p:nvPr>
        </p:nvSpPr>
        <p:spPr>
          <a:xfrm>
            <a:off x="395536" y="548680"/>
            <a:ext cx="6768752" cy="1152128"/>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8" name="Text Placeholder 7"/>
          <p:cNvSpPr>
            <a:spLocks noGrp="1"/>
          </p:cNvSpPr>
          <p:nvPr>
            <p:ph type="body" sz="quarter" idx="14"/>
          </p:nvPr>
        </p:nvSpPr>
        <p:spPr>
          <a:xfrm>
            <a:off x="395289" y="1844675"/>
            <a:ext cx="5400847" cy="4752975"/>
          </a:xfrm>
          <a:prstGeom prst="rect">
            <a:avLst/>
          </a:prstGeom>
        </p:spPr>
        <p:txBody>
          <a:bodyPr vert="horz"/>
          <a:lstStyle>
            <a:lvl1pPr>
              <a:defRPr sz="2400">
                <a:solidFill>
                  <a:srgbClr val="666666"/>
                </a:solidFill>
              </a:defRPr>
            </a:lvl1pPr>
            <a:lvl2pPr>
              <a:defRPr sz="2200">
                <a:solidFill>
                  <a:srgbClr val="666666"/>
                </a:solidFill>
              </a:defRPr>
            </a:lvl2pPr>
            <a:lvl3pPr>
              <a:defRPr sz="2000">
                <a:solidFill>
                  <a:srgbClr val="666666"/>
                </a:solidFill>
              </a:defRPr>
            </a:lvl3pPr>
            <a:lvl4pPr>
              <a:defRPr sz="1800">
                <a:solidFill>
                  <a:srgbClr val="666666"/>
                </a:solidFill>
              </a:defRPr>
            </a:lvl4pPr>
            <a:lvl5pPr>
              <a:defRPr sz="1600">
                <a:solidFill>
                  <a:srgbClr val="666666"/>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lide 7: image only">
    <p:spTree>
      <p:nvGrpSpPr>
        <p:cNvPr id="1" name=""/>
        <p:cNvGrpSpPr/>
        <p:nvPr/>
      </p:nvGrpSpPr>
      <p:grpSpPr>
        <a:xfrm>
          <a:off x="0" y="0"/>
          <a:ext cx="0" cy="0"/>
          <a:chOff x="0" y="0"/>
          <a:chExt cx="0" cy="0"/>
        </a:xfrm>
      </p:grpSpPr>
      <p:sp>
        <p:nvSpPr>
          <p:cNvPr id="3" name="Title 1"/>
          <p:cNvSpPr>
            <a:spLocks noGrp="1"/>
          </p:cNvSpPr>
          <p:nvPr>
            <p:ph type="ctrTitle"/>
          </p:nvPr>
        </p:nvSpPr>
        <p:spPr>
          <a:xfrm>
            <a:off x="395536" y="548680"/>
            <a:ext cx="6768752" cy="1152128"/>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lide 8: blank slide">
    <p:spTree>
      <p:nvGrpSpPr>
        <p:cNvPr id="1" name=""/>
        <p:cNvGrpSpPr/>
        <p:nvPr/>
      </p:nvGrpSpPr>
      <p:grpSpPr>
        <a:xfrm>
          <a:off x="0" y="0"/>
          <a:ext cx="0" cy="0"/>
          <a:chOff x="0" y="0"/>
          <a:chExt cx="0" cy="0"/>
        </a:xfrm>
      </p:grpSpPr>
      <p:sp>
        <p:nvSpPr>
          <p:cNvPr id="3" name="Title 1"/>
          <p:cNvSpPr>
            <a:spLocks noGrp="1"/>
          </p:cNvSpPr>
          <p:nvPr>
            <p:ph type="ctrTitle"/>
          </p:nvPr>
        </p:nvSpPr>
        <p:spPr>
          <a:xfrm>
            <a:off x="395536" y="548680"/>
            <a:ext cx="6768752" cy="1152128"/>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9"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5"/>
          <p:cNvPicPr>
            <a:picLocks noChangeAspect="1" noChangeArrowheads="1"/>
          </p:cNvPicPr>
          <p:nvPr userDrawn="1"/>
        </p:nvPicPr>
        <p:blipFill>
          <a:blip r:embed="rId4">
            <a:extLst>
              <a:ext uri="{28A0092B-C50C-407E-A947-70E740481C1C}">
                <a14:useLocalDpi xmlns:a14="http://schemas.microsoft.com/office/drawing/2010/main" val="0"/>
              </a:ext>
            </a:extLst>
          </a:blip>
          <a:stretch>
            <a:fillRect/>
          </a:stretch>
        </p:blipFill>
        <p:spPr bwMode="auto">
          <a:xfrm>
            <a:off x="1" y="1101"/>
            <a:ext cx="9143998" cy="6862147"/>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68" r:id="rId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8"/>
          <p:cNvPicPr>
            <a:picLocks noChangeAspect="1" noChangeArrowheads="1"/>
          </p:cNvPicPr>
          <p:nvPr userDrawn="1"/>
        </p:nvPicPr>
        <p:blipFill>
          <a:blip r:embed="rId9" cstate="print">
            <a:extLst>
              <a:ext uri="{28A0092B-C50C-407E-A947-70E740481C1C}">
                <a14:useLocalDpi xmlns:a14="http://schemas.microsoft.com/office/drawing/2010/main" val="0"/>
              </a:ext>
            </a:extLst>
          </a:blip>
          <a:stretch>
            <a:fillRect/>
          </a:stretch>
        </p:blipFill>
        <p:spPr bwMode="auto">
          <a:xfrm>
            <a:off x="5522" y="3879"/>
            <a:ext cx="9132955" cy="6862148"/>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b="1" dirty="0"/>
              <a:t>Introduction to International Commercial Arbitration</a:t>
            </a:r>
          </a:p>
        </p:txBody>
      </p:sp>
      <p:sp>
        <p:nvSpPr>
          <p:cNvPr id="3" name="Subtitle 2"/>
          <p:cNvSpPr>
            <a:spLocks noGrp="1"/>
          </p:cNvSpPr>
          <p:nvPr>
            <p:ph type="subTitle" idx="1"/>
          </p:nvPr>
        </p:nvSpPr>
        <p:spPr/>
        <p:txBody>
          <a:bodyPr/>
          <a:lstStyle/>
          <a:p>
            <a:pPr>
              <a:spcBef>
                <a:spcPts val="0"/>
              </a:spcBef>
            </a:pPr>
            <a:endParaRPr lang="en-GB" dirty="0"/>
          </a:p>
          <a:p>
            <a:pPr>
              <a:spcBef>
                <a:spcPts val="0"/>
              </a:spcBef>
            </a:pPr>
            <a:r>
              <a:rPr lang="en-GB" dirty="0"/>
              <a:t>Dr Mukarrum Ahmed, PhD (Aberdeen), Barrister (Lincoln’s Inn), Lecturer in Business Law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In this Section</a:t>
            </a:r>
          </a:p>
        </p:txBody>
      </p:sp>
      <p:sp>
        <p:nvSpPr>
          <p:cNvPr id="3" name="Subtitle 2"/>
          <p:cNvSpPr>
            <a:spLocks noGrp="1"/>
          </p:cNvSpPr>
          <p:nvPr>
            <p:ph type="body" sz="quarter" idx="14"/>
          </p:nvPr>
        </p:nvSpPr>
        <p:spPr>
          <a:prstGeom prst="rect">
            <a:avLst/>
          </a:prstGeom>
        </p:spPr>
        <p:txBody>
          <a:bodyPr/>
          <a:lstStyle/>
          <a:p>
            <a:r>
              <a:rPr lang="en-GB" dirty="0"/>
              <a:t>Examples of arbitration agreements.</a:t>
            </a:r>
          </a:p>
          <a:p>
            <a:r>
              <a:rPr lang="en-GB" dirty="0"/>
              <a:t>When is arbitration “international”, and when is it “commercial”?</a:t>
            </a:r>
          </a:p>
          <a:p>
            <a:r>
              <a:rPr lang="en-GB" dirty="0"/>
              <a:t>Why would you want to submit your dispute to arbitration?</a:t>
            </a:r>
          </a:p>
          <a:p>
            <a:r>
              <a:rPr lang="en-GB" dirty="0"/>
              <a:t>What are the possible advantages and disadvantages of doing so? </a:t>
            </a:r>
          </a:p>
        </p:txBody>
      </p:sp>
    </p:spTree>
    <p:extLst>
      <p:ext uri="{BB962C8B-B14F-4D97-AF65-F5344CB8AC3E}">
        <p14:creationId xmlns:p14="http://schemas.microsoft.com/office/powerpoint/2010/main" val="1895990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Examples of Arbitration Clauses</a:t>
            </a:r>
            <a:br>
              <a:rPr lang="en-GB" dirty="0"/>
            </a:br>
            <a:endParaRPr lang="en-GB" dirty="0"/>
          </a:p>
        </p:txBody>
      </p:sp>
      <p:sp>
        <p:nvSpPr>
          <p:cNvPr id="2" name="Subtitle 1"/>
          <p:cNvSpPr>
            <a:spLocks noGrp="1"/>
          </p:cNvSpPr>
          <p:nvPr>
            <p:ph type="body" sz="quarter" idx="14"/>
          </p:nvPr>
        </p:nvSpPr>
        <p:spPr>
          <a:prstGeom prst="rect">
            <a:avLst/>
          </a:prstGeom>
        </p:spPr>
        <p:txBody>
          <a:bodyPr/>
          <a:lstStyle/>
          <a:p>
            <a:r>
              <a:rPr lang="en-GB" dirty="0"/>
              <a:t>“Any dispute arising out of this contract shall be resolved by arbitration in London.”</a:t>
            </a:r>
          </a:p>
          <a:p>
            <a:r>
              <a:rPr lang="en-GB" b="1" dirty="0"/>
              <a:t>Multi Tier Dispute Resolution Agreement</a:t>
            </a:r>
          </a:p>
          <a:p>
            <a:r>
              <a:rPr lang="en-GB" dirty="0"/>
              <a:t>"In the event of any dispute arising out of or in connection with the present contract, the parties shall first refer the dispute to proceedings under the ICC Mediation Rules. If the dispute has not been settled pursuant to the said Rules within [45] days following the filing of a Request for Mediation or within such other period as the parties may agree in writing, such dispute shall thereafter be finally settled under the Rules of Arbitration of the International Chamber of Commerce by one or more arbitrators appointed in accordance with the said Rules of Arbitration." </a:t>
            </a:r>
          </a:p>
          <a:p>
            <a:endParaRPr lang="en-GB" dirty="0"/>
          </a:p>
          <a:p>
            <a:endParaRPr lang="en-GB" dirty="0"/>
          </a:p>
        </p:txBody>
      </p:sp>
    </p:spTree>
    <p:extLst>
      <p:ext uri="{BB962C8B-B14F-4D97-AF65-F5344CB8AC3E}">
        <p14:creationId xmlns:p14="http://schemas.microsoft.com/office/powerpoint/2010/main" val="13382278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Is there an Arbitration Clause here?</a:t>
            </a:r>
            <a:br>
              <a:rPr lang="en-GB" dirty="0"/>
            </a:br>
            <a:endParaRPr lang="en-GB" dirty="0"/>
          </a:p>
        </p:txBody>
      </p:sp>
      <p:sp>
        <p:nvSpPr>
          <p:cNvPr id="2" name="Subtitle 1"/>
          <p:cNvSpPr>
            <a:spLocks noGrp="1"/>
          </p:cNvSpPr>
          <p:nvPr>
            <p:ph type="body" sz="quarter" idx="14"/>
          </p:nvPr>
        </p:nvSpPr>
        <p:spPr>
          <a:prstGeom prst="rect">
            <a:avLst/>
          </a:prstGeom>
        </p:spPr>
        <p:txBody>
          <a:bodyPr/>
          <a:lstStyle/>
          <a:p>
            <a:r>
              <a:rPr lang="en-GB" dirty="0"/>
              <a:t>“Alice agrees to loan her bike to Bob. Bob needs to return it to the playground by 18:00h and to do Alice’s homework for a week in exchange. </a:t>
            </a:r>
          </a:p>
          <a:p>
            <a:r>
              <a:rPr lang="en-GB" dirty="0"/>
              <a:t>Any dispute, controversy or claim arising under this contract is to be resolved through mandatory arbitration by Ms. Cindy, the teacher, in Oslo, under Norwegian laws, and under the Rules of Arbitration of the International Chamber of Commerce.” </a:t>
            </a:r>
          </a:p>
          <a:p>
            <a:endParaRPr lang="en-GB" dirty="0"/>
          </a:p>
        </p:txBody>
      </p:sp>
    </p:spTree>
    <p:extLst>
      <p:ext uri="{BB962C8B-B14F-4D97-AF65-F5344CB8AC3E}">
        <p14:creationId xmlns:p14="http://schemas.microsoft.com/office/powerpoint/2010/main" val="3319221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What is “commercial”?</a:t>
            </a:r>
            <a:r>
              <a:rPr lang="en-GB" b="1" dirty="0"/>
              <a:t> </a:t>
            </a:r>
            <a:br>
              <a:rPr lang="en-GB" dirty="0"/>
            </a:br>
            <a:endParaRPr lang="en-GB" dirty="0"/>
          </a:p>
        </p:txBody>
      </p:sp>
      <p:sp>
        <p:nvSpPr>
          <p:cNvPr id="2" name="Subtitle 1"/>
          <p:cNvSpPr>
            <a:spLocks noGrp="1"/>
          </p:cNvSpPr>
          <p:nvPr>
            <p:ph type="body" sz="quarter" idx="14"/>
          </p:nvPr>
        </p:nvSpPr>
        <p:spPr>
          <a:prstGeom prst="rect">
            <a:avLst/>
          </a:prstGeom>
        </p:spPr>
        <p:txBody>
          <a:bodyPr/>
          <a:lstStyle/>
          <a:p>
            <a:r>
              <a:rPr lang="en-GB" dirty="0"/>
              <a:t>“To explain the term ‘commercial’, it will be sufficient here to specify that it refers to transactions entered into between parties in the course of their business activities. This leaves consumer contracts outside of the scope of the subject, as well as other aspects of private law, such as family or inheritance law” </a:t>
            </a:r>
          </a:p>
          <a:p>
            <a:r>
              <a:rPr lang="en-GB" dirty="0"/>
              <a:t>What is “international”?</a:t>
            </a:r>
          </a:p>
        </p:txBody>
      </p:sp>
    </p:spTree>
    <p:extLst>
      <p:ext uri="{BB962C8B-B14F-4D97-AF65-F5344CB8AC3E}">
        <p14:creationId xmlns:p14="http://schemas.microsoft.com/office/powerpoint/2010/main" val="17659944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Advantages of Arbitration</a:t>
            </a:r>
            <a:br>
              <a:rPr lang="en-GB" dirty="0"/>
            </a:br>
            <a:endParaRPr lang="en-GB" dirty="0"/>
          </a:p>
        </p:txBody>
      </p:sp>
      <p:sp>
        <p:nvSpPr>
          <p:cNvPr id="2" name="Subtitle 1"/>
          <p:cNvSpPr>
            <a:spLocks noGrp="1"/>
          </p:cNvSpPr>
          <p:nvPr>
            <p:ph type="body" sz="quarter" idx="14"/>
          </p:nvPr>
        </p:nvSpPr>
        <p:spPr>
          <a:prstGeom prst="rect">
            <a:avLst/>
          </a:prstGeom>
        </p:spPr>
        <p:txBody>
          <a:bodyPr/>
          <a:lstStyle/>
          <a:p>
            <a:r>
              <a:rPr lang="en-GB" dirty="0"/>
              <a:t>Why do parties choose international arbitration?</a:t>
            </a:r>
          </a:p>
          <a:p>
            <a:pPr lvl="1"/>
            <a:r>
              <a:rPr lang="en-GB" dirty="0"/>
              <a:t>The enforcement regime of the widely adopted New York Convention 1958 (156 Contracting States)</a:t>
            </a:r>
          </a:p>
          <a:p>
            <a:pPr lvl="1"/>
            <a:r>
              <a:rPr lang="en-GB" dirty="0"/>
              <a:t>The neutrality of the forum and the ability to avoid the state courts of the other party.</a:t>
            </a:r>
          </a:p>
          <a:p>
            <a:pPr lvl="1"/>
            <a:r>
              <a:rPr lang="en-GB" dirty="0"/>
              <a:t>An arbitral award is generally easier to enforce than a national court judgment because there is no international litigation counterpart to the extremely successful New York Arbitration Convention.</a:t>
            </a:r>
          </a:p>
          <a:p>
            <a:pPr lvl="1"/>
            <a:r>
              <a:rPr lang="en-GB" dirty="0"/>
              <a:t>The New York Convention has a pro enforcement bias leading to the enforcement of the vast majority of awards.</a:t>
            </a:r>
            <a:br>
              <a:rPr lang="en-GB" dirty="0"/>
            </a:br>
            <a:endParaRPr lang="en-GB" dirty="0"/>
          </a:p>
        </p:txBody>
      </p:sp>
    </p:spTree>
    <p:extLst>
      <p:ext uri="{BB962C8B-B14F-4D97-AF65-F5344CB8AC3E}">
        <p14:creationId xmlns:p14="http://schemas.microsoft.com/office/powerpoint/2010/main" val="1591253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Advantages of Arbitration</a:t>
            </a:r>
          </a:p>
        </p:txBody>
      </p:sp>
      <p:sp>
        <p:nvSpPr>
          <p:cNvPr id="2" name="Subtitle 1"/>
          <p:cNvSpPr>
            <a:spLocks noGrp="1"/>
          </p:cNvSpPr>
          <p:nvPr>
            <p:ph type="body" sz="quarter" idx="14"/>
          </p:nvPr>
        </p:nvSpPr>
        <p:spPr>
          <a:prstGeom prst="rect">
            <a:avLst/>
          </a:prstGeom>
        </p:spPr>
        <p:txBody>
          <a:bodyPr/>
          <a:lstStyle/>
          <a:p>
            <a:r>
              <a:rPr lang="en-GB" dirty="0"/>
              <a:t>Party autonomy and procedural flexibility </a:t>
            </a:r>
          </a:p>
          <a:p>
            <a:r>
              <a:rPr lang="en-GB" dirty="0"/>
              <a:t>Confidentiality</a:t>
            </a:r>
          </a:p>
          <a:p>
            <a:pPr lvl="1"/>
            <a:r>
              <a:rPr lang="en-GB" dirty="0"/>
              <a:t>Many companies want confidential procedures</a:t>
            </a:r>
          </a:p>
          <a:p>
            <a:r>
              <a:rPr lang="en-GB" dirty="0"/>
              <a:t>Subject matter expertise</a:t>
            </a:r>
          </a:p>
          <a:p>
            <a:r>
              <a:rPr lang="en-GB" dirty="0"/>
              <a:t>Arbitration is less expensive than litigation?</a:t>
            </a:r>
            <a:br>
              <a:rPr lang="en-GB" dirty="0"/>
            </a:br>
            <a:endParaRPr lang="en-GB" dirty="0"/>
          </a:p>
        </p:txBody>
      </p:sp>
    </p:spTree>
    <p:extLst>
      <p:ext uri="{BB962C8B-B14F-4D97-AF65-F5344CB8AC3E}">
        <p14:creationId xmlns:p14="http://schemas.microsoft.com/office/powerpoint/2010/main" val="3727083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Disadvantages of Arbitration</a:t>
            </a:r>
          </a:p>
        </p:txBody>
      </p:sp>
      <p:sp>
        <p:nvSpPr>
          <p:cNvPr id="2" name="Subtitle 1"/>
          <p:cNvSpPr>
            <a:spLocks noGrp="1"/>
          </p:cNvSpPr>
          <p:nvPr>
            <p:ph type="body" sz="quarter" idx="14"/>
          </p:nvPr>
        </p:nvSpPr>
        <p:spPr>
          <a:prstGeom prst="rect">
            <a:avLst/>
          </a:prstGeom>
        </p:spPr>
        <p:txBody>
          <a:bodyPr/>
          <a:lstStyle/>
          <a:p>
            <a:r>
              <a:rPr lang="en-GB" dirty="0"/>
              <a:t>The arbitral tribunal does not have coercive powers</a:t>
            </a:r>
          </a:p>
          <a:p>
            <a:r>
              <a:rPr lang="en-GB" dirty="0"/>
              <a:t>In multi-party disputes, an arbitral tribunal does not have the power to join all the relevant parties because the jurisdiction of the tribunal derives from the arbitration agreement.</a:t>
            </a:r>
          </a:p>
          <a:p>
            <a:r>
              <a:rPr lang="en-GB" dirty="0"/>
              <a:t>Gender and ethnic diversity of the arbitrators.</a:t>
            </a:r>
            <a:br>
              <a:rPr lang="en-GB" dirty="0"/>
            </a:br>
            <a:endParaRPr lang="en-GB" dirty="0"/>
          </a:p>
        </p:txBody>
      </p:sp>
    </p:spTree>
    <p:extLst>
      <p:ext uri="{BB962C8B-B14F-4D97-AF65-F5344CB8AC3E}">
        <p14:creationId xmlns:p14="http://schemas.microsoft.com/office/powerpoint/2010/main" val="2791540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In this Section</a:t>
            </a:r>
          </a:p>
        </p:txBody>
      </p:sp>
      <p:sp>
        <p:nvSpPr>
          <p:cNvPr id="3" name="Subtitle 2"/>
          <p:cNvSpPr>
            <a:spLocks noGrp="1"/>
          </p:cNvSpPr>
          <p:nvPr>
            <p:ph type="body" sz="quarter" idx="14"/>
          </p:nvPr>
        </p:nvSpPr>
        <p:spPr>
          <a:prstGeom prst="rect">
            <a:avLst/>
          </a:prstGeom>
        </p:spPr>
        <p:txBody>
          <a:bodyPr/>
          <a:lstStyle/>
          <a:p>
            <a:r>
              <a:rPr lang="en-GB" dirty="0"/>
              <a:t>Which legal sources are most significant? What is the relationship between them? </a:t>
            </a:r>
          </a:p>
        </p:txBody>
      </p:sp>
    </p:spTree>
    <p:extLst>
      <p:ext uri="{BB962C8B-B14F-4D97-AF65-F5344CB8AC3E}">
        <p14:creationId xmlns:p14="http://schemas.microsoft.com/office/powerpoint/2010/main" val="30691010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Legal Framework of International Commercial Arbitration</a:t>
            </a:r>
          </a:p>
        </p:txBody>
      </p:sp>
      <p:sp>
        <p:nvSpPr>
          <p:cNvPr id="2" name="Subtitle 1"/>
          <p:cNvSpPr>
            <a:spLocks noGrp="1"/>
          </p:cNvSpPr>
          <p:nvPr>
            <p:ph type="body" sz="quarter" idx="14"/>
          </p:nvPr>
        </p:nvSpPr>
        <p:spPr>
          <a:prstGeom prst="rect">
            <a:avLst/>
          </a:prstGeom>
        </p:spPr>
        <p:txBody>
          <a:bodyPr/>
          <a:lstStyle/>
          <a:p>
            <a:r>
              <a:rPr lang="en-GB" dirty="0"/>
              <a:t>Arbitration Agreement</a:t>
            </a:r>
          </a:p>
          <a:p>
            <a:r>
              <a:rPr lang="en-GB" dirty="0"/>
              <a:t>Institutional Rules</a:t>
            </a:r>
          </a:p>
          <a:p>
            <a:r>
              <a:rPr lang="en-GB" dirty="0"/>
              <a:t>National Legislation</a:t>
            </a:r>
          </a:p>
          <a:p>
            <a:r>
              <a:rPr lang="en-GB" dirty="0"/>
              <a:t>International Convention</a:t>
            </a:r>
            <a:br>
              <a:rPr lang="en-GB" dirty="0"/>
            </a:br>
            <a:endParaRPr lang="en-GB" dirty="0"/>
          </a:p>
        </p:txBody>
      </p:sp>
    </p:spTree>
    <p:extLst>
      <p:ext uri="{BB962C8B-B14F-4D97-AF65-F5344CB8AC3E}">
        <p14:creationId xmlns:p14="http://schemas.microsoft.com/office/powerpoint/2010/main" val="3440718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Arbitration Agreement</a:t>
            </a:r>
            <a:r>
              <a:rPr lang="en-GB" b="1" dirty="0"/>
              <a:t> </a:t>
            </a:r>
            <a:br>
              <a:rPr lang="en-GB" dirty="0"/>
            </a:br>
            <a:endParaRPr lang="en-GB" dirty="0"/>
          </a:p>
        </p:txBody>
      </p:sp>
      <p:sp>
        <p:nvSpPr>
          <p:cNvPr id="2" name="Subtitle 1"/>
          <p:cNvSpPr>
            <a:spLocks noGrp="1"/>
          </p:cNvSpPr>
          <p:nvPr>
            <p:ph type="body" sz="quarter" idx="14"/>
          </p:nvPr>
        </p:nvSpPr>
        <p:spPr>
          <a:prstGeom prst="rect">
            <a:avLst/>
          </a:prstGeom>
        </p:spPr>
        <p:txBody>
          <a:bodyPr/>
          <a:lstStyle/>
          <a:p>
            <a:r>
              <a:rPr lang="en-GB" sz="1600" dirty="0"/>
              <a:t>Main elements: </a:t>
            </a:r>
          </a:p>
          <a:p>
            <a:r>
              <a:rPr lang="en-GB" sz="1600" dirty="0"/>
              <a:t>–Agreement to arbitrate </a:t>
            </a:r>
          </a:p>
          <a:p>
            <a:r>
              <a:rPr lang="en-GB" sz="1600" dirty="0"/>
              <a:t>“We want to go to arbitration.” </a:t>
            </a:r>
          </a:p>
          <a:p>
            <a:r>
              <a:rPr lang="en-GB" sz="1600" dirty="0"/>
              <a:t>–Defined scope of disputes </a:t>
            </a:r>
          </a:p>
          <a:p>
            <a:r>
              <a:rPr lang="en-GB" sz="1600" dirty="0"/>
              <a:t>“This is what we want to arbitrate.” </a:t>
            </a:r>
          </a:p>
          <a:p>
            <a:r>
              <a:rPr lang="en-GB" sz="1600" dirty="0"/>
              <a:t>–Institutional arbitration rules </a:t>
            </a:r>
          </a:p>
          <a:p>
            <a:r>
              <a:rPr lang="en-GB" sz="1600" dirty="0"/>
              <a:t>“We want to use these rules of procedure. They are a part of the contract.” </a:t>
            </a:r>
          </a:p>
          <a:p>
            <a:r>
              <a:rPr lang="en-GB" sz="1600" dirty="0"/>
              <a:t>–Arbitral seat </a:t>
            </a:r>
          </a:p>
          <a:p>
            <a:r>
              <a:rPr lang="en-GB" sz="1600" dirty="0"/>
              <a:t>“This is the domicile of arbitration, and unless we say otherwise, this is the procedural law.” </a:t>
            </a:r>
          </a:p>
          <a:p>
            <a:r>
              <a:rPr lang="en-GB" sz="1600" dirty="0"/>
              <a:t>–Selection of arbitrators </a:t>
            </a:r>
          </a:p>
          <a:p>
            <a:r>
              <a:rPr lang="en-GB" sz="1600" dirty="0"/>
              <a:t>“These people will hear our dispute. Or this is how we’ll select them.” </a:t>
            </a:r>
          </a:p>
          <a:p>
            <a:r>
              <a:rPr lang="en-GB" sz="1600" dirty="0"/>
              <a:t>–Language </a:t>
            </a:r>
          </a:p>
          <a:p>
            <a:r>
              <a:rPr lang="en-GB" sz="1600" dirty="0"/>
              <a:t>“This is the language we will use.” </a:t>
            </a:r>
          </a:p>
          <a:p>
            <a:r>
              <a:rPr lang="en-GB" sz="1600" dirty="0"/>
              <a:t>–Choice-of-law </a:t>
            </a:r>
          </a:p>
          <a:p>
            <a:r>
              <a:rPr lang="en-GB" sz="1600" dirty="0"/>
              <a:t>“Here are the laws applicable to 1) merits; 2) arbitration agreement; 3) procedural issues; 4) choice-of-law itself.”</a:t>
            </a:r>
            <a:br>
              <a:rPr lang="en-GB" dirty="0"/>
            </a:br>
            <a:endParaRPr lang="en-GB" dirty="0"/>
          </a:p>
        </p:txBody>
      </p:sp>
    </p:spTree>
    <p:extLst>
      <p:ext uri="{BB962C8B-B14F-4D97-AF65-F5344CB8AC3E}">
        <p14:creationId xmlns:p14="http://schemas.microsoft.com/office/powerpoint/2010/main" val="2576268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err="1"/>
              <a:t>Separability</a:t>
            </a:r>
            <a:r>
              <a:rPr lang="en-GB" dirty="0"/>
              <a:t> of the Arbitration Agreement </a:t>
            </a:r>
            <a:br>
              <a:rPr lang="en-GB" dirty="0"/>
            </a:br>
            <a:endParaRPr lang="en-GB" dirty="0"/>
          </a:p>
        </p:txBody>
      </p:sp>
      <p:sp>
        <p:nvSpPr>
          <p:cNvPr id="2" name="Subtitle 1"/>
          <p:cNvSpPr>
            <a:spLocks noGrp="1"/>
          </p:cNvSpPr>
          <p:nvPr>
            <p:ph type="body" sz="quarter" idx="14"/>
          </p:nvPr>
        </p:nvSpPr>
        <p:spPr>
          <a:prstGeom prst="rect">
            <a:avLst/>
          </a:prstGeom>
        </p:spPr>
        <p:txBody>
          <a:bodyPr/>
          <a:lstStyle/>
          <a:p>
            <a:r>
              <a:rPr lang="en-GB" dirty="0" err="1"/>
              <a:t>Separability</a:t>
            </a:r>
            <a:r>
              <a:rPr lang="en-GB" dirty="0"/>
              <a:t>: arbitration agreement is treated separately from the underlying contract. </a:t>
            </a:r>
          </a:p>
          <a:p>
            <a:r>
              <a:rPr lang="en-GB" dirty="0"/>
              <a:t>E.g.: validity of the contract does not affect the validity of the arbitration agreement.</a:t>
            </a:r>
          </a:p>
        </p:txBody>
      </p:sp>
    </p:spTree>
    <p:extLst>
      <p:ext uri="{BB962C8B-B14F-4D97-AF65-F5344CB8AC3E}">
        <p14:creationId xmlns:p14="http://schemas.microsoft.com/office/powerpoint/2010/main" val="38447048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National Legislation on Arbitration</a:t>
            </a:r>
            <a:br>
              <a:rPr lang="en-GB" dirty="0"/>
            </a:br>
            <a:br>
              <a:rPr lang="en-GB" dirty="0"/>
            </a:br>
            <a:endParaRPr lang="en-GB" dirty="0"/>
          </a:p>
        </p:txBody>
      </p:sp>
      <p:sp>
        <p:nvSpPr>
          <p:cNvPr id="2" name="Subtitle 1"/>
          <p:cNvSpPr>
            <a:spLocks noGrp="1"/>
          </p:cNvSpPr>
          <p:nvPr>
            <p:ph type="body" sz="quarter" idx="14"/>
          </p:nvPr>
        </p:nvSpPr>
        <p:spPr>
          <a:prstGeom prst="rect">
            <a:avLst/>
          </a:prstGeom>
        </p:spPr>
        <p:txBody>
          <a:bodyPr/>
          <a:lstStyle/>
          <a:p>
            <a:r>
              <a:rPr lang="en-GB" dirty="0"/>
              <a:t>English Arbitration Act 1996 </a:t>
            </a:r>
          </a:p>
          <a:p>
            <a:r>
              <a:rPr lang="en-GB" dirty="0"/>
              <a:t>Regulates “internal” procedures of arbitration and “external” relationship with the courts of the seat </a:t>
            </a:r>
          </a:p>
          <a:p>
            <a:r>
              <a:rPr lang="en-GB" dirty="0"/>
              <a:t>Can be more or less “arbitration-friendly” </a:t>
            </a:r>
          </a:p>
          <a:p>
            <a:r>
              <a:rPr lang="en-GB" dirty="0"/>
              <a:t>Very few mandatory rules – useful as default rules </a:t>
            </a:r>
          </a:p>
          <a:p>
            <a:r>
              <a:rPr lang="en-GB" dirty="0"/>
              <a:t>UNCITRAL Model Law – Not a convention! </a:t>
            </a:r>
          </a:p>
          <a:p>
            <a:r>
              <a:rPr lang="en-GB" dirty="0"/>
              <a:t>Differences still exist and might be extremely important! </a:t>
            </a:r>
          </a:p>
          <a:p>
            <a:endParaRPr lang="en-GB" dirty="0"/>
          </a:p>
        </p:txBody>
      </p:sp>
    </p:spTree>
    <p:extLst>
      <p:ext uri="{BB962C8B-B14F-4D97-AF65-F5344CB8AC3E}">
        <p14:creationId xmlns:p14="http://schemas.microsoft.com/office/powerpoint/2010/main" val="5996881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International Framework: NYC</a:t>
            </a:r>
            <a:br>
              <a:rPr lang="en-GB" dirty="0"/>
            </a:br>
            <a:br>
              <a:rPr lang="en-GB" dirty="0"/>
            </a:br>
            <a:endParaRPr lang="en-GB" dirty="0"/>
          </a:p>
        </p:txBody>
      </p:sp>
      <p:sp>
        <p:nvSpPr>
          <p:cNvPr id="2" name="Subtitle 1"/>
          <p:cNvSpPr>
            <a:spLocks noGrp="1"/>
          </p:cNvSpPr>
          <p:nvPr>
            <p:ph type="body" sz="quarter" idx="14"/>
          </p:nvPr>
        </p:nvSpPr>
        <p:spPr>
          <a:prstGeom prst="rect">
            <a:avLst/>
          </a:prstGeom>
        </p:spPr>
        <p:txBody>
          <a:bodyPr/>
          <a:lstStyle/>
          <a:p>
            <a:r>
              <a:rPr lang="en-GB" sz="2000" dirty="0"/>
              <a:t>Convention on the Recognition and Enforcement of Foreign Arbitral Awards (New York, 1958) (the "New York Convention") </a:t>
            </a:r>
          </a:p>
          <a:p>
            <a:r>
              <a:rPr lang="en-GB" sz="2000" dirty="0"/>
              <a:t>“A single set of international legal standards for the enforcement of arbitration agreements and awards”. </a:t>
            </a:r>
          </a:p>
          <a:p>
            <a:r>
              <a:rPr lang="en-GB" sz="2000" dirty="0"/>
              <a:t>As such, it does not cover all the aspects of arbitral proceedings – but is still immensely important </a:t>
            </a:r>
          </a:p>
          <a:p>
            <a:r>
              <a:rPr lang="en-GB" sz="2000" dirty="0"/>
              <a:t>Effects: </a:t>
            </a:r>
          </a:p>
          <a:p>
            <a:pPr lvl="1"/>
            <a:r>
              <a:rPr lang="en-GB" sz="1800" dirty="0"/>
              <a:t>Requires national courts to recognize and enforce foreign awards, subject to a limited set of exceptions </a:t>
            </a:r>
          </a:p>
          <a:p>
            <a:pPr lvl="1"/>
            <a:r>
              <a:rPr lang="en-GB" sz="1800" dirty="0"/>
              <a:t>Requires national courts to recognize and enforce arbitration agreements, subject to a limited set of exceptions </a:t>
            </a:r>
          </a:p>
          <a:p>
            <a:pPr lvl="1"/>
            <a:r>
              <a:rPr lang="en-GB" sz="1800" dirty="0"/>
              <a:t>Requires national courts to refer parties to arbitration, when there is a valid agreement </a:t>
            </a:r>
          </a:p>
          <a:p>
            <a:r>
              <a:rPr lang="en-GB" sz="2000" dirty="0"/>
              <a:t>Courts don’t get to review the merits before enforcing an award!</a:t>
            </a:r>
            <a:r>
              <a:rPr lang="en-GB" dirty="0"/>
              <a:t> </a:t>
            </a:r>
          </a:p>
          <a:p>
            <a:endParaRPr lang="en-GB" dirty="0"/>
          </a:p>
        </p:txBody>
      </p:sp>
    </p:spTree>
    <p:extLst>
      <p:ext uri="{BB962C8B-B14F-4D97-AF65-F5344CB8AC3E}">
        <p14:creationId xmlns:p14="http://schemas.microsoft.com/office/powerpoint/2010/main" val="17042250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Custom 1">
      <a:dk1>
        <a:srgbClr val="8C0E1D"/>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D52B1E"/>
      </a:hlink>
      <a:folHlink>
        <a:srgbClr val="D52B1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 2: Text Only">
  <a:themeElements>
    <a:clrScheme name="Custom 4">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D52B1E"/>
      </a:hlink>
      <a:folHlink>
        <a:srgbClr val="D52B1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1613</TotalTime>
  <Words>1551</Words>
  <Application>Microsoft Macintosh PowerPoint</Application>
  <PresentationFormat>On-screen Show (4:3)</PresentationFormat>
  <Paragraphs>109</Paragraphs>
  <Slides>15</Slides>
  <Notes>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15</vt:i4>
      </vt:variant>
    </vt:vector>
  </HeadingPairs>
  <TitlesOfParts>
    <vt:vector size="20" baseType="lpstr">
      <vt:lpstr>Calibri</vt:lpstr>
      <vt:lpstr>Arial</vt:lpstr>
      <vt:lpstr>Lucida Grande</vt:lpstr>
      <vt:lpstr>Office Theme</vt:lpstr>
      <vt:lpstr>Slide 2: Text Only</vt:lpstr>
      <vt:lpstr>Introduction to International Commercial Arbitration</vt:lpstr>
      <vt:lpstr>In this Section</vt:lpstr>
      <vt:lpstr>Examples of Arbitration Clauses </vt:lpstr>
      <vt:lpstr>Is there an Arbitration Clause here? </vt:lpstr>
      <vt:lpstr>What is “commercial”?  </vt:lpstr>
      <vt:lpstr>Advantages of Arbitration </vt:lpstr>
      <vt:lpstr>Advantages of Arbitration</vt:lpstr>
      <vt:lpstr>Disadvantages of Arbitration</vt:lpstr>
      <vt:lpstr>In this Section</vt:lpstr>
      <vt:lpstr>Legal Framework of International Commercial Arbitration</vt:lpstr>
      <vt:lpstr>Arbitration Agreement  </vt:lpstr>
      <vt:lpstr>Separability of the Arbitration Agreement  </vt:lpstr>
      <vt:lpstr>National Legislation on Arbitration  </vt:lpstr>
      <vt:lpstr>International Framework: NYC  </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wendy.gallagher</dc:creator>
  <cp:lastModifiedBy>Ahmed, Mukarrum</cp:lastModifiedBy>
  <cp:revision>81</cp:revision>
  <dcterms:created xsi:type="dcterms:W3CDTF">2011-10-31T13:04:17Z</dcterms:created>
  <dcterms:modified xsi:type="dcterms:W3CDTF">2023-02-11T23:01:44Z</dcterms:modified>
</cp:coreProperties>
</file>